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55" r:id="rId2"/>
    <p:sldId id="556" r:id="rId3"/>
    <p:sldId id="557" r:id="rId4"/>
    <p:sldId id="558" r:id="rId5"/>
    <p:sldId id="559" r:id="rId6"/>
    <p:sldId id="560" r:id="rId7"/>
    <p:sldId id="561" r:id="rId8"/>
    <p:sldId id="562" r:id="rId9"/>
    <p:sldId id="563" r:id="rId10"/>
    <p:sldId id="564" r:id="rId11"/>
    <p:sldId id="571" r:id="rId12"/>
    <p:sldId id="565" r:id="rId13"/>
    <p:sldId id="621" r:id="rId14"/>
    <p:sldId id="566" r:id="rId15"/>
    <p:sldId id="567" r:id="rId16"/>
    <p:sldId id="568" r:id="rId17"/>
    <p:sldId id="569" r:id="rId18"/>
    <p:sldId id="570" r:id="rId19"/>
    <p:sldId id="489" r:id="rId20"/>
    <p:sldId id="491" r:id="rId21"/>
    <p:sldId id="454" r:id="rId22"/>
    <p:sldId id="493" r:id="rId23"/>
    <p:sldId id="494" r:id="rId24"/>
    <p:sldId id="572" r:id="rId25"/>
    <p:sldId id="573" r:id="rId26"/>
    <p:sldId id="496" r:id="rId27"/>
    <p:sldId id="497" r:id="rId28"/>
    <p:sldId id="498" r:id="rId29"/>
    <p:sldId id="574" r:id="rId30"/>
    <p:sldId id="499" r:id="rId31"/>
    <p:sldId id="500" r:id="rId32"/>
    <p:sldId id="436" r:id="rId33"/>
    <p:sldId id="503" r:id="rId34"/>
    <p:sldId id="575" r:id="rId35"/>
    <p:sldId id="576" r:id="rId36"/>
    <p:sldId id="577" r:id="rId37"/>
    <p:sldId id="578" r:id="rId38"/>
    <p:sldId id="579" r:id="rId39"/>
    <p:sldId id="549" r:id="rId40"/>
    <p:sldId id="502" r:id="rId41"/>
    <p:sldId id="580" r:id="rId42"/>
    <p:sldId id="581" r:id="rId43"/>
    <p:sldId id="505" r:id="rId44"/>
    <p:sldId id="506" r:id="rId45"/>
    <p:sldId id="507" r:id="rId46"/>
    <p:sldId id="508" r:id="rId47"/>
    <p:sldId id="582" r:id="rId48"/>
    <p:sldId id="583" r:id="rId49"/>
    <p:sldId id="584" r:id="rId50"/>
    <p:sldId id="585" r:id="rId51"/>
    <p:sldId id="586" r:id="rId52"/>
    <p:sldId id="587" r:id="rId53"/>
    <p:sldId id="588" r:id="rId54"/>
    <p:sldId id="589" r:id="rId55"/>
    <p:sldId id="590" r:id="rId56"/>
    <p:sldId id="548" r:id="rId57"/>
    <p:sldId id="530" r:id="rId58"/>
    <p:sldId id="532" r:id="rId59"/>
    <p:sldId id="550" r:id="rId60"/>
    <p:sldId id="544" r:id="rId61"/>
    <p:sldId id="531" r:id="rId62"/>
    <p:sldId id="533" r:id="rId63"/>
    <p:sldId id="545" r:id="rId64"/>
    <p:sldId id="535" r:id="rId65"/>
    <p:sldId id="534" r:id="rId66"/>
    <p:sldId id="536" r:id="rId67"/>
    <p:sldId id="537" r:id="rId68"/>
    <p:sldId id="546" r:id="rId69"/>
    <p:sldId id="553" r:id="rId70"/>
    <p:sldId id="538" r:id="rId71"/>
    <p:sldId id="539" r:id="rId72"/>
    <p:sldId id="540" r:id="rId73"/>
    <p:sldId id="541" r:id="rId74"/>
    <p:sldId id="547" r:id="rId75"/>
    <p:sldId id="542" r:id="rId76"/>
    <p:sldId id="554" r:id="rId77"/>
    <p:sldId id="543" r:id="rId78"/>
    <p:sldId id="622" r:id="rId79"/>
    <p:sldId id="623" r:id="rId80"/>
    <p:sldId id="591" r:id="rId81"/>
    <p:sldId id="592" r:id="rId82"/>
    <p:sldId id="612" r:id="rId83"/>
    <p:sldId id="594" r:id="rId84"/>
    <p:sldId id="595" r:id="rId85"/>
    <p:sldId id="596" r:id="rId86"/>
    <p:sldId id="613" r:id="rId87"/>
    <p:sldId id="614" r:id="rId88"/>
    <p:sldId id="603" r:id="rId89"/>
    <p:sldId id="615" r:id="rId90"/>
    <p:sldId id="606" r:id="rId91"/>
    <p:sldId id="607" r:id="rId92"/>
    <p:sldId id="608" r:id="rId93"/>
    <p:sldId id="609" r:id="rId94"/>
    <p:sldId id="618" r:id="rId95"/>
    <p:sldId id="611" r:id="rId96"/>
    <p:sldId id="619" r:id="rId97"/>
    <p:sldId id="616" r:id="rId98"/>
    <p:sldId id="620" r:id="rId99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5CA2ED-ED0A-41E1-BF77-02C55B43883B}" type="doc">
      <dgm:prSet loTypeId="urn:microsoft.com/office/officeart/2008/layout/AlternatingHexagons" loCatId="list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da-DK"/>
        </a:p>
      </dgm:t>
    </dgm:pt>
    <dgm:pt modelId="{00B0607C-280F-4E12-B0E4-5204117A6BFC}">
      <dgm:prSet phldrT="[Tekst]" custT="1"/>
      <dgm:spPr/>
      <dgm:t>
        <a:bodyPr/>
        <a:lstStyle/>
        <a:p>
          <a:r>
            <a:rPr lang="da-DK" sz="2800">
              <a:solidFill>
                <a:srgbClr val="FFFF00"/>
              </a:solidFill>
            </a:rPr>
            <a:t>Zero Errors</a:t>
          </a:r>
        </a:p>
      </dgm:t>
    </dgm:pt>
    <dgm:pt modelId="{884C3324-C1DC-44EE-B971-306DF80085D8}" type="parTrans" cxnId="{742B2E38-7916-4080-9BF6-D4EB0E02CA04}">
      <dgm:prSet/>
      <dgm:spPr/>
      <dgm:t>
        <a:bodyPr/>
        <a:lstStyle/>
        <a:p>
          <a:endParaRPr lang="da-DK"/>
        </a:p>
      </dgm:t>
    </dgm:pt>
    <dgm:pt modelId="{A9E75E77-8FB3-45DE-9123-969DE5B22126}" type="sibTrans" cxnId="{742B2E38-7916-4080-9BF6-D4EB0E02CA04}">
      <dgm:prSet/>
      <dgm:spPr/>
      <dgm:t>
        <a:bodyPr/>
        <a:lstStyle/>
        <a:p>
          <a:r>
            <a:rPr lang="da-DK">
              <a:solidFill>
                <a:srgbClr val="FFFF00"/>
              </a:solidFill>
            </a:rPr>
            <a:t>Easy to reuse</a:t>
          </a:r>
        </a:p>
      </dgm:t>
    </dgm:pt>
    <dgm:pt modelId="{50EF342E-9392-41DE-85EB-4CC44880E75E}">
      <dgm:prSet phldrT="[Tekst]" custT="1"/>
      <dgm:spPr/>
      <dgm:t>
        <a:bodyPr/>
        <a:lstStyle/>
        <a:p>
          <a:r>
            <a:rPr lang="da-DK" sz="2800">
              <a:solidFill>
                <a:srgbClr val="FFFF00"/>
              </a:solidFill>
            </a:rPr>
            <a:t>Secure</a:t>
          </a:r>
        </a:p>
      </dgm:t>
    </dgm:pt>
    <dgm:pt modelId="{FDA88CFE-F8C2-441B-BAB4-6B551A24AA24}" type="parTrans" cxnId="{CAB61154-F87C-4820-9572-DC364A6AD636}">
      <dgm:prSet/>
      <dgm:spPr/>
      <dgm:t>
        <a:bodyPr/>
        <a:lstStyle/>
        <a:p>
          <a:endParaRPr lang="da-DK"/>
        </a:p>
      </dgm:t>
    </dgm:pt>
    <dgm:pt modelId="{C9969D46-A184-41B5-B22D-7F20831E2703}" type="sibTrans" cxnId="{CAB61154-F87C-4820-9572-DC364A6AD636}">
      <dgm:prSet/>
      <dgm:spPr/>
      <dgm:t>
        <a:bodyPr/>
        <a:lstStyle/>
        <a:p>
          <a:r>
            <a:rPr lang="da-DK">
              <a:solidFill>
                <a:srgbClr val="FFFF00"/>
              </a:solidFill>
            </a:rPr>
            <a:t>Easy to use</a:t>
          </a:r>
        </a:p>
      </dgm:t>
    </dgm:pt>
    <dgm:pt modelId="{FCBDDB3D-C000-4789-B45E-46487E3A699D}">
      <dgm:prSet phldrT="[Tekst]"/>
      <dgm:spPr/>
      <dgm:t>
        <a:bodyPr/>
        <a:lstStyle/>
        <a:p>
          <a:r>
            <a:rPr lang="da-DK">
              <a:solidFill>
                <a:srgbClr val="FFFF00"/>
              </a:solidFill>
            </a:rPr>
            <a:t>Fast</a:t>
          </a:r>
          <a:endParaRPr lang="da-DK"/>
        </a:p>
      </dgm:t>
    </dgm:pt>
    <dgm:pt modelId="{E689C637-B49F-4F94-AD0E-629311818C07}" type="parTrans" cxnId="{784D1B75-62A8-4294-A297-0DC5089E387A}">
      <dgm:prSet/>
      <dgm:spPr/>
      <dgm:t>
        <a:bodyPr/>
        <a:lstStyle/>
        <a:p>
          <a:endParaRPr lang="da-DK"/>
        </a:p>
      </dgm:t>
    </dgm:pt>
    <dgm:pt modelId="{CCE25166-4AFA-40E5-A5E4-88EFE2AB3C27}" type="sibTrans" cxnId="{784D1B75-62A8-4294-A297-0DC5089E387A}">
      <dgm:prSet/>
      <dgm:spPr/>
      <dgm:t>
        <a:bodyPr/>
        <a:lstStyle/>
        <a:p>
          <a:r>
            <a:rPr lang="da-DK">
              <a:solidFill>
                <a:srgbClr val="FFFF00"/>
              </a:solidFill>
            </a:rPr>
            <a:t>Easy to extend</a:t>
          </a:r>
        </a:p>
      </dgm:t>
    </dgm:pt>
    <dgm:pt modelId="{E334FE65-E42B-48D7-AD78-E96203C02AD7}" type="pres">
      <dgm:prSet presAssocID="{AC5CA2ED-ED0A-41E1-BF77-02C55B43883B}" presName="Name0" presStyleCnt="0">
        <dgm:presLayoutVars>
          <dgm:chMax/>
          <dgm:chPref/>
          <dgm:dir/>
          <dgm:animLvl val="lvl"/>
        </dgm:presLayoutVars>
      </dgm:prSet>
      <dgm:spPr/>
    </dgm:pt>
    <dgm:pt modelId="{E772E9F9-8903-4BDE-B9C3-710641C52FB7}" type="pres">
      <dgm:prSet presAssocID="{00B0607C-280F-4E12-B0E4-5204117A6BFC}" presName="composite" presStyleCnt="0"/>
      <dgm:spPr/>
    </dgm:pt>
    <dgm:pt modelId="{64A34219-B995-425E-9D3A-F650CD2083CB}" type="pres">
      <dgm:prSet presAssocID="{00B0607C-280F-4E12-B0E4-5204117A6BFC}" presName="Parent1" presStyleLbl="node1" presStyleIdx="0" presStyleCnt="6" custLinFactNeighborX="1721" custLinFactNeighborY="-5">
        <dgm:presLayoutVars>
          <dgm:chMax val="1"/>
          <dgm:chPref val="1"/>
          <dgm:bulletEnabled val="1"/>
        </dgm:presLayoutVars>
      </dgm:prSet>
      <dgm:spPr/>
    </dgm:pt>
    <dgm:pt modelId="{2DFFE3E4-13DF-4525-9C89-060FCB7531A0}" type="pres">
      <dgm:prSet presAssocID="{00B0607C-280F-4E12-B0E4-5204117A6BFC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F960DFC9-E576-47FA-A043-5CF29CC72EC2}" type="pres">
      <dgm:prSet presAssocID="{00B0607C-280F-4E12-B0E4-5204117A6BFC}" presName="BalanceSpacing" presStyleCnt="0"/>
      <dgm:spPr/>
    </dgm:pt>
    <dgm:pt modelId="{77E87E00-D629-4235-A6E7-5C20A64EBB37}" type="pres">
      <dgm:prSet presAssocID="{00B0607C-280F-4E12-B0E4-5204117A6BFC}" presName="BalanceSpacing1" presStyleCnt="0"/>
      <dgm:spPr/>
    </dgm:pt>
    <dgm:pt modelId="{8025F85F-B3E9-4175-9F4D-318D1500A2C0}" type="pres">
      <dgm:prSet presAssocID="{A9E75E77-8FB3-45DE-9123-969DE5B22126}" presName="Accent1Text" presStyleLbl="node1" presStyleIdx="1" presStyleCnt="6" custLinFactNeighborX="1033" custLinFactNeighborY="300"/>
      <dgm:spPr/>
    </dgm:pt>
    <dgm:pt modelId="{2A7C7CB9-EDD8-4959-A2C2-97FB07E59EDA}" type="pres">
      <dgm:prSet presAssocID="{A9E75E77-8FB3-45DE-9123-969DE5B22126}" presName="spaceBetweenRectangles" presStyleCnt="0"/>
      <dgm:spPr/>
    </dgm:pt>
    <dgm:pt modelId="{AD8366C8-A9AD-4000-BE54-35848BD0B729}" type="pres">
      <dgm:prSet presAssocID="{50EF342E-9392-41DE-85EB-4CC44880E75E}" presName="composite" presStyleCnt="0"/>
      <dgm:spPr/>
    </dgm:pt>
    <dgm:pt modelId="{34060922-BF33-4C26-913C-0E73BFD9F3E9}" type="pres">
      <dgm:prSet presAssocID="{50EF342E-9392-41DE-85EB-4CC44880E75E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B419D0F7-E030-4149-B5A0-4BADF17E6C06}" type="pres">
      <dgm:prSet presAssocID="{50EF342E-9392-41DE-85EB-4CC44880E75E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654D1934-B4DD-4BE7-8FA8-C5643F165D14}" type="pres">
      <dgm:prSet presAssocID="{50EF342E-9392-41DE-85EB-4CC44880E75E}" presName="BalanceSpacing" presStyleCnt="0"/>
      <dgm:spPr/>
    </dgm:pt>
    <dgm:pt modelId="{096F0D44-BF4B-45E0-B073-04FE2FC6CD67}" type="pres">
      <dgm:prSet presAssocID="{50EF342E-9392-41DE-85EB-4CC44880E75E}" presName="BalanceSpacing1" presStyleCnt="0"/>
      <dgm:spPr/>
    </dgm:pt>
    <dgm:pt modelId="{884A26AF-5E43-4310-8316-D06C8EE71FC1}" type="pres">
      <dgm:prSet presAssocID="{C9969D46-A184-41B5-B22D-7F20831E2703}" presName="Accent1Text" presStyleLbl="node1" presStyleIdx="3" presStyleCnt="6" custLinFactNeighborX="1721" custLinFactNeighborY="898"/>
      <dgm:spPr/>
    </dgm:pt>
    <dgm:pt modelId="{638D7EA2-61A5-44FC-90FD-0ADA106082E8}" type="pres">
      <dgm:prSet presAssocID="{C9969D46-A184-41B5-B22D-7F20831E2703}" presName="spaceBetweenRectangles" presStyleCnt="0"/>
      <dgm:spPr/>
    </dgm:pt>
    <dgm:pt modelId="{EE34D484-BA88-474E-AF2F-5BAE6A6EF7F8}" type="pres">
      <dgm:prSet presAssocID="{FCBDDB3D-C000-4789-B45E-46487E3A699D}" presName="composite" presStyleCnt="0"/>
      <dgm:spPr/>
    </dgm:pt>
    <dgm:pt modelId="{5C8C54F5-8829-44B5-91E1-6C9588FDB61B}" type="pres">
      <dgm:prSet presAssocID="{FCBDDB3D-C000-4789-B45E-46487E3A699D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AF176208-5F01-4057-BB2A-2A7FA9689313}" type="pres">
      <dgm:prSet presAssocID="{FCBDDB3D-C000-4789-B45E-46487E3A699D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F6F2494A-034F-4973-8109-F0D232D1A0F1}" type="pres">
      <dgm:prSet presAssocID="{FCBDDB3D-C000-4789-B45E-46487E3A699D}" presName="BalanceSpacing" presStyleCnt="0"/>
      <dgm:spPr/>
    </dgm:pt>
    <dgm:pt modelId="{1AA40EF1-711F-43B3-BC82-219AFB62DFBB}" type="pres">
      <dgm:prSet presAssocID="{FCBDDB3D-C000-4789-B45E-46487E3A699D}" presName="BalanceSpacing1" presStyleCnt="0"/>
      <dgm:spPr/>
    </dgm:pt>
    <dgm:pt modelId="{57930C3D-A80F-4D84-ADEF-A2881A023904}" type="pres">
      <dgm:prSet presAssocID="{CCE25166-4AFA-40E5-A5E4-88EFE2AB3C27}" presName="Accent1Text" presStyleLbl="node1" presStyleIdx="5" presStyleCnt="6"/>
      <dgm:spPr/>
    </dgm:pt>
  </dgm:ptLst>
  <dgm:cxnLst>
    <dgm:cxn modelId="{742B2E38-7916-4080-9BF6-D4EB0E02CA04}" srcId="{AC5CA2ED-ED0A-41E1-BF77-02C55B43883B}" destId="{00B0607C-280F-4E12-B0E4-5204117A6BFC}" srcOrd="0" destOrd="0" parTransId="{884C3324-C1DC-44EE-B971-306DF80085D8}" sibTransId="{A9E75E77-8FB3-45DE-9123-969DE5B22126}"/>
    <dgm:cxn modelId="{FD9D9A5D-20E9-4C45-B132-0BA7DA204C6C}" type="presOf" srcId="{50EF342E-9392-41DE-85EB-4CC44880E75E}" destId="{34060922-BF33-4C26-913C-0E73BFD9F3E9}" srcOrd="0" destOrd="0" presId="urn:microsoft.com/office/officeart/2008/layout/AlternatingHexagons"/>
    <dgm:cxn modelId="{CAB61154-F87C-4820-9572-DC364A6AD636}" srcId="{AC5CA2ED-ED0A-41E1-BF77-02C55B43883B}" destId="{50EF342E-9392-41DE-85EB-4CC44880E75E}" srcOrd="1" destOrd="0" parTransId="{FDA88CFE-F8C2-441B-BAB4-6B551A24AA24}" sibTransId="{C9969D46-A184-41B5-B22D-7F20831E2703}"/>
    <dgm:cxn modelId="{784D1B75-62A8-4294-A297-0DC5089E387A}" srcId="{AC5CA2ED-ED0A-41E1-BF77-02C55B43883B}" destId="{FCBDDB3D-C000-4789-B45E-46487E3A699D}" srcOrd="2" destOrd="0" parTransId="{E689C637-B49F-4F94-AD0E-629311818C07}" sibTransId="{CCE25166-4AFA-40E5-A5E4-88EFE2AB3C27}"/>
    <dgm:cxn modelId="{2A30F459-9D02-4323-82E0-E23ECE268D25}" type="presOf" srcId="{AC5CA2ED-ED0A-41E1-BF77-02C55B43883B}" destId="{E334FE65-E42B-48D7-AD78-E96203C02AD7}" srcOrd="0" destOrd="0" presId="urn:microsoft.com/office/officeart/2008/layout/AlternatingHexagons"/>
    <dgm:cxn modelId="{D34D6788-708B-4B1A-BA25-A8B6FF562A59}" type="presOf" srcId="{A9E75E77-8FB3-45DE-9123-969DE5B22126}" destId="{8025F85F-B3E9-4175-9F4D-318D1500A2C0}" srcOrd="0" destOrd="0" presId="urn:microsoft.com/office/officeart/2008/layout/AlternatingHexagons"/>
    <dgm:cxn modelId="{C803C28C-2082-481D-92AE-FBCEBBBAEBA0}" type="presOf" srcId="{CCE25166-4AFA-40E5-A5E4-88EFE2AB3C27}" destId="{57930C3D-A80F-4D84-ADEF-A2881A023904}" srcOrd="0" destOrd="0" presId="urn:microsoft.com/office/officeart/2008/layout/AlternatingHexagons"/>
    <dgm:cxn modelId="{77A4AE94-AF35-45AF-9B03-9CD245E800F3}" type="presOf" srcId="{00B0607C-280F-4E12-B0E4-5204117A6BFC}" destId="{64A34219-B995-425E-9D3A-F650CD2083CB}" srcOrd="0" destOrd="0" presId="urn:microsoft.com/office/officeart/2008/layout/AlternatingHexagons"/>
    <dgm:cxn modelId="{48022CDA-03B5-4BA5-8B07-506CE87956E2}" type="presOf" srcId="{C9969D46-A184-41B5-B22D-7F20831E2703}" destId="{884A26AF-5E43-4310-8316-D06C8EE71FC1}" srcOrd="0" destOrd="0" presId="urn:microsoft.com/office/officeart/2008/layout/AlternatingHexagons"/>
    <dgm:cxn modelId="{0C9979FA-C22E-4D4E-99DA-51E9B1BC8D35}" type="presOf" srcId="{FCBDDB3D-C000-4789-B45E-46487E3A699D}" destId="{5C8C54F5-8829-44B5-91E1-6C9588FDB61B}" srcOrd="0" destOrd="0" presId="urn:microsoft.com/office/officeart/2008/layout/AlternatingHexagons"/>
    <dgm:cxn modelId="{07CA5600-4E92-42A5-A4D6-4B87502C31A8}" type="presParOf" srcId="{E334FE65-E42B-48D7-AD78-E96203C02AD7}" destId="{E772E9F9-8903-4BDE-B9C3-710641C52FB7}" srcOrd="0" destOrd="0" presId="urn:microsoft.com/office/officeart/2008/layout/AlternatingHexagons"/>
    <dgm:cxn modelId="{C0D3255F-2CC6-4BDF-BF73-CFCF085F2298}" type="presParOf" srcId="{E772E9F9-8903-4BDE-B9C3-710641C52FB7}" destId="{64A34219-B995-425E-9D3A-F650CD2083CB}" srcOrd="0" destOrd="0" presId="urn:microsoft.com/office/officeart/2008/layout/AlternatingHexagons"/>
    <dgm:cxn modelId="{52369D4B-3386-43AA-982E-C0B408ABFB15}" type="presParOf" srcId="{E772E9F9-8903-4BDE-B9C3-710641C52FB7}" destId="{2DFFE3E4-13DF-4525-9C89-060FCB7531A0}" srcOrd="1" destOrd="0" presId="urn:microsoft.com/office/officeart/2008/layout/AlternatingHexagons"/>
    <dgm:cxn modelId="{2894B2BF-4139-491F-A46B-1EFE46246F0E}" type="presParOf" srcId="{E772E9F9-8903-4BDE-B9C3-710641C52FB7}" destId="{F960DFC9-E576-47FA-A043-5CF29CC72EC2}" srcOrd="2" destOrd="0" presId="urn:microsoft.com/office/officeart/2008/layout/AlternatingHexagons"/>
    <dgm:cxn modelId="{6EC66813-4F82-4B4D-9ED6-AE4CF22B1BD9}" type="presParOf" srcId="{E772E9F9-8903-4BDE-B9C3-710641C52FB7}" destId="{77E87E00-D629-4235-A6E7-5C20A64EBB37}" srcOrd="3" destOrd="0" presId="urn:microsoft.com/office/officeart/2008/layout/AlternatingHexagons"/>
    <dgm:cxn modelId="{8AAC17D6-C929-4B37-BD60-CECB70C4D49F}" type="presParOf" srcId="{E772E9F9-8903-4BDE-B9C3-710641C52FB7}" destId="{8025F85F-B3E9-4175-9F4D-318D1500A2C0}" srcOrd="4" destOrd="0" presId="urn:microsoft.com/office/officeart/2008/layout/AlternatingHexagons"/>
    <dgm:cxn modelId="{4612BD16-63F7-4A75-8D00-78DDAEC34F0E}" type="presParOf" srcId="{E334FE65-E42B-48D7-AD78-E96203C02AD7}" destId="{2A7C7CB9-EDD8-4959-A2C2-97FB07E59EDA}" srcOrd="1" destOrd="0" presId="urn:microsoft.com/office/officeart/2008/layout/AlternatingHexagons"/>
    <dgm:cxn modelId="{F7D91230-2462-4AB8-B7D1-D5ED25EE434D}" type="presParOf" srcId="{E334FE65-E42B-48D7-AD78-E96203C02AD7}" destId="{AD8366C8-A9AD-4000-BE54-35848BD0B729}" srcOrd="2" destOrd="0" presId="urn:microsoft.com/office/officeart/2008/layout/AlternatingHexagons"/>
    <dgm:cxn modelId="{564B7F7F-4996-4C3C-BD3D-9EADCE86483B}" type="presParOf" srcId="{AD8366C8-A9AD-4000-BE54-35848BD0B729}" destId="{34060922-BF33-4C26-913C-0E73BFD9F3E9}" srcOrd="0" destOrd="0" presId="urn:microsoft.com/office/officeart/2008/layout/AlternatingHexagons"/>
    <dgm:cxn modelId="{011C1C3A-F159-40D5-AE33-789E106449E6}" type="presParOf" srcId="{AD8366C8-A9AD-4000-BE54-35848BD0B729}" destId="{B419D0F7-E030-4149-B5A0-4BADF17E6C06}" srcOrd="1" destOrd="0" presId="urn:microsoft.com/office/officeart/2008/layout/AlternatingHexagons"/>
    <dgm:cxn modelId="{601865B8-00F7-41D1-ADA8-DCE2AED2D550}" type="presParOf" srcId="{AD8366C8-A9AD-4000-BE54-35848BD0B729}" destId="{654D1934-B4DD-4BE7-8FA8-C5643F165D14}" srcOrd="2" destOrd="0" presId="urn:microsoft.com/office/officeart/2008/layout/AlternatingHexagons"/>
    <dgm:cxn modelId="{0BAE08B8-362F-4BC9-8F15-D7B0B7042457}" type="presParOf" srcId="{AD8366C8-A9AD-4000-BE54-35848BD0B729}" destId="{096F0D44-BF4B-45E0-B073-04FE2FC6CD67}" srcOrd="3" destOrd="0" presId="urn:microsoft.com/office/officeart/2008/layout/AlternatingHexagons"/>
    <dgm:cxn modelId="{049FE0B2-7381-4436-A294-79E9E87D1E27}" type="presParOf" srcId="{AD8366C8-A9AD-4000-BE54-35848BD0B729}" destId="{884A26AF-5E43-4310-8316-D06C8EE71FC1}" srcOrd="4" destOrd="0" presId="urn:microsoft.com/office/officeart/2008/layout/AlternatingHexagons"/>
    <dgm:cxn modelId="{191ABAC6-8086-4BCA-80EE-D5E9EB92C490}" type="presParOf" srcId="{E334FE65-E42B-48D7-AD78-E96203C02AD7}" destId="{638D7EA2-61A5-44FC-90FD-0ADA106082E8}" srcOrd="3" destOrd="0" presId="urn:microsoft.com/office/officeart/2008/layout/AlternatingHexagons"/>
    <dgm:cxn modelId="{78CBF8FD-9B5F-4B13-A8AE-3004F5161483}" type="presParOf" srcId="{E334FE65-E42B-48D7-AD78-E96203C02AD7}" destId="{EE34D484-BA88-474E-AF2F-5BAE6A6EF7F8}" srcOrd="4" destOrd="0" presId="urn:microsoft.com/office/officeart/2008/layout/AlternatingHexagons"/>
    <dgm:cxn modelId="{21FC46F8-8FD8-4AEF-9986-12DF6A8D115A}" type="presParOf" srcId="{EE34D484-BA88-474E-AF2F-5BAE6A6EF7F8}" destId="{5C8C54F5-8829-44B5-91E1-6C9588FDB61B}" srcOrd="0" destOrd="0" presId="urn:microsoft.com/office/officeart/2008/layout/AlternatingHexagons"/>
    <dgm:cxn modelId="{C5170E82-F12C-4466-B845-001336B24B99}" type="presParOf" srcId="{EE34D484-BA88-474E-AF2F-5BAE6A6EF7F8}" destId="{AF176208-5F01-4057-BB2A-2A7FA9689313}" srcOrd="1" destOrd="0" presId="urn:microsoft.com/office/officeart/2008/layout/AlternatingHexagons"/>
    <dgm:cxn modelId="{FEC1B437-E447-49EB-BEA9-BAB9E7828AC7}" type="presParOf" srcId="{EE34D484-BA88-474E-AF2F-5BAE6A6EF7F8}" destId="{F6F2494A-034F-4973-8109-F0D232D1A0F1}" srcOrd="2" destOrd="0" presId="urn:microsoft.com/office/officeart/2008/layout/AlternatingHexagons"/>
    <dgm:cxn modelId="{021077CF-5CFA-4DC1-BB5F-F011274F7DE8}" type="presParOf" srcId="{EE34D484-BA88-474E-AF2F-5BAE6A6EF7F8}" destId="{1AA40EF1-711F-43B3-BC82-219AFB62DFBB}" srcOrd="3" destOrd="0" presId="urn:microsoft.com/office/officeart/2008/layout/AlternatingHexagons"/>
    <dgm:cxn modelId="{B9338A00-805E-40B2-A0A6-6E3033706189}" type="presParOf" srcId="{EE34D484-BA88-474E-AF2F-5BAE6A6EF7F8}" destId="{57930C3D-A80F-4D84-ADEF-A2881A023904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A1A339-A486-4949-BF21-72817EED343F}" type="doc">
      <dgm:prSet loTypeId="urn:microsoft.com/office/officeart/2005/8/layout/hChevron3" loCatId="process" qsTypeId="urn:microsoft.com/office/officeart/2005/8/quickstyle/3d1" qsCatId="3D" csTypeId="urn:microsoft.com/office/officeart/2005/8/colors/colorful5" csCatId="colorful" phldr="1"/>
      <dgm:spPr/>
    </dgm:pt>
    <dgm:pt modelId="{1D3DF708-D0E2-404E-93B9-423997318DA2}">
      <dgm:prSet phldrT="[Tekst]"/>
      <dgm:spPr/>
      <dgm:t>
        <a:bodyPr/>
        <a:lstStyle/>
        <a:p>
          <a:r>
            <a:rPr lang="da-DK"/>
            <a:t>DB</a:t>
          </a:r>
        </a:p>
      </dgm:t>
    </dgm:pt>
    <dgm:pt modelId="{A83D2677-2F6D-48E1-A774-E8C4C14DFF50}" type="parTrans" cxnId="{4787E1A8-8A2B-4498-9CDC-FAFDD91CDF3B}">
      <dgm:prSet/>
      <dgm:spPr/>
      <dgm:t>
        <a:bodyPr/>
        <a:lstStyle/>
        <a:p>
          <a:endParaRPr lang="da-DK"/>
        </a:p>
      </dgm:t>
    </dgm:pt>
    <dgm:pt modelId="{0A22318C-8A35-44A1-9093-DCECE0AFDAB9}" type="sibTrans" cxnId="{4787E1A8-8A2B-4498-9CDC-FAFDD91CDF3B}">
      <dgm:prSet/>
      <dgm:spPr/>
      <dgm:t>
        <a:bodyPr/>
        <a:lstStyle/>
        <a:p>
          <a:endParaRPr lang="da-DK"/>
        </a:p>
      </dgm:t>
    </dgm:pt>
    <dgm:pt modelId="{6F8E039C-92CA-40BE-B560-F7FD9BD81D06}">
      <dgm:prSet phldrT="[Tekst]"/>
      <dgm:spPr/>
      <dgm:t>
        <a:bodyPr/>
        <a:lstStyle/>
        <a:p>
          <a:r>
            <a:rPr lang="da-DK" i="1">
              <a:solidFill>
                <a:srgbClr val="FFFF00"/>
              </a:solidFill>
            </a:rPr>
            <a:t>Convert (to XML)</a:t>
          </a:r>
        </a:p>
      </dgm:t>
    </dgm:pt>
    <dgm:pt modelId="{5C39AA50-FA0C-4C08-B7F8-9E3CB0F014EA}" type="parTrans" cxnId="{F7AB537A-84C9-45C6-AEEC-22E281327311}">
      <dgm:prSet/>
      <dgm:spPr/>
      <dgm:t>
        <a:bodyPr/>
        <a:lstStyle/>
        <a:p>
          <a:endParaRPr lang="da-DK"/>
        </a:p>
      </dgm:t>
    </dgm:pt>
    <dgm:pt modelId="{36F19189-BDB0-4846-BE9C-1A37BBB38E7D}" type="sibTrans" cxnId="{F7AB537A-84C9-45C6-AEEC-22E281327311}">
      <dgm:prSet/>
      <dgm:spPr/>
      <dgm:t>
        <a:bodyPr/>
        <a:lstStyle/>
        <a:p>
          <a:endParaRPr lang="da-DK"/>
        </a:p>
      </dgm:t>
    </dgm:pt>
    <dgm:pt modelId="{43B52DD7-D501-413A-BEE5-B9D28490DDAF}">
      <dgm:prSet phldrT="[Tekst]"/>
      <dgm:spPr/>
      <dgm:t>
        <a:bodyPr/>
        <a:lstStyle/>
        <a:p>
          <a:r>
            <a:rPr lang="da-DK"/>
            <a:t>Text</a:t>
          </a:r>
        </a:p>
      </dgm:t>
    </dgm:pt>
    <dgm:pt modelId="{B7277FF9-45D5-4E37-AE7E-B4679A73A9B3}" type="parTrans" cxnId="{2C7B31F9-6109-48ED-96CF-5B41FC7E42D8}">
      <dgm:prSet/>
      <dgm:spPr/>
      <dgm:t>
        <a:bodyPr/>
        <a:lstStyle/>
        <a:p>
          <a:endParaRPr lang="da-DK"/>
        </a:p>
      </dgm:t>
    </dgm:pt>
    <dgm:pt modelId="{D0E2A1AA-DCB2-463B-B08F-C05A998ACCB9}" type="sibTrans" cxnId="{2C7B31F9-6109-48ED-96CF-5B41FC7E42D8}">
      <dgm:prSet/>
      <dgm:spPr/>
      <dgm:t>
        <a:bodyPr/>
        <a:lstStyle/>
        <a:p>
          <a:endParaRPr lang="da-DK"/>
        </a:p>
      </dgm:t>
    </dgm:pt>
    <dgm:pt modelId="{E960E907-8392-4C15-AEC0-C457D8D8F39E}" type="pres">
      <dgm:prSet presAssocID="{5FA1A339-A486-4949-BF21-72817EED343F}" presName="Name0" presStyleCnt="0">
        <dgm:presLayoutVars>
          <dgm:dir/>
          <dgm:resizeHandles val="exact"/>
        </dgm:presLayoutVars>
      </dgm:prSet>
      <dgm:spPr/>
    </dgm:pt>
    <dgm:pt modelId="{075B95CF-A57A-4519-8962-3632298F355A}" type="pres">
      <dgm:prSet presAssocID="{1D3DF708-D0E2-404E-93B9-423997318DA2}" presName="parTxOnly" presStyleLbl="node1" presStyleIdx="0" presStyleCnt="3">
        <dgm:presLayoutVars>
          <dgm:bulletEnabled val="1"/>
        </dgm:presLayoutVars>
      </dgm:prSet>
      <dgm:spPr/>
    </dgm:pt>
    <dgm:pt modelId="{79B1F0C1-58A9-45B0-90DF-AC10D66DF43A}" type="pres">
      <dgm:prSet presAssocID="{0A22318C-8A35-44A1-9093-DCECE0AFDAB9}" presName="parSpace" presStyleCnt="0"/>
      <dgm:spPr/>
    </dgm:pt>
    <dgm:pt modelId="{46AA31F5-2BDA-4BD3-BC90-33B7EF9FEAE7}" type="pres">
      <dgm:prSet presAssocID="{6F8E039C-92CA-40BE-B560-F7FD9BD81D06}" presName="parTxOnly" presStyleLbl="node1" presStyleIdx="1" presStyleCnt="3">
        <dgm:presLayoutVars>
          <dgm:bulletEnabled val="1"/>
        </dgm:presLayoutVars>
      </dgm:prSet>
      <dgm:spPr/>
    </dgm:pt>
    <dgm:pt modelId="{D86F78DB-4D7D-4DFC-99E8-D1F0F2104EA5}" type="pres">
      <dgm:prSet presAssocID="{36F19189-BDB0-4846-BE9C-1A37BBB38E7D}" presName="parSpace" presStyleCnt="0"/>
      <dgm:spPr/>
    </dgm:pt>
    <dgm:pt modelId="{3EEABE92-544D-43BA-A0CF-0546761E9BBE}" type="pres">
      <dgm:prSet presAssocID="{43B52DD7-D501-413A-BEE5-B9D28490DDAF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7A3ECA05-B9D6-4CDC-9675-F26CCBADFEE2}" type="presOf" srcId="{1D3DF708-D0E2-404E-93B9-423997318DA2}" destId="{075B95CF-A57A-4519-8962-3632298F355A}" srcOrd="0" destOrd="0" presId="urn:microsoft.com/office/officeart/2005/8/layout/hChevron3"/>
    <dgm:cxn modelId="{1CEEDE6A-5E77-4DFB-BE75-A15A78410234}" type="presOf" srcId="{6F8E039C-92CA-40BE-B560-F7FD9BD81D06}" destId="{46AA31F5-2BDA-4BD3-BC90-33B7EF9FEAE7}" srcOrd="0" destOrd="0" presId="urn:microsoft.com/office/officeart/2005/8/layout/hChevron3"/>
    <dgm:cxn modelId="{F7AB537A-84C9-45C6-AEEC-22E281327311}" srcId="{5FA1A339-A486-4949-BF21-72817EED343F}" destId="{6F8E039C-92CA-40BE-B560-F7FD9BD81D06}" srcOrd="1" destOrd="0" parTransId="{5C39AA50-FA0C-4C08-B7F8-9E3CB0F014EA}" sibTransId="{36F19189-BDB0-4846-BE9C-1A37BBB38E7D}"/>
    <dgm:cxn modelId="{4787E1A8-8A2B-4498-9CDC-FAFDD91CDF3B}" srcId="{5FA1A339-A486-4949-BF21-72817EED343F}" destId="{1D3DF708-D0E2-404E-93B9-423997318DA2}" srcOrd="0" destOrd="0" parTransId="{A83D2677-2F6D-48E1-A774-E8C4C14DFF50}" sibTransId="{0A22318C-8A35-44A1-9093-DCECE0AFDAB9}"/>
    <dgm:cxn modelId="{85B578C4-CFBE-42A4-A970-90EE182EA504}" type="presOf" srcId="{5FA1A339-A486-4949-BF21-72817EED343F}" destId="{E960E907-8392-4C15-AEC0-C457D8D8F39E}" srcOrd="0" destOrd="0" presId="urn:microsoft.com/office/officeart/2005/8/layout/hChevron3"/>
    <dgm:cxn modelId="{EAEF75F3-AB74-40ED-831D-4C875D702710}" type="presOf" srcId="{43B52DD7-D501-413A-BEE5-B9D28490DDAF}" destId="{3EEABE92-544D-43BA-A0CF-0546761E9BBE}" srcOrd="0" destOrd="0" presId="urn:microsoft.com/office/officeart/2005/8/layout/hChevron3"/>
    <dgm:cxn modelId="{2C7B31F9-6109-48ED-96CF-5B41FC7E42D8}" srcId="{5FA1A339-A486-4949-BF21-72817EED343F}" destId="{43B52DD7-D501-413A-BEE5-B9D28490DDAF}" srcOrd="2" destOrd="0" parTransId="{B7277FF9-45D5-4E37-AE7E-B4679A73A9B3}" sibTransId="{D0E2A1AA-DCB2-463B-B08F-C05A998ACCB9}"/>
    <dgm:cxn modelId="{2373424F-718C-481C-9974-1F281FDFB9CF}" type="presParOf" srcId="{E960E907-8392-4C15-AEC0-C457D8D8F39E}" destId="{075B95CF-A57A-4519-8962-3632298F355A}" srcOrd="0" destOrd="0" presId="urn:microsoft.com/office/officeart/2005/8/layout/hChevron3"/>
    <dgm:cxn modelId="{50A8D3FC-0C7F-446D-A8AD-B170FFE9FC84}" type="presParOf" srcId="{E960E907-8392-4C15-AEC0-C457D8D8F39E}" destId="{79B1F0C1-58A9-45B0-90DF-AC10D66DF43A}" srcOrd="1" destOrd="0" presId="urn:microsoft.com/office/officeart/2005/8/layout/hChevron3"/>
    <dgm:cxn modelId="{48F21FE2-7D96-4D3D-8E26-B291D50B9436}" type="presParOf" srcId="{E960E907-8392-4C15-AEC0-C457D8D8F39E}" destId="{46AA31F5-2BDA-4BD3-BC90-33B7EF9FEAE7}" srcOrd="2" destOrd="0" presId="urn:microsoft.com/office/officeart/2005/8/layout/hChevron3"/>
    <dgm:cxn modelId="{E3AB80A9-A6DC-4872-BCC2-9E03DDFAC522}" type="presParOf" srcId="{E960E907-8392-4C15-AEC0-C457D8D8F39E}" destId="{D86F78DB-4D7D-4DFC-99E8-D1F0F2104EA5}" srcOrd="3" destOrd="0" presId="urn:microsoft.com/office/officeart/2005/8/layout/hChevron3"/>
    <dgm:cxn modelId="{FED067B3-E52C-4C59-B874-1B96FD2E5E88}" type="presParOf" srcId="{E960E907-8392-4C15-AEC0-C457D8D8F39E}" destId="{3EEABE92-544D-43BA-A0CF-0546761E9BBE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A1A339-A486-4949-BF21-72817EED343F}" type="doc">
      <dgm:prSet loTypeId="urn:microsoft.com/office/officeart/2005/8/layout/hChevron3" loCatId="process" qsTypeId="urn:microsoft.com/office/officeart/2005/8/quickstyle/3d1" qsCatId="3D" csTypeId="urn:microsoft.com/office/officeart/2005/8/colors/colorful5" csCatId="colorful" phldr="1"/>
      <dgm:spPr/>
    </dgm:pt>
    <dgm:pt modelId="{1D3DF708-D0E2-404E-93B9-423997318DA2}">
      <dgm:prSet phldrT="[Tekst]"/>
      <dgm:spPr/>
      <dgm:t>
        <a:bodyPr/>
        <a:lstStyle/>
        <a:p>
          <a:r>
            <a:rPr lang="da-DK"/>
            <a:t>DB</a:t>
          </a:r>
        </a:p>
      </dgm:t>
    </dgm:pt>
    <dgm:pt modelId="{A83D2677-2F6D-48E1-A774-E8C4C14DFF50}" type="parTrans" cxnId="{4787E1A8-8A2B-4498-9CDC-FAFDD91CDF3B}">
      <dgm:prSet/>
      <dgm:spPr/>
      <dgm:t>
        <a:bodyPr/>
        <a:lstStyle/>
        <a:p>
          <a:endParaRPr lang="da-DK"/>
        </a:p>
      </dgm:t>
    </dgm:pt>
    <dgm:pt modelId="{0A22318C-8A35-44A1-9093-DCECE0AFDAB9}" type="sibTrans" cxnId="{4787E1A8-8A2B-4498-9CDC-FAFDD91CDF3B}">
      <dgm:prSet/>
      <dgm:spPr/>
      <dgm:t>
        <a:bodyPr/>
        <a:lstStyle/>
        <a:p>
          <a:endParaRPr lang="da-DK"/>
        </a:p>
      </dgm:t>
    </dgm:pt>
    <dgm:pt modelId="{6F8E039C-92CA-40BE-B560-F7FD9BD81D06}">
      <dgm:prSet phldrT="[Tekst]"/>
      <dgm:spPr/>
      <dgm:t>
        <a:bodyPr/>
        <a:lstStyle/>
        <a:p>
          <a:r>
            <a:rPr lang="da-DK" i="1">
              <a:solidFill>
                <a:srgbClr val="FFFF00"/>
              </a:solidFill>
            </a:rPr>
            <a:t>Convert (to JSON)</a:t>
          </a:r>
        </a:p>
      </dgm:t>
    </dgm:pt>
    <dgm:pt modelId="{5C39AA50-FA0C-4C08-B7F8-9E3CB0F014EA}" type="parTrans" cxnId="{F7AB537A-84C9-45C6-AEEC-22E281327311}">
      <dgm:prSet/>
      <dgm:spPr/>
      <dgm:t>
        <a:bodyPr/>
        <a:lstStyle/>
        <a:p>
          <a:endParaRPr lang="da-DK"/>
        </a:p>
      </dgm:t>
    </dgm:pt>
    <dgm:pt modelId="{36F19189-BDB0-4846-BE9C-1A37BBB38E7D}" type="sibTrans" cxnId="{F7AB537A-84C9-45C6-AEEC-22E281327311}">
      <dgm:prSet/>
      <dgm:spPr/>
      <dgm:t>
        <a:bodyPr/>
        <a:lstStyle/>
        <a:p>
          <a:endParaRPr lang="da-DK"/>
        </a:p>
      </dgm:t>
    </dgm:pt>
    <dgm:pt modelId="{43B52DD7-D501-413A-BEE5-B9D28490DDAF}">
      <dgm:prSet phldrT="[Tekst]"/>
      <dgm:spPr/>
      <dgm:t>
        <a:bodyPr/>
        <a:lstStyle/>
        <a:p>
          <a:r>
            <a:rPr lang="da-DK"/>
            <a:t>Text</a:t>
          </a:r>
        </a:p>
      </dgm:t>
    </dgm:pt>
    <dgm:pt modelId="{B7277FF9-45D5-4E37-AE7E-B4679A73A9B3}" type="parTrans" cxnId="{2C7B31F9-6109-48ED-96CF-5B41FC7E42D8}">
      <dgm:prSet/>
      <dgm:spPr/>
      <dgm:t>
        <a:bodyPr/>
        <a:lstStyle/>
        <a:p>
          <a:endParaRPr lang="da-DK"/>
        </a:p>
      </dgm:t>
    </dgm:pt>
    <dgm:pt modelId="{D0E2A1AA-DCB2-463B-B08F-C05A998ACCB9}" type="sibTrans" cxnId="{2C7B31F9-6109-48ED-96CF-5B41FC7E42D8}">
      <dgm:prSet/>
      <dgm:spPr/>
      <dgm:t>
        <a:bodyPr/>
        <a:lstStyle/>
        <a:p>
          <a:endParaRPr lang="da-DK"/>
        </a:p>
      </dgm:t>
    </dgm:pt>
    <dgm:pt modelId="{E960E907-8392-4C15-AEC0-C457D8D8F39E}" type="pres">
      <dgm:prSet presAssocID="{5FA1A339-A486-4949-BF21-72817EED343F}" presName="Name0" presStyleCnt="0">
        <dgm:presLayoutVars>
          <dgm:dir/>
          <dgm:resizeHandles val="exact"/>
        </dgm:presLayoutVars>
      </dgm:prSet>
      <dgm:spPr/>
    </dgm:pt>
    <dgm:pt modelId="{075B95CF-A57A-4519-8962-3632298F355A}" type="pres">
      <dgm:prSet presAssocID="{1D3DF708-D0E2-404E-93B9-423997318DA2}" presName="parTxOnly" presStyleLbl="node1" presStyleIdx="0" presStyleCnt="3">
        <dgm:presLayoutVars>
          <dgm:bulletEnabled val="1"/>
        </dgm:presLayoutVars>
      </dgm:prSet>
      <dgm:spPr/>
    </dgm:pt>
    <dgm:pt modelId="{79B1F0C1-58A9-45B0-90DF-AC10D66DF43A}" type="pres">
      <dgm:prSet presAssocID="{0A22318C-8A35-44A1-9093-DCECE0AFDAB9}" presName="parSpace" presStyleCnt="0"/>
      <dgm:spPr/>
    </dgm:pt>
    <dgm:pt modelId="{46AA31F5-2BDA-4BD3-BC90-33B7EF9FEAE7}" type="pres">
      <dgm:prSet presAssocID="{6F8E039C-92CA-40BE-B560-F7FD9BD81D06}" presName="parTxOnly" presStyleLbl="node1" presStyleIdx="1" presStyleCnt="3">
        <dgm:presLayoutVars>
          <dgm:bulletEnabled val="1"/>
        </dgm:presLayoutVars>
      </dgm:prSet>
      <dgm:spPr/>
    </dgm:pt>
    <dgm:pt modelId="{D86F78DB-4D7D-4DFC-99E8-D1F0F2104EA5}" type="pres">
      <dgm:prSet presAssocID="{36F19189-BDB0-4846-BE9C-1A37BBB38E7D}" presName="parSpace" presStyleCnt="0"/>
      <dgm:spPr/>
    </dgm:pt>
    <dgm:pt modelId="{3EEABE92-544D-43BA-A0CF-0546761E9BBE}" type="pres">
      <dgm:prSet presAssocID="{43B52DD7-D501-413A-BEE5-B9D28490DDAF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7A3ECA05-B9D6-4CDC-9675-F26CCBADFEE2}" type="presOf" srcId="{1D3DF708-D0E2-404E-93B9-423997318DA2}" destId="{075B95CF-A57A-4519-8962-3632298F355A}" srcOrd="0" destOrd="0" presId="urn:microsoft.com/office/officeart/2005/8/layout/hChevron3"/>
    <dgm:cxn modelId="{1CEEDE6A-5E77-4DFB-BE75-A15A78410234}" type="presOf" srcId="{6F8E039C-92CA-40BE-B560-F7FD9BD81D06}" destId="{46AA31F5-2BDA-4BD3-BC90-33B7EF9FEAE7}" srcOrd="0" destOrd="0" presId="urn:microsoft.com/office/officeart/2005/8/layout/hChevron3"/>
    <dgm:cxn modelId="{F7AB537A-84C9-45C6-AEEC-22E281327311}" srcId="{5FA1A339-A486-4949-BF21-72817EED343F}" destId="{6F8E039C-92CA-40BE-B560-F7FD9BD81D06}" srcOrd="1" destOrd="0" parTransId="{5C39AA50-FA0C-4C08-B7F8-9E3CB0F014EA}" sibTransId="{36F19189-BDB0-4846-BE9C-1A37BBB38E7D}"/>
    <dgm:cxn modelId="{4787E1A8-8A2B-4498-9CDC-FAFDD91CDF3B}" srcId="{5FA1A339-A486-4949-BF21-72817EED343F}" destId="{1D3DF708-D0E2-404E-93B9-423997318DA2}" srcOrd="0" destOrd="0" parTransId="{A83D2677-2F6D-48E1-A774-E8C4C14DFF50}" sibTransId="{0A22318C-8A35-44A1-9093-DCECE0AFDAB9}"/>
    <dgm:cxn modelId="{85B578C4-CFBE-42A4-A970-90EE182EA504}" type="presOf" srcId="{5FA1A339-A486-4949-BF21-72817EED343F}" destId="{E960E907-8392-4C15-AEC0-C457D8D8F39E}" srcOrd="0" destOrd="0" presId="urn:microsoft.com/office/officeart/2005/8/layout/hChevron3"/>
    <dgm:cxn modelId="{EAEF75F3-AB74-40ED-831D-4C875D702710}" type="presOf" srcId="{43B52DD7-D501-413A-BEE5-B9D28490DDAF}" destId="{3EEABE92-544D-43BA-A0CF-0546761E9BBE}" srcOrd="0" destOrd="0" presId="urn:microsoft.com/office/officeart/2005/8/layout/hChevron3"/>
    <dgm:cxn modelId="{2C7B31F9-6109-48ED-96CF-5B41FC7E42D8}" srcId="{5FA1A339-A486-4949-BF21-72817EED343F}" destId="{43B52DD7-D501-413A-BEE5-B9D28490DDAF}" srcOrd="2" destOrd="0" parTransId="{B7277FF9-45D5-4E37-AE7E-B4679A73A9B3}" sibTransId="{D0E2A1AA-DCB2-463B-B08F-C05A998ACCB9}"/>
    <dgm:cxn modelId="{2373424F-718C-481C-9974-1F281FDFB9CF}" type="presParOf" srcId="{E960E907-8392-4C15-AEC0-C457D8D8F39E}" destId="{075B95CF-A57A-4519-8962-3632298F355A}" srcOrd="0" destOrd="0" presId="urn:microsoft.com/office/officeart/2005/8/layout/hChevron3"/>
    <dgm:cxn modelId="{50A8D3FC-0C7F-446D-A8AD-B170FFE9FC84}" type="presParOf" srcId="{E960E907-8392-4C15-AEC0-C457D8D8F39E}" destId="{79B1F0C1-58A9-45B0-90DF-AC10D66DF43A}" srcOrd="1" destOrd="0" presId="urn:microsoft.com/office/officeart/2005/8/layout/hChevron3"/>
    <dgm:cxn modelId="{48F21FE2-7D96-4D3D-8E26-B291D50B9436}" type="presParOf" srcId="{E960E907-8392-4C15-AEC0-C457D8D8F39E}" destId="{46AA31F5-2BDA-4BD3-BC90-33B7EF9FEAE7}" srcOrd="2" destOrd="0" presId="urn:microsoft.com/office/officeart/2005/8/layout/hChevron3"/>
    <dgm:cxn modelId="{E3AB80A9-A6DC-4872-BCC2-9E03DDFAC522}" type="presParOf" srcId="{E960E907-8392-4C15-AEC0-C457D8D8F39E}" destId="{D86F78DB-4D7D-4DFC-99E8-D1F0F2104EA5}" srcOrd="3" destOrd="0" presId="urn:microsoft.com/office/officeart/2005/8/layout/hChevron3"/>
    <dgm:cxn modelId="{FED067B3-E52C-4C59-B874-1B96FD2E5E88}" type="presParOf" srcId="{E960E907-8392-4C15-AEC0-C457D8D8F39E}" destId="{3EEABE92-544D-43BA-A0CF-0546761E9BBE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A34219-B995-425E-9D3A-F650CD2083CB}">
      <dsp:nvSpPr>
        <dsp:cNvPr id="0" name=""/>
        <dsp:cNvSpPr/>
      </dsp:nvSpPr>
      <dsp:spPr>
        <a:xfrm rot="5400000">
          <a:off x="3536881" y="130560"/>
          <a:ext cx="2008628" cy="174750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>
              <a:solidFill>
                <a:srgbClr val="FFFF00"/>
              </a:solidFill>
            </a:rPr>
            <a:t>Zero Errors</a:t>
          </a:r>
        </a:p>
      </dsp:txBody>
      <dsp:txXfrm rot="-5400000">
        <a:off x="3939762" y="313010"/>
        <a:ext cx="1202866" cy="1382606"/>
      </dsp:txXfrm>
    </dsp:sp>
    <dsp:sp modelId="{2DFFE3E4-13DF-4525-9C89-060FCB7531A0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25F85F-B3E9-4175-9F4D-318D1500A2C0}">
      <dsp:nvSpPr>
        <dsp:cNvPr id="0" name=""/>
        <dsp:cNvSpPr/>
      </dsp:nvSpPr>
      <dsp:spPr>
        <a:xfrm rot="5400000">
          <a:off x="1637550" y="136682"/>
          <a:ext cx="2008628" cy="174750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5">
                <a:hueOff val="-1470669"/>
                <a:satOff val="-2046"/>
                <a:lumOff val="-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470669"/>
                <a:satOff val="-2046"/>
                <a:lumOff val="-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470669"/>
                <a:satOff val="-2046"/>
                <a:lumOff val="-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300" kern="1200">
              <a:solidFill>
                <a:srgbClr val="FFFF00"/>
              </a:solidFill>
            </a:rPr>
            <a:t>Easy to reuse</a:t>
          </a:r>
        </a:p>
      </dsp:txBody>
      <dsp:txXfrm rot="-5400000">
        <a:off x="2040431" y="319132"/>
        <a:ext cx="1202866" cy="1382606"/>
      </dsp:txXfrm>
    </dsp:sp>
    <dsp:sp modelId="{34060922-BF33-4C26-913C-0E73BFD9F3E9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5">
                <a:hueOff val="-2941338"/>
                <a:satOff val="-4091"/>
                <a:lumOff val="-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941338"/>
                <a:satOff val="-4091"/>
                <a:lumOff val="-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941338"/>
                <a:satOff val="-4091"/>
                <a:lumOff val="-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>
              <a:solidFill>
                <a:srgbClr val="FFFF00"/>
              </a:solidFill>
            </a:rPr>
            <a:t>Secure</a:t>
          </a:r>
        </a:p>
      </dsp:txBody>
      <dsp:txXfrm rot="-5400000">
        <a:off x="2962418" y="2018030"/>
        <a:ext cx="1202866" cy="1382606"/>
      </dsp:txXfrm>
    </dsp:sp>
    <dsp:sp modelId="{B419D0F7-E030-4149-B5A0-4BADF17E6C06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4A26AF-5E43-4310-8316-D06C8EE71FC1}">
      <dsp:nvSpPr>
        <dsp:cNvPr id="0" name=""/>
        <dsp:cNvSpPr/>
      </dsp:nvSpPr>
      <dsp:spPr>
        <a:xfrm rot="5400000">
          <a:off x="4476919" y="1853617"/>
          <a:ext cx="2008628" cy="174750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5">
                <a:hueOff val="-4412007"/>
                <a:satOff val="-6137"/>
                <a:lumOff val="-2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412007"/>
                <a:satOff val="-6137"/>
                <a:lumOff val="-2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412007"/>
                <a:satOff val="-6137"/>
                <a:lumOff val="-2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600" kern="1200">
              <a:solidFill>
                <a:srgbClr val="FFFF00"/>
              </a:solidFill>
            </a:rPr>
            <a:t>Easy to use</a:t>
          </a:r>
        </a:p>
      </dsp:txBody>
      <dsp:txXfrm rot="-5400000">
        <a:off x="4879800" y="2036067"/>
        <a:ext cx="1202866" cy="1382606"/>
      </dsp:txXfrm>
    </dsp:sp>
    <dsp:sp modelId="{5C8C54F5-8829-44B5-91E1-6C9588FDB61B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5">
                <a:hueOff val="-5882676"/>
                <a:satOff val="-8182"/>
                <a:lumOff val="-313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882676"/>
                <a:satOff val="-8182"/>
                <a:lumOff val="-313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882676"/>
                <a:satOff val="-8182"/>
                <a:lumOff val="-313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200" kern="1200">
              <a:solidFill>
                <a:srgbClr val="FFFF00"/>
              </a:solidFill>
            </a:rPr>
            <a:t>Fast</a:t>
          </a:r>
          <a:endParaRPr lang="da-DK" sz="4200" kern="1200"/>
        </a:p>
      </dsp:txBody>
      <dsp:txXfrm rot="-5400000">
        <a:off x="3909687" y="3722953"/>
        <a:ext cx="1202866" cy="1382606"/>
      </dsp:txXfrm>
    </dsp:sp>
    <dsp:sp modelId="{AF176208-5F01-4057-BB2A-2A7FA9689313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930C3D-A80F-4D84-ADEF-A2881A023904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300" kern="1200">
              <a:solidFill>
                <a:srgbClr val="FFFF00"/>
              </a:solidFill>
            </a:rPr>
            <a:t>Easy to extend</a:t>
          </a:r>
        </a:p>
      </dsp:txBody>
      <dsp:txXfrm rot="-5400000">
        <a:off x="2022380" y="3722953"/>
        <a:ext cx="1202866" cy="13826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B95CF-A57A-4519-8962-3632298F355A}">
      <dsp:nvSpPr>
        <dsp:cNvPr id="0" name=""/>
        <dsp:cNvSpPr/>
      </dsp:nvSpPr>
      <dsp:spPr>
        <a:xfrm>
          <a:off x="5255" y="2386531"/>
          <a:ext cx="4595722" cy="1838289"/>
        </a:xfrm>
        <a:prstGeom prst="homePlat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3370" tIns="146685" rIns="73343" bIns="146685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500" kern="1200"/>
            <a:t>DB</a:t>
          </a:r>
        </a:p>
      </dsp:txBody>
      <dsp:txXfrm>
        <a:off x="5255" y="2386531"/>
        <a:ext cx="4136150" cy="1838289"/>
      </dsp:txXfrm>
    </dsp:sp>
    <dsp:sp modelId="{46AA31F5-2BDA-4BD3-BC90-33B7EF9FEAE7}">
      <dsp:nvSpPr>
        <dsp:cNvPr id="0" name=""/>
        <dsp:cNvSpPr/>
      </dsp:nvSpPr>
      <dsp:spPr>
        <a:xfrm>
          <a:off x="3681833" y="2386531"/>
          <a:ext cx="4595722" cy="1838289"/>
        </a:xfrm>
        <a:prstGeom prst="chevron">
          <a:avLst/>
        </a:prstGeom>
        <a:gradFill rotWithShape="0">
          <a:gsLst>
            <a:gs pos="0">
              <a:schemeClr val="accent5">
                <a:hueOff val="-3676672"/>
                <a:satOff val="-5114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676672"/>
                <a:satOff val="-5114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676672"/>
                <a:satOff val="-5114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028" tIns="146685" rIns="73343" bIns="146685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500" i="1" kern="1200">
              <a:solidFill>
                <a:srgbClr val="FFFF00"/>
              </a:solidFill>
            </a:rPr>
            <a:t>Convert (to XML)</a:t>
          </a:r>
        </a:p>
      </dsp:txBody>
      <dsp:txXfrm>
        <a:off x="4600978" y="2386531"/>
        <a:ext cx="2757433" cy="1838289"/>
      </dsp:txXfrm>
    </dsp:sp>
    <dsp:sp modelId="{3EEABE92-544D-43BA-A0CF-0546761E9BBE}">
      <dsp:nvSpPr>
        <dsp:cNvPr id="0" name=""/>
        <dsp:cNvSpPr/>
      </dsp:nvSpPr>
      <dsp:spPr>
        <a:xfrm>
          <a:off x="7358411" y="2386531"/>
          <a:ext cx="4595722" cy="1838289"/>
        </a:xfrm>
        <a:prstGeom prst="chevron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028" tIns="146685" rIns="73343" bIns="146685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500" kern="1200"/>
            <a:t>Text</a:t>
          </a:r>
        </a:p>
      </dsp:txBody>
      <dsp:txXfrm>
        <a:off x="8277556" y="2386531"/>
        <a:ext cx="2757433" cy="18382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B95CF-A57A-4519-8962-3632298F355A}">
      <dsp:nvSpPr>
        <dsp:cNvPr id="0" name=""/>
        <dsp:cNvSpPr/>
      </dsp:nvSpPr>
      <dsp:spPr>
        <a:xfrm>
          <a:off x="5255" y="2386531"/>
          <a:ext cx="4595722" cy="1838289"/>
        </a:xfrm>
        <a:prstGeom prst="homePlat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38684" rIns="69342" bIns="138684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200" kern="1200"/>
            <a:t>DB</a:t>
          </a:r>
        </a:p>
      </dsp:txBody>
      <dsp:txXfrm>
        <a:off x="5255" y="2386531"/>
        <a:ext cx="4136150" cy="1838289"/>
      </dsp:txXfrm>
    </dsp:sp>
    <dsp:sp modelId="{46AA31F5-2BDA-4BD3-BC90-33B7EF9FEAE7}">
      <dsp:nvSpPr>
        <dsp:cNvPr id="0" name=""/>
        <dsp:cNvSpPr/>
      </dsp:nvSpPr>
      <dsp:spPr>
        <a:xfrm>
          <a:off x="3681833" y="2386531"/>
          <a:ext cx="4595722" cy="1838289"/>
        </a:xfrm>
        <a:prstGeom prst="chevron">
          <a:avLst/>
        </a:prstGeom>
        <a:gradFill rotWithShape="0">
          <a:gsLst>
            <a:gs pos="0">
              <a:schemeClr val="accent5">
                <a:hueOff val="-3676672"/>
                <a:satOff val="-5114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676672"/>
                <a:satOff val="-5114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676672"/>
                <a:satOff val="-5114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026" tIns="138684" rIns="69342" bIns="138684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200" i="1" kern="1200">
              <a:solidFill>
                <a:srgbClr val="FFFF00"/>
              </a:solidFill>
            </a:rPr>
            <a:t>Convert (to JSON)</a:t>
          </a:r>
        </a:p>
      </dsp:txBody>
      <dsp:txXfrm>
        <a:off x="4600978" y="2386531"/>
        <a:ext cx="2757433" cy="1838289"/>
      </dsp:txXfrm>
    </dsp:sp>
    <dsp:sp modelId="{3EEABE92-544D-43BA-A0CF-0546761E9BBE}">
      <dsp:nvSpPr>
        <dsp:cNvPr id="0" name=""/>
        <dsp:cNvSpPr/>
      </dsp:nvSpPr>
      <dsp:spPr>
        <a:xfrm>
          <a:off x="7358411" y="2386531"/>
          <a:ext cx="4595722" cy="1838289"/>
        </a:xfrm>
        <a:prstGeom prst="chevron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026" tIns="138684" rIns="69342" bIns="138684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200" kern="1200"/>
            <a:t>Text</a:t>
          </a:r>
        </a:p>
      </dsp:txBody>
      <dsp:txXfrm>
        <a:off x="8277556" y="2386531"/>
        <a:ext cx="2757433" cy="1838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908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0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396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15-03-2025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94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15-03-2025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8004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15-03-2025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701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15-03-2025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753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15-03-2025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372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15-03-2025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793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0215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637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7D8E-2A20-4C0E-991C-872DBB7459A8}" type="datetimeFigureOut">
              <a:rPr lang="da-DK" smtClean="0"/>
              <a:t>15-03-2025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7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415089"/>
            <a:ext cx="9144000" cy="3094874"/>
          </a:xfrm>
        </p:spPr>
        <p:txBody>
          <a:bodyPr>
            <a:normAutofit/>
          </a:bodyPr>
          <a:lstStyle/>
          <a:p>
            <a:r>
              <a:rPr lang="da-DK" sz="19200">
                <a:solidFill>
                  <a:srgbClr val="FF0000"/>
                </a:solidFill>
              </a:rPr>
              <a:t>SOLID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4144878"/>
            <a:ext cx="9144000" cy="1112921"/>
          </a:xfrm>
        </p:spPr>
        <p:txBody>
          <a:bodyPr>
            <a:normAutofit/>
          </a:bodyPr>
          <a:lstStyle/>
          <a:p>
            <a:r>
              <a:rPr lang="da-DK" sz="6000"/>
              <a:t>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1247853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12822" y="171869"/>
            <a:ext cx="11534274" cy="4995694"/>
          </a:xfrm>
        </p:spPr>
        <p:txBody>
          <a:bodyPr anchor="ctr">
            <a:normAutofit/>
          </a:bodyPr>
          <a:lstStyle/>
          <a:p>
            <a:r>
              <a:rPr lang="da-DK" sz="7200" b="1"/>
              <a:t>What is a </a:t>
            </a:r>
            <a:r>
              <a:rPr lang="da-DK" sz="7200" b="1">
                <a:solidFill>
                  <a:srgbClr val="FF0000"/>
                </a:solidFill>
              </a:rPr>
              <a:t>Design Pattern</a:t>
            </a:r>
            <a:r>
              <a:rPr lang="da-DK" sz="7200" b="1"/>
              <a:t>?</a:t>
            </a:r>
            <a:endParaRPr lang="da-DK" sz="3200" i="1"/>
          </a:p>
        </p:txBody>
      </p:sp>
    </p:spTree>
    <p:extLst>
      <p:ext uri="{BB962C8B-B14F-4D97-AF65-F5344CB8AC3E}">
        <p14:creationId xmlns:p14="http://schemas.microsoft.com/office/powerpoint/2010/main" val="2348239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407236"/>
            <a:ext cx="10515600" cy="1325563"/>
          </a:xfrm>
        </p:spPr>
        <p:txBody>
          <a:bodyPr/>
          <a:lstStyle/>
          <a:p>
            <a:r>
              <a:rPr lang="da-DK" b="1"/>
              <a:t>What is a </a:t>
            </a:r>
            <a:r>
              <a:rPr lang="da-DK" b="1">
                <a:solidFill>
                  <a:srgbClr val="FF0000"/>
                </a:solidFill>
              </a:rPr>
              <a:t>Design Pattern</a:t>
            </a:r>
            <a:r>
              <a:rPr lang="da-DK" b="1"/>
              <a:t>?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9520989" cy="4351338"/>
          </a:xfrm>
        </p:spPr>
        <p:txBody>
          <a:bodyPr>
            <a:normAutofit/>
          </a:bodyPr>
          <a:lstStyle/>
          <a:p>
            <a:r>
              <a:rPr lang="en-US"/>
              <a:t>From </a:t>
            </a:r>
            <a:r>
              <a:rPr lang="en-US" b="1"/>
              <a:t>Wikipedia</a:t>
            </a:r>
            <a:r>
              <a:rPr lang="en-US"/>
              <a:t>:</a:t>
            </a:r>
          </a:p>
          <a:p>
            <a:pPr lvl="1"/>
            <a:r>
              <a:rPr lang="en-US"/>
              <a:t>A </a:t>
            </a:r>
            <a:r>
              <a:rPr lang="en-US">
                <a:solidFill>
                  <a:srgbClr val="FF0000"/>
                </a:solidFill>
              </a:rPr>
              <a:t>general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reusable</a:t>
            </a:r>
            <a:r>
              <a:rPr lang="en-US"/>
              <a:t> solution to </a:t>
            </a:r>
            <a:r>
              <a:rPr lang="en-US">
                <a:solidFill>
                  <a:srgbClr val="FF0000"/>
                </a:solidFill>
              </a:rPr>
              <a:t>a commonly occurring </a:t>
            </a:r>
            <a:r>
              <a:rPr lang="en-US"/>
              <a:t>problem within a given context in Software Design.</a:t>
            </a:r>
          </a:p>
          <a:p>
            <a:pPr lvl="1"/>
            <a:r>
              <a:rPr lang="en-US"/>
              <a:t>It is </a:t>
            </a:r>
            <a:r>
              <a:rPr lang="en-US" u="sng"/>
              <a:t>not</a:t>
            </a:r>
            <a:r>
              <a:rPr lang="en-US"/>
              <a:t> a finished design that can be transformed directly into code.</a:t>
            </a:r>
          </a:p>
          <a:p>
            <a:pPr lvl="1"/>
            <a:r>
              <a:rPr lang="en-US"/>
              <a:t>It is a </a:t>
            </a:r>
            <a:r>
              <a:rPr lang="en-US">
                <a:solidFill>
                  <a:srgbClr val="FF0000"/>
                </a:solidFill>
              </a:rPr>
              <a:t>description</a:t>
            </a:r>
            <a:r>
              <a:rPr lang="en-US"/>
              <a:t> or </a:t>
            </a:r>
            <a:r>
              <a:rPr lang="en-US">
                <a:solidFill>
                  <a:srgbClr val="FF0000"/>
                </a:solidFill>
              </a:rPr>
              <a:t>template</a:t>
            </a:r>
            <a:r>
              <a:rPr lang="en-US"/>
              <a:t> for how to solve a problem that can be used in many different situations. Design patterns are formalized </a:t>
            </a:r>
            <a:r>
              <a:rPr lang="en-US">
                <a:solidFill>
                  <a:srgbClr val="FF0000"/>
                </a:solidFill>
              </a:rPr>
              <a:t>best practices </a:t>
            </a:r>
            <a:r>
              <a:rPr lang="en-US"/>
              <a:t>that the programmer can use to solve </a:t>
            </a:r>
            <a:r>
              <a:rPr lang="en-US">
                <a:solidFill>
                  <a:srgbClr val="FF0000"/>
                </a:solidFill>
              </a:rPr>
              <a:t>common problems </a:t>
            </a:r>
            <a:r>
              <a:rPr lang="en-US"/>
              <a:t>when designing an application or system.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5559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12822" y="171869"/>
            <a:ext cx="11534274" cy="4995694"/>
          </a:xfrm>
        </p:spPr>
        <p:txBody>
          <a:bodyPr anchor="ctr">
            <a:normAutofit/>
          </a:bodyPr>
          <a:lstStyle/>
          <a:p>
            <a:r>
              <a:rPr lang="da-DK" sz="7200" b="1"/>
              <a:t>What is a </a:t>
            </a:r>
            <a:r>
              <a:rPr lang="da-DK" sz="7200" b="1">
                <a:solidFill>
                  <a:srgbClr val="FF0000"/>
                </a:solidFill>
              </a:rPr>
              <a:t>Best Practice</a:t>
            </a:r>
            <a:r>
              <a:rPr lang="da-DK" sz="7200" b="1"/>
              <a:t>?</a:t>
            </a:r>
            <a:endParaRPr lang="da-DK" sz="3200" i="1"/>
          </a:p>
        </p:txBody>
      </p:sp>
    </p:spTree>
    <p:extLst>
      <p:ext uri="{BB962C8B-B14F-4D97-AF65-F5344CB8AC3E}">
        <p14:creationId xmlns:p14="http://schemas.microsoft.com/office/powerpoint/2010/main" val="1586087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illedresultat for speedometer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5" y="75792"/>
            <a:ext cx="11907532" cy="669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584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12822" y="171869"/>
            <a:ext cx="11534274" cy="4995694"/>
          </a:xfrm>
        </p:spPr>
        <p:txBody>
          <a:bodyPr anchor="ctr">
            <a:normAutofit/>
          </a:bodyPr>
          <a:lstStyle/>
          <a:p>
            <a:r>
              <a:rPr lang="en-US" sz="7200" b="1"/>
              <a:t>What </a:t>
            </a:r>
            <a:r>
              <a:rPr lang="en-US" sz="7200" b="1">
                <a:solidFill>
                  <a:srgbClr val="FF0000"/>
                </a:solidFill>
              </a:rPr>
              <a:t>goals</a:t>
            </a:r>
            <a:r>
              <a:rPr lang="en-US" sz="7200" b="1"/>
              <a:t> do we strive at, </a:t>
            </a:r>
            <a:br>
              <a:rPr lang="en-US" sz="7200" b="1"/>
            </a:br>
            <a:r>
              <a:rPr lang="en-US" sz="7200" b="1"/>
              <a:t>when we develop software?</a:t>
            </a:r>
            <a:endParaRPr lang="da-DK" sz="7200" i="1"/>
          </a:p>
        </p:txBody>
      </p:sp>
    </p:spTree>
    <p:extLst>
      <p:ext uri="{BB962C8B-B14F-4D97-AF65-F5344CB8AC3E}">
        <p14:creationId xmlns:p14="http://schemas.microsoft.com/office/powerpoint/2010/main" val="2499172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/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0976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51184" y="1136985"/>
            <a:ext cx="11534274" cy="4042610"/>
          </a:xfrm>
        </p:spPr>
        <p:txBody>
          <a:bodyPr anchor="t">
            <a:normAutofit/>
          </a:bodyPr>
          <a:lstStyle/>
          <a:p>
            <a:r>
              <a:rPr lang="en-US" sz="9600" b="1"/>
              <a:t>What is </a:t>
            </a:r>
            <a:r>
              <a:rPr lang="en-US" sz="9600" b="1">
                <a:solidFill>
                  <a:srgbClr val="FF0000"/>
                </a:solidFill>
              </a:rPr>
              <a:t>Quality</a:t>
            </a:r>
            <a:r>
              <a:rPr lang="en-US" sz="9600" b="1"/>
              <a:t>?</a:t>
            </a:r>
            <a:endParaRPr lang="da-DK" sz="9600" i="1"/>
          </a:p>
        </p:txBody>
      </p:sp>
    </p:spTree>
    <p:extLst>
      <p:ext uri="{BB962C8B-B14F-4D97-AF65-F5344CB8AC3E}">
        <p14:creationId xmlns:p14="http://schemas.microsoft.com/office/powerpoint/2010/main" val="2763368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51184" y="1136985"/>
            <a:ext cx="11534274" cy="4042610"/>
          </a:xfrm>
        </p:spPr>
        <p:txBody>
          <a:bodyPr anchor="t">
            <a:normAutofit/>
          </a:bodyPr>
          <a:lstStyle/>
          <a:p>
            <a:r>
              <a:rPr lang="en-US" sz="9600" b="1"/>
              <a:t>What is Quality?</a:t>
            </a:r>
            <a:br>
              <a:rPr lang="en-US" sz="9600" b="1"/>
            </a:br>
            <a:br>
              <a:rPr lang="en-US" sz="7200" b="1"/>
            </a:br>
            <a:r>
              <a:rPr lang="en-US" sz="7200" b="1" i="1">
                <a:solidFill>
                  <a:srgbClr val="FF0000"/>
                </a:solidFill>
              </a:rPr>
              <a:t>“it depends…”</a:t>
            </a:r>
            <a:endParaRPr lang="da-DK" sz="7200" i="1"/>
          </a:p>
        </p:txBody>
      </p:sp>
    </p:spTree>
    <p:extLst>
      <p:ext uri="{BB962C8B-B14F-4D97-AF65-F5344CB8AC3E}">
        <p14:creationId xmlns:p14="http://schemas.microsoft.com/office/powerpoint/2010/main" val="32080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illedresultat for mobile game flappy bi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132" y="475247"/>
            <a:ext cx="10600454" cy="596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76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illedresultat for mobilep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94" y="405406"/>
            <a:ext cx="6043026" cy="392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illedresultat for swip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267" y="2821104"/>
            <a:ext cx="4234281" cy="2963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547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Billedresultat for space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049" y="162426"/>
            <a:ext cx="9781673" cy="6521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031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51184" y="1136985"/>
            <a:ext cx="11534274" cy="4042610"/>
          </a:xfrm>
        </p:spPr>
        <p:txBody>
          <a:bodyPr anchor="t">
            <a:normAutofit/>
          </a:bodyPr>
          <a:lstStyle/>
          <a:p>
            <a:r>
              <a:rPr lang="en-US" sz="9600" b="1"/>
              <a:t>What is </a:t>
            </a:r>
            <a:r>
              <a:rPr lang="en-US" sz="9600" b="1">
                <a:solidFill>
                  <a:srgbClr val="FF0000"/>
                </a:solidFill>
              </a:rPr>
              <a:t>Quality</a:t>
            </a:r>
            <a:r>
              <a:rPr lang="en-US" sz="9600" b="1"/>
              <a:t>?</a:t>
            </a:r>
            <a:endParaRPr lang="da-DK" sz="9600" i="1"/>
          </a:p>
        </p:txBody>
      </p:sp>
    </p:spTree>
    <p:extLst>
      <p:ext uri="{BB962C8B-B14F-4D97-AF65-F5344CB8AC3E}">
        <p14:creationId xmlns:p14="http://schemas.microsoft.com/office/powerpoint/2010/main" val="2638940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47438" y="1221206"/>
            <a:ext cx="11534274" cy="4042610"/>
          </a:xfrm>
        </p:spPr>
        <p:txBody>
          <a:bodyPr anchor="t">
            <a:normAutofit/>
          </a:bodyPr>
          <a:lstStyle/>
          <a:p>
            <a:r>
              <a:rPr lang="en-US" sz="9600" b="1"/>
              <a:t>What is Quality?</a:t>
            </a:r>
            <a:br>
              <a:rPr lang="en-US" sz="9600" b="1"/>
            </a:br>
            <a:br>
              <a:rPr lang="en-US" sz="7200" b="1"/>
            </a:br>
            <a:r>
              <a:rPr lang="en-US" sz="7200" b="1" i="1">
                <a:solidFill>
                  <a:srgbClr val="FF0000"/>
                </a:solidFill>
              </a:rPr>
              <a:t>“words ending with …bility”</a:t>
            </a:r>
            <a:endParaRPr lang="da-DK" sz="7200" i="1"/>
          </a:p>
        </p:txBody>
      </p:sp>
    </p:spTree>
    <p:extLst>
      <p:ext uri="{BB962C8B-B14F-4D97-AF65-F5344CB8AC3E}">
        <p14:creationId xmlns:p14="http://schemas.microsoft.com/office/powerpoint/2010/main" val="74858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47438" y="589547"/>
            <a:ext cx="11534274" cy="5660857"/>
          </a:xfrm>
        </p:spPr>
        <p:txBody>
          <a:bodyPr anchor="t">
            <a:normAutofit/>
          </a:bodyPr>
          <a:lstStyle/>
          <a:p>
            <a:pPr algn="l"/>
            <a:r>
              <a:rPr lang="en-US" sz="4400" b="1"/>
              <a:t>Usa</a:t>
            </a:r>
            <a:r>
              <a:rPr lang="en-US" sz="4400" b="1">
                <a:solidFill>
                  <a:srgbClr val="FF0000"/>
                </a:solidFill>
              </a:rPr>
              <a:t>bility</a:t>
            </a:r>
            <a:br>
              <a:rPr lang="en-US" sz="4400" b="1"/>
            </a:br>
            <a:r>
              <a:rPr lang="en-US" sz="4400" b="1"/>
              <a:t>Relia</a:t>
            </a:r>
            <a:r>
              <a:rPr lang="en-US" sz="4400" b="1">
                <a:solidFill>
                  <a:srgbClr val="FF0000"/>
                </a:solidFill>
              </a:rPr>
              <a:t>bility</a:t>
            </a:r>
            <a:br>
              <a:rPr lang="en-US" sz="4400" b="1"/>
            </a:br>
            <a:r>
              <a:rPr lang="en-US" sz="4400" b="1"/>
              <a:t>Extensi</a:t>
            </a:r>
            <a:r>
              <a:rPr lang="en-US" sz="4400" b="1">
                <a:solidFill>
                  <a:srgbClr val="FF0000"/>
                </a:solidFill>
              </a:rPr>
              <a:t>bility</a:t>
            </a:r>
            <a:br>
              <a:rPr lang="en-US" sz="4400" b="1"/>
            </a:br>
            <a:r>
              <a:rPr lang="en-US" sz="4400" b="1"/>
              <a:t>Reusa</a:t>
            </a:r>
            <a:r>
              <a:rPr lang="en-US" sz="4400" b="1">
                <a:solidFill>
                  <a:srgbClr val="FF0000"/>
                </a:solidFill>
              </a:rPr>
              <a:t>bility</a:t>
            </a:r>
            <a:br>
              <a:rPr lang="en-US" sz="4400" b="1"/>
            </a:br>
            <a:r>
              <a:rPr lang="en-US" sz="4400" b="1"/>
              <a:t>Maintaina</a:t>
            </a:r>
            <a:r>
              <a:rPr lang="en-US" sz="4400" b="1">
                <a:solidFill>
                  <a:srgbClr val="FF0000"/>
                </a:solidFill>
              </a:rPr>
              <a:t>bility</a:t>
            </a:r>
            <a:br>
              <a:rPr lang="en-US" sz="4400" b="1"/>
            </a:br>
            <a:r>
              <a:rPr lang="en-US" sz="4400" b="1"/>
              <a:t>Porta</a:t>
            </a:r>
            <a:r>
              <a:rPr lang="en-US" sz="4400" b="1">
                <a:solidFill>
                  <a:srgbClr val="FF0000"/>
                </a:solidFill>
              </a:rPr>
              <a:t>bility</a:t>
            </a:r>
            <a:br>
              <a:rPr lang="en-US" sz="4400" b="1">
                <a:solidFill>
                  <a:srgbClr val="FF0000"/>
                </a:solidFill>
              </a:rPr>
            </a:br>
            <a:r>
              <a:rPr lang="en-US" sz="4400" b="1"/>
              <a:t>…</a:t>
            </a:r>
            <a:r>
              <a:rPr lang="en-US" sz="4400" b="1">
                <a:solidFill>
                  <a:srgbClr val="FF0000"/>
                </a:solidFill>
              </a:rPr>
              <a:t>bility</a:t>
            </a:r>
            <a:br>
              <a:rPr lang="en-US" sz="4400" b="1"/>
            </a:br>
            <a:endParaRPr lang="da-DK" sz="4400" i="1"/>
          </a:p>
        </p:txBody>
      </p:sp>
    </p:spTree>
    <p:extLst>
      <p:ext uri="{BB962C8B-B14F-4D97-AF65-F5344CB8AC3E}">
        <p14:creationId xmlns:p14="http://schemas.microsoft.com/office/powerpoint/2010/main" val="1757310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47438" y="481264"/>
            <a:ext cx="11534274" cy="6154152"/>
          </a:xfrm>
        </p:spPr>
        <p:txBody>
          <a:bodyPr anchor="t">
            <a:normAutofit/>
          </a:bodyPr>
          <a:lstStyle/>
          <a:p>
            <a:pPr algn="l"/>
            <a:br>
              <a:rPr lang="en-US" sz="9600" b="1"/>
            </a:br>
            <a:r>
              <a:rPr lang="en-US" sz="9600" b="1"/>
              <a:t>Reusa</a:t>
            </a:r>
            <a:r>
              <a:rPr lang="en-US" sz="9600" b="1">
                <a:solidFill>
                  <a:srgbClr val="FF0000"/>
                </a:solidFill>
              </a:rPr>
              <a:t>bility</a:t>
            </a:r>
            <a:br>
              <a:rPr lang="en-US" sz="9600" b="1"/>
            </a:br>
            <a:r>
              <a:rPr lang="en-US" sz="9600" b="1"/>
              <a:t>Extensi</a:t>
            </a:r>
            <a:r>
              <a:rPr lang="en-US" sz="9600" b="1">
                <a:solidFill>
                  <a:srgbClr val="FF0000"/>
                </a:solidFill>
              </a:rPr>
              <a:t>bility</a:t>
            </a:r>
            <a:br>
              <a:rPr lang="en-US" sz="9600" b="1">
                <a:solidFill>
                  <a:srgbClr val="FF0000"/>
                </a:solidFill>
              </a:rPr>
            </a:br>
            <a:endParaRPr lang="da-DK" sz="7200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045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47438" y="481264"/>
            <a:ext cx="11534274" cy="6154152"/>
          </a:xfrm>
        </p:spPr>
        <p:txBody>
          <a:bodyPr anchor="t">
            <a:normAutofit/>
          </a:bodyPr>
          <a:lstStyle/>
          <a:p>
            <a:pPr algn="l"/>
            <a:r>
              <a:rPr lang="en-US" sz="7200" i="1"/>
              <a:t>How do we achieve…</a:t>
            </a:r>
            <a:br>
              <a:rPr lang="en-US" sz="9600" b="1"/>
            </a:br>
            <a:r>
              <a:rPr lang="en-US" sz="9600" b="1"/>
              <a:t>Reusa</a:t>
            </a:r>
            <a:r>
              <a:rPr lang="en-US" sz="9600" b="1">
                <a:solidFill>
                  <a:srgbClr val="FF0000"/>
                </a:solidFill>
              </a:rPr>
              <a:t>bility</a:t>
            </a:r>
            <a:br>
              <a:rPr lang="en-US" sz="9600" b="1"/>
            </a:br>
            <a:r>
              <a:rPr lang="en-US" sz="9600" b="1"/>
              <a:t>Extensi</a:t>
            </a:r>
            <a:r>
              <a:rPr lang="en-US" sz="9600" b="1">
                <a:solidFill>
                  <a:srgbClr val="FF0000"/>
                </a:solidFill>
              </a:rPr>
              <a:t>bility</a:t>
            </a:r>
            <a:br>
              <a:rPr lang="en-US" sz="9600" b="1">
                <a:solidFill>
                  <a:srgbClr val="FF0000"/>
                </a:solidFill>
              </a:rPr>
            </a:br>
            <a:endParaRPr lang="da-DK" sz="7200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53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8205" y="318837"/>
            <a:ext cx="12003507" cy="6027821"/>
          </a:xfrm>
        </p:spPr>
        <p:txBody>
          <a:bodyPr anchor="ctr">
            <a:normAutofit/>
          </a:bodyPr>
          <a:lstStyle/>
          <a:p>
            <a:r>
              <a:rPr lang="en-US" sz="19200" b="1">
                <a:solidFill>
                  <a:srgbClr val="FF0000"/>
                </a:solidFill>
              </a:rPr>
              <a:t>SOLID</a:t>
            </a:r>
            <a:endParaRPr lang="da-DK" sz="19200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570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47438" y="481264"/>
            <a:ext cx="11534274" cy="6154152"/>
          </a:xfrm>
        </p:spPr>
        <p:txBody>
          <a:bodyPr anchor="t">
            <a:normAutofit/>
          </a:bodyPr>
          <a:lstStyle/>
          <a:p>
            <a:pPr algn="l"/>
            <a:r>
              <a:rPr lang="en-US" sz="7200" b="1">
                <a:solidFill>
                  <a:srgbClr val="FF0000"/>
                </a:solidFill>
              </a:rPr>
              <a:t>S</a:t>
            </a:r>
            <a:r>
              <a:rPr lang="en-US" sz="7200" b="1"/>
              <a:t>ingle responsibility</a:t>
            </a:r>
            <a:br>
              <a:rPr lang="en-US" sz="7200" b="1"/>
            </a:br>
            <a:r>
              <a:rPr lang="en-US" sz="7200" b="1">
                <a:solidFill>
                  <a:srgbClr val="FF0000"/>
                </a:solidFill>
              </a:rPr>
              <a:t>O</a:t>
            </a:r>
            <a:r>
              <a:rPr lang="en-US" sz="7200" b="1"/>
              <a:t>pen/Closed</a:t>
            </a:r>
            <a:br>
              <a:rPr lang="en-US" sz="7200" b="1"/>
            </a:br>
            <a:r>
              <a:rPr lang="en-US" sz="7200" b="1">
                <a:solidFill>
                  <a:srgbClr val="FF0000"/>
                </a:solidFill>
              </a:rPr>
              <a:t>L</a:t>
            </a:r>
            <a:r>
              <a:rPr lang="en-US" sz="7200" b="1"/>
              <a:t>iskov Substitution</a:t>
            </a:r>
            <a:br>
              <a:rPr lang="en-US" sz="7200" b="1"/>
            </a:br>
            <a:r>
              <a:rPr lang="en-US" sz="7200" b="1">
                <a:solidFill>
                  <a:srgbClr val="FF0000"/>
                </a:solidFill>
              </a:rPr>
              <a:t>I</a:t>
            </a:r>
            <a:r>
              <a:rPr lang="en-US" sz="7200" b="1"/>
              <a:t>nterface Segregation</a:t>
            </a:r>
            <a:br>
              <a:rPr lang="en-US" sz="7200" b="1"/>
            </a:br>
            <a:r>
              <a:rPr lang="en-US" sz="7200" b="1">
                <a:solidFill>
                  <a:srgbClr val="FF0000"/>
                </a:solidFill>
              </a:rPr>
              <a:t>D</a:t>
            </a:r>
            <a:r>
              <a:rPr lang="en-US" sz="7200" b="1"/>
              <a:t>edendency Injection</a:t>
            </a:r>
            <a:endParaRPr lang="da-DK" sz="7200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80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>
                <a:solidFill>
                  <a:srgbClr val="FF0000"/>
                </a:solidFill>
              </a:rPr>
              <a:t>S</a:t>
            </a:r>
            <a:r>
              <a:rPr lang="da-DK" b="1"/>
              <a:t>ingle Responsibility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6344653" cy="4351338"/>
          </a:xfrm>
        </p:spPr>
        <p:txBody>
          <a:bodyPr/>
          <a:lstStyle/>
          <a:p>
            <a:r>
              <a:rPr lang="da-DK" sz="3200"/>
              <a:t>Classes should only have </a:t>
            </a:r>
            <a:r>
              <a:rPr lang="da-DK" sz="3200" b="1"/>
              <a:t>one</a:t>
            </a:r>
            <a:r>
              <a:rPr lang="da-DK" sz="3200"/>
              <a:t> main responsibility</a:t>
            </a:r>
          </a:p>
          <a:p>
            <a:r>
              <a:rPr lang="da-DK" sz="3200"/>
              <a:t>=&gt; classes should only have one reason to change</a:t>
            </a:r>
          </a:p>
          <a:p>
            <a:r>
              <a:rPr lang="da-DK" sz="3200"/>
              <a:t>Keep classes small, focused and abstract</a:t>
            </a:r>
          </a:p>
        </p:txBody>
      </p:sp>
    </p:spTree>
    <p:extLst>
      <p:ext uri="{BB962C8B-B14F-4D97-AF65-F5344CB8AC3E}">
        <p14:creationId xmlns:p14="http://schemas.microsoft.com/office/powerpoint/2010/main" val="2335890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>
                <a:solidFill>
                  <a:srgbClr val="0070C0"/>
                </a:solidFill>
                <a:latin typeface="Consolas" panose="020B0609020204030204" pitchFamily="49" charset="0"/>
              </a:rPr>
              <a:t>public void </a:t>
            </a:r>
            <a:r>
              <a:rPr lang="da-DK" sz="1200" b="1">
                <a:latin typeface="Consolas" panose="020B0609020204030204" pitchFamily="49" charset="0"/>
              </a:rPr>
              <a:t>ConvertData()</a:t>
            </a:r>
          </a:p>
          <a:p>
            <a:r>
              <a:rPr lang="da-DK" sz="1200" b="1">
                <a:latin typeface="Consolas" panose="020B0609020204030204" pitchFamily="49" charset="0"/>
              </a:rPr>
              <a:t>{</a:t>
            </a:r>
          </a:p>
          <a:p>
            <a:r>
              <a:rPr lang="da-DK" sz="1200" b="1">
                <a:latin typeface="Consolas" panose="020B0609020204030204" pitchFamily="49" charset="0"/>
              </a:rPr>
              <a:t>   </a:t>
            </a:r>
            <a:r>
              <a:rPr lang="da-DK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Read data from database</a:t>
            </a:r>
          </a:p>
          <a:p>
            <a:r>
              <a:rPr lang="en-US" sz="1200" b="1">
                <a:latin typeface="Consolas" panose="020B0609020204030204" pitchFamily="49" charset="0"/>
              </a:rPr>
              <a:t>   </a:t>
            </a:r>
            <a:r>
              <a:rPr lang="en-US" sz="12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en-US" sz="1200" b="1">
                <a:latin typeface="Consolas" panose="020B0609020204030204" pitchFamily="49" charset="0"/>
              </a:rPr>
              <a:t> query = </a:t>
            </a:r>
            <a:r>
              <a:rPr lang="en-US" sz="1200" b="1">
                <a:solidFill>
                  <a:srgbClr val="C00000"/>
                </a:solidFill>
                <a:latin typeface="Consolas" panose="020B0609020204030204" pitchFamily="49" charset="0"/>
              </a:rPr>
              <a:t>"SELECT * FROM CAR</a:t>
            </a:r>
            <a:r>
              <a:rPr lang="da-DK" sz="1200" b="1">
                <a:solidFill>
                  <a:srgbClr val="C00000"/>
                </a:solidFill>
                <a:latin typeface="Consolas" panose="020B0609020204030204" pitchFamily="49" charset="0"/>
              </a:rPr>
              <a:t>"</a:t>
            </a:r>
            <a:r>
              <a:rPr lang="en-US" sz="1200" b="1">
                <a:latin typeface="Consolas" panose="020B0609020204030204" pitchFamily="49" charset="0"/>
              </a:rPr>
              <a:t>;</a:t>
            </a:r>
          </a:p>
          <a:p>
            <a:r>
              <a:rPr lang="da-DK" sz="1200" b="1">
                <a:latin typeface="Consolas" panose="020B0609020204030204" pitchFamily="49" charset="0"/>
              </a:rPr>
              <a:t>   </a:t>
            </a:r>
            <a:r>
              <a:rPr lang="da-DK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SQLServerDBConnection</a:t>
            </a:r>
            <a:r>
              <a:rPr lang="da-DK" sz="1200" b="1">
                <a:latin typeface="Consolas" panose="020B0609020204030204" pitchFamily="49" charset="0"/>
              </a:rPr>
              <a:t> conn = </a:t>
            </a:r>
            <a:r>
              <a:rPr lang="da-DK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SQLServerDBConnection</a:t>
            </a:r>
            <a:r>
              <a:rPr lang="da-DK" sz="1200" b="1">
                <a:latin typeface="Consolas" panose="020B0609020204030204" pitchFamily="49" charset="0"/>
              </a:rPr>
              <a:t>.Connect(</a:t>
            </a:r>
            <a:r>
              <a:rPr lang="da-DK" sz="1200" b="1">
                <a:solidFill>
                  <a:srgbClr val="C00000"/>
                </a:solidFill>
                <a:latin typeface="Consolas" panose="020B0609020204030204" pitchFamily="49" charset="0"/>
              </a:rPr>
              <a:t>"..."</a:t>
            </a:r>
            <a:r>
              <a:rPr lang="da-DK" sz="1200" b="1">
                <a:latin typeface="Consolas" panose="020B0609020204030204" pitchFamily="49" charset="0"/>
              </a:rPr>
              <a:t>);</a:t>
            </a:r>
          </a:p>
          <a:p>
            <a:r>
              <a:rPr lang="da-DK" sz="1200" b="1">
                <a:latin typeface="Consolas" panose="020B0609020204030204" pitchFamily="49" charset="0"/>
              </a:rPr>
              <a:t>   </a:t>
            </a:r>
            <a:r>
              <a:rPr lang="da-DK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RecordSet</a:t>
            </a:r>
            <a:r>
              <a:rPr lang="da-DK" sz="1200" b="1">
                <a:latin typeface="Consolas" panose="020B0609020204030204" pitchFamily="49" charset="0"/>
              </a:rPr>
              <a:t> records = conn.ExecuteQuery(query);</a:t>
            </a:r>
          </a:p>
          <a:p>
            <a:endParaRPr lang="da-DK" sz="1200" b="1">
              <a:latin typeface="Consolas" panose="020B0609020204030204" pitchFamily="49" charset="0"/>
            </a:endParaRPr>
          </a:p>
          <a:p>
            <a:r>
              <a:rPr lang="en-US" sz="1200" b="1">
                <a:latin typeface="Consolas" panose="020B0609020204030204" pitchFamily="49" charset="0"/>
              </a:rPr>
              <a:t>   </a:t>
            </a:r>
            <a:r>
              <a:rPr lang="en-US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Convert data from RecordSet to XML</a:t>
            </a:r>
          </a:p>
          <a:p>
            <a:r>
              <a:rPr lang="en-US" sz="1200" b="1">
                <a:solidFill>
                  <a:srgbClr val="0070C0"/>
                </a:solidFill>
                <a:latin typeface="Consolas" panose="020B0609020204030204" pitchFamily="49" charset="0"/>
              </a:rPr>
              <a:t>   string</a:t>
            </a:r>
            <a:r>
              <a:rPr lang="da-DK" sz="1200" b="1">
                <a:latin typeface="Consolas" panose="020B0609020204030204" pitchFamily="49" charset="0"/>
              </a:rPr>
              <a:t> XMLData = </a:t>
            </a:r>
            <a:r>
              <a:rPr lang="da-DK" sz="1200" b="1">
                <a:solidFill>
                  <a:srgbClr val="C00000"/>
                </a:solidFill>
                <a:latin typeface="Consolas" panose="020B0609020204030204" pitchFamily="49" charset="0"/>
              </a:rPr>
              <a:t>""</a:t>
            </a:r>
            <a:r>
              <a:rPr lang="da-DK" sz="1200" b="1">
                <a:latin typeface="Consolas" panose="020B0609020204030204" pitchFamily="49" charset="0"/>
              </a:rPr>
              <a:t>;</a:t>
            </a:r>
          </a:p>
          <a:p>
            <a:r>
              <a:rPr lang="en-US" sz="1200" b="1">
                <a:latin typeface="Consolas" panose="020B0609020204030204" pitchFamily="49" charset="0"/>
              </a:rPr>
              <a:t>   </a:t>
            </a:r>
            <a:r>
              <a:rPr lang="en-US" sz="1200" b="1">
                <a:solidFill>
                  <a:srgbClr val="0070C0"/>
                </a:solidFill>
                <a:latin typeface="Consolas" panose="020B0609020204030204" pitchFamily="49" charset="0"/>
              </a:rPr>
              <a:t>foreach</a:t>
            </a:r>
            <a:r>
              <a:rPr lang="en-US" sz="1200" b="1">
                <a:latin typeface="Consolas" panose="020B0609020204030204" pitchFamily="49" charset="0"/>
              </a:rPr>
              <a:t> (</a:t>
            </a:r>
            <a:r>
              <a:rPr lang="en-US" sz="1200" b="1">
                <a:solidFill>
                  <a:srgbClr val="0070C0"/>
                </a:solidFill>
                <a:latin typeface="Consolas" panose="020B0609020204030204" pitchFamily="49" charset="0"/>
              </a:rPr>
              <a:t>var</a:t>
            </a:r>
            <a:r>
              <a:rPr lang="en-US" sz="1200" b="1">
                <a:latin typeface="Consolas" panose="020B0609020204030204" pitchFamily="49" charset="0"/>
              </a:rPr>
              <a:t> rec </a:t>
            </a:r>
            <a:r>
              <a:rPr lang="en-US" sz="1200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en-US" sz="1200" b="1">
                <a:latin typeface="Consolas" panose="020B0609020204030204" pitchFamily="49" charset="0"/>
              </a:rPr>
              <a:t> records)</a:t>
            </a:r>
          </a:p>
          <a:p>
            <a:r>
              <a:rPr lang="da-DK" sz="1200" b="1">
                <a:latin typeface="Consolas" panose="020B0609020204030204" pitchFamily="49" charset="0"/>
              </a:rPr>
              <a:t>   {</a:t>
            </a:r>
          </a:p>
          <a:p>
            <a:r>
              <a:rPr lang="da-DK" sz="1200" b="1">
                <a:latin typeface="Consolas" panose="020B0609020204030204" pitchFamily="49" charset="0"/>
              </a:rPr>
              <a:t>      </a:t>
            </a:r>
            <a:r>
              <a:rPr lang="en-US" sz="12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1200" b="1">
                <a:latin typeface="Consolas" panose="020B0609020204030204" pitchFamily="49" charset="0"/>
              </a:rPr>
              <a:t> licensePlate = rec.GetFieldAsString(</a:t>
            </a:r>
            <a:r>
              <a:rPr lang="da-DK" sz="1200" b="1">
                <a:solidFill>
                  <a:srgbClr val="C00000"/>
                </a:solidFill>
                <a:latin typeface="Consolas" panose="020B0609020204030204" pitchFamily="49" charset="0"/>
              </a:rPr>
              <a:t>"LicensePlate"</a:t>
            </a:r>
            <a:r>
              <a:rPr lang="da-DK" sz="1200" b="1">
                <a:latin typeface="Consolas" panose="020B0609020204030204" pitchFamily="49" charset="0"/>
              </a:rPr>
              <a:t>);</a:t>
            </a:r>
          </a:p>
          <a:p>
            <a:r>
              <a:rPr lang="da-DK" sz="1200" b="1">
                <a:latin typeface="Consolas" panose="020B0609020204030204" pitchFamily="49" charset="0"/>
              </a:rPr>
              <a:t>      </a:t>
            </a:r>
            <a:r>
              <a:rPr lang="da-DK" sz="12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1200" b="1">
                <a:latin typeface="Consolas" panose="020B0609020204030204" pitchFamily="49" charset="0"/>
              </a:rPr>
              <a:t> price = rec.GetFieldAsInt(</a:t>
            </a:r>
            <a:r>
              <a:rPr lang="da-DK" sz="1200" b="1">
                <a:solidFill>
                  <a:srgbClr val="C00000"/>
                </a:solidFill>
                <a:latin typeface="Consolas" panose="020B0609020204030204" pitchFamily="49" charset="0"/>
              </a:rPr>
              <a:t>"Price"</a:t>
            </a:r>
            <a:r>
              <a:rPr lang="da-DK" sz="1200" b="1">
                <a:latin typeface="Consolas" panose="020B0609020204030204" pitchFamily="49" charset="0"/>
              </a:rPr>
              <a:t>);</a:t>
            </a:r>
          </a:p>
          <a:p>
            <a:r>
              <a:rPr lang="da-DK" sz="1200" b="1">
                <a:latin typeface="Consolas" panose="020B0609020204030204" pitchFamily="49" charset="0"/>
              </a:rPr>
              <a:t>      </a:t>
            </a:r>
            <a:r>
              <a:rPr lang="en-US" sz="12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1200" b="1">
                <a:latin typeface="Consolas" panose="020B0609020204030204" pitchFamily="49" charset="0"/>
              </a:rPr>
              <a:t> XMLelemStart = </a:t>
            </a:r>
            <a:r>
              <a:rPr lang="da-DK" sz="1200" b="1">
                <a:solidFill>
                  <a:srgbClr val="C00000"/>
                </a:solidFill>
                <a:latin typeface="Consolas" panose="020B0609020204030204" pitchFamily="49" charset="0"/>
              </a:rPr>
              <a:t>"&lt;Car&gt;\n"</a:t>
            </a:r>
            <a:r>
              <a:rPr lang="da-DK" sz="1200" b="1">
                <a:latin typeface="Consolas" panose="020B0609020204030204" pitchFamily="49" charset="0"/>
              </a:rPr>
              <a:t>;</a:t>
            </a:r>
          </a:p>
          <a:p>
            <a:r>
              <a:rPr lang="da-DK" sz="1200" b="1">
                <a:latin typeface="Consolas" panose="020B0609020204030204" pitchFamily="49" charset="0"/>
              </a:rPr>
              <a:t>      </a:t>
            </a:r>
            <a:r>
              <a:rPr lang="en-US" sz="12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1200" b="1">
                <a:latin typeface="Consolas" panose="020B0609020204030204" pitchFamily="49" charset="0"/>
              </a:rPr>
              <a:t> XMLelemLp    = </a:t>
            </a:r>
            <a:r>
              <a:rPr lang="da-DK" sz="1200" b="1">
                <a:solidFill>
                  <a:srgbClr val="C00000"/>
                </a:solidFill>
                <a:latin typeface="Consolas" panose="020B0609020204030204" pitchFamily="49" charset="0"/>
              </a:rPr>
              <a:t>$"   &lt;Licenseplate&gt;{licensePlate}&lt;/Licenseplate&gt;\n"</a:t>
            </a:r>
            <a:r>
              <a:rPr lang="da-DK" sz="1200" b="1">
                <a:latin typeface="Consolas" panose="020B0609020204030204" pitchFamily="49" charset="0"/>
              </a:rPr>
              <a:t>;</a:t>
            </a:r>
          </a:p>
          <a:p>
            <a:r>
              <a:rPr lang="da-DK" sz="1200" b="1">
                <a:latin typeface="Consolas" panose="020B0609020204030204" pitchFamily="49" charset="0"/>
              </a:rPr>
              <a:t>      </a:t>
            </a:r>
            <a:r>
              <a:rPr lang="en-US" sz="12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1200" b="1">
                <a:latin typeface="Consolas" panose="020B0609020204030204" pitchFamily="49" charset="0"/>
              </a:rPr>
              <a:t> XMLelemPr    = </a:t>
            </a:r>
            <a:r>
              <a:rPr lang="da-DK" sz="1200" b="1">
                <a:solidFill>
                  <a:srgbClr val="C00000"/>
                </a:solidFill>
                <a:latin typeface="Consolas" panose="020B0609020204030204" pitchFamily="49" charset="0"/>
              </a:rPr>
              <a:t>$"   &lt;Licenseplate&gt;{price}&lt;/Licenseplate&gt;\n"</a:t>
            </a:r>
            <a:r>
              <a:rPr lang="da-DK" sz="1200" b="1">
                <a:latin typeface="Consolas" panose="020B0609020204030204" pitchFamily="49" charset="0"/>
              </a:rPr>
              <a:t>;</a:t>
            </a:r>
          </a:p>
          <a:p>
            <a:r>
              <a:rPr lang="da-DK" sz="1200" b="1">
                <a:latin typeface="Consolas" panose="020B0609020204030204" pitchFamily="49" charset="0"/>
              </a:rPr>
              <a:t>      </a:t>
            </a:r>
            <a:r>
              <a:rPr lang="en-US" sz="12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1200" b="1">
                <a:latin typeface="Consolas" panose="020B0609020204030204" pitchFamily="49" charset="0"/>
              </a:rPr>
              <a:t> XMLelemEnd   = </a:t>
            </a:r>
            <a:r>
              <a:rPr lang="da-DK" sz="1200" b="1">
                <a:solidFill>
                  <a:srgbClr val="C00000"/>
                </a:solidFill>
                <a:latin typeface="Consolas" panose="020B0609020204030204" pitchFamily="49" charset="0"/>
              </a:rPr>
              <a:t>"&lt;/Car&gt;\n"</a:t>
            </a:r>
            <a:r>
              <a:rPr lang="da-DK" sz="1200" b="1">
                <a:latin typeface="Consolas" panose="020B0609020204030204" pitchFamily="49" charset="0"/>
              </a:rPr>
              <a:t>;</a:t>
            </a:r>
          </a:p>
          <a:p>
            <a:r>
              <a:rPr lang="da-DK" sz="1200" b="1">
                <a:latin typeface="Consolas" panose="020B0609020204030204" pitchFamily="49" charset="0"/>
              </a:rPr>
              <a:t>      XMLData += XMLelemStart + XMLelemLp + XMLelemPr + XMLelemEnd;</a:t>
            </a:r>
          </a:p>
          <a:p>
            <a:r>
              <a:rPr lang="da-DK" sz="1200" b="1">
                <a:latin typeface="Consolas" panose="020B0609020204030204" pitchFamily="49" charset="0"/>
              </a:rPr>
              <a:t>   }</a:t>
            </a:r>
          </a:p>
          <a:p>
            <a:endParaRPr lang="da-DK" sz="1200" b="1">
              <a:latin typeface="Consolas" panose="020B0609020204030204" pitchFamily="49" charset="0"/>
            </a:endParaRPr>
          </a:p>
          <a:p>
            <a:r>
              <a:rPr lang="da-DK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Write XML data to text file</a:t>
            </a:r>
          </a:p>
          <a:p>
            <a:r>
              <a:rPr lang="en-US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da-DK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FileWriterFAT32</a:t>
            </a:r>
            <a:r>
              <a:rPr lang="da-DK" sz="1200" b="1">
                <a:latin typeface="Consolas" panose="020B0609020204030204" pitchFamily="49" charset="0"/>
              </a:rPr>
              <a:t> fw32 = </a:t>
            </a:r>
            <a:r>
              <a:rPr lang="da-DK" sz="12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1200" b="1">
                <a:latin typeface="Consolas" panose="020B0609020204030204" pitchFamily="49" charset="0"/>
              </a:rPr>
              <a:t> </a:t>
            </a:r>
            <a:r>
              <a:rPr lang="da-DK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FileWriterFAT32</a:t>
            </a:r>
            <a:r>
              <a:rPr lang="da-DK" sz="1200" b="1">
                <a:latin typeface="Consolas" panose="020B0609020204030204" pitchFamily="49" charset="0"/>
              </a:rPr>
              <a:t>();</a:t>
            </a:r>
          </a:p>
          <a:p>
            <a:r>
              <a:rPr lang="da-DK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da-DK" sz="1200" b="1">
                <a:latin typeface="Consolas" panose="020B0609020204030204" pitchFamily="49" charset="0"/>
              </a:rPr>
              <a:t>fw32.Write(</a:t>
            </a:r>
            <a:r>
              <a:rPr lang="da-DK" sz="1200" b="1">
                <a:solidFill>
                  <a:srgbClr val="C00000"/>
                </a:solidFill>
                <a:latin typeface="Consolas" panose="020B0609020204030204" pitchFamily="49" charset="0"/>
              </a:rPr>
              <a:t>"C:\ConverterApp\Data\convData.txt", </a:t>
            </a:r>
            <a:r>
              <a:rPr lang="da-DK" sz="1200" b="1">
                <a:latin typeface="Consolas" panose="020B0609020204030204" pitchFamily="49" charset="0"/>
              </a:rPr>
              <a:t>XMLData);</a:t>
            </a:r>
          </a:p>
          <a:p>
            <a:r>
              <a:rPr lang="da-DK" sz="1200" b="1">
                <a:latin typeface="Consolas" panose="020B0609020204030204" pitchFamily="49" charset="0"/>
              </a:rPr>
              <a:t>}</a:t>
            </a:r>
          </a:p>
          <a:p>
            <a:endParaRPr lang="da-DK" sz="8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593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public void </a:t>
            </a:r>
            <a:r>
              <a:rPr lang="da-DK" b="1">
                <a:latin typeface="Consolas" panose="020B0609020204030204" pitchFamily="49" charset="0"/>
              </a:rPr>
              <a:t>ConvertData(</a:t>
            </a:r>
          </a:p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IDBConnection</a:t>
            </a:r>
            <a:r>
              <a:rPr lang="da-DK" b="1">
                <a:latin typeface="Consolas" panose="020B0609020204030204" pitchFamily="49" charset="0"/>
              </a:rPr>
              <a:t> conn, </a:t>
            </a:r>
            <a:r>
              <a:rPr lang="en-US" b="1">
                <a:latin typeface="Consolas" panose="020B0609020204030204" pitchFamily="49" charset="0"/>
              </a:rPr>
              <a:t> </a:t>
            </a:r>
          </a:p>
          <a:p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IXMLConverter</a:t>
            </a:r>
            <a:r>
              <a:rPr lang="da-DK" b="1">
                <a:latin typeface="Consolas" panose="020B0609020204030204" pitchFamily="49" charset="0"/>
              </a:rPr>
              <a:t> xmlConv, </a:t>
            </a:r>
          </a:p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IFileWriter</a:t>
            </a:r>
            <a:r>
              <a:rPr lang="da-DK" b="1">
                <a:latin typeface="Consolas" panose="020B0609020204030204" pitchFamily="49" charset="0"/>
              </a:rPr>
              <a:t> fileWriter, </a:t>
            </a:r>
          </a:p>
          <a:p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en-US" b="1">
                <a:latin typeface="Consolas" panose="020B0609020204030204" pitchFamily="49" charset="0"/>
              </a:rPr>
              <a:t> query,</a:t>
            </a:r>
            <a:endParaRPr lang="da-DK" b="1">
              <a:latin typeface="Consolas" panose="020B0609020204030204" pitchFamily="49" charset="0"/>
            </a:endParaRPr>
          </a:p>
          <a:p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en-US" b="1">
                <a:latin typeface="Consolas" panose="020B0609020204030204" pitchFamily="49" charset="0"/>
              </a:rPr>
              <a:t> fileTarget</a:t>
            </a:r>
            <a:r>
              <a:rPr lang="da-DK" b="1">
                <a:latin typeface="Consolas" panose="020B0609020204030204" pitchFamily="49" charset="0"/>
              </a:rPr>
              <a:t>)</a:t>
            </a:r>
          </a:p>
          <a:p>
            <a:r>
              <a:rPr lang="da-DK" b="1">
                <a:latin typeface="Consolas" panose="020B0609020204030204" pitchFamily="49" charset="0"/>
              </a:rPr>
              <a:t>{</a:t>
            </a:r>
          </a:p>
          <a:p>
            <a:r>
              <a:rPr lang="da-DK" b="1">
                <a:latin typeface="Consolas" panose="020B0609020204030204" pitchFamily="49" charset="0"/>
              </a:rPr>
              <a:t>   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Read data from database</a:t>
            </a:r>
          </a:p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RecordSet</a:t>
            </a:r>
            <a:r>
              <a:rPr lang="da-DK" b="1">
                <a:latin typeface="Consolas" panose="020B0609020204030204" pitchFamily="49" charset="0"/>
              </a:rPr>
              <a:t> records = conn.ExecuteQuery(query);</a:t>
            </a:r>
          </a:p>
          <a:p>
            <a:endParaRPr lang="da-DK" b="1">
              <a:latin typeface="Consolas" panose="020B0609020204030204" pitchFamily="49" charset="0"/>
            </a:endParaRPr>
          </a:p>
          <a:p>
            <a:r>
              <a:rPr lang="en-US" b="1"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Convert data from RecordSet to XML</a:t>
            </a:r>
          </a:p>
          <a:p>
            <a:r>
              <a:rPr lang="da-DK" b="1"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b="1">
                <a:latin typeface="Consolas" panose="020B0609020204030204" pitchFamily="49" charset="0"/>
              </a:rPr>
              <a:t> xmlData = xmlConv.ConvertRecordSet(records);</a:t>
            </a:r>
          </a:p>
          <a:p>
            <a:endParaRPr lang="da-DK" b="1">
              <a:latin typeface="Consolas" panose="020B0609020204030204" pitchFamily="49" charset="0"/>
            </a:endParaRPr>
          </a:p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Write XML data to text file</a:t>
            </a:r>
            <a:endParaRPr lang="da-DK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b="1">
                <a:latin typeface="Consolas" panose="020B0609020204030204" pitchFamily="49" charset="0"/>
              </a:rPr>
              <a:t>   fileWriter.Write(</a:t>
            </a:r>
            <a:r>
              <a:rPr lang="en-US" b="1">
                <a:latin typeface="Consolas" panose="020B0609020204030204" pitchFamily="49" charset="0"/>
              </a:rPr>
              <a:t>fileTarget, xmlData</a:t>
            </a:r>
            <a:r>
              <a:rPr lang="da-DK" b="1">
                <a:latin typeface="Consolas" panose="020B0609020204030204" pitchFamily="49" charset="0"/>
              </a:rPr>
              <a:t>);</a:t>
            </a:r>
          </a:p>
          <a:p>
            <a:r>
              <a:rPr lang="da-DK" b="1">
                <a:latin typeface="Consolas" panose="020B0609020204030204" pitchFamily="49" charset="0"/>
              </a:rPr>
              <a:t>}</a:t>
            </a:r>
          </a:p>
          <a:p>
            <a:endParaRPr lang="da-DK" sz="8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73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>
                <a:solidFill>
                  <a:srgbClr val="FF0000"/>
                </a:solidFill>
              </a:rPr>
              <a:t>O</a:t>
            </a:r>
            <a:r>
              <a:rPr lang="da-DK" b="1"/>
              <a:t>pen/Closed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8456195" cy="4351338"/>
          </a:xfrm>
        </p:spPr>
        <p:txBody>
          <a:bodyPr/>
          <a:lstStyle/>
          <a:p>
            <a:r>
              <a:rPr lang="da-DK" sz="3200"/>
              <a:t>Software entities should be </a:t>
            </a:r>
            <a:r>
              <a:rPr lang="da-DK" sz="3200" b="1"/>
              <a:t>open</a:t>
            </a:r>
            <a:r>
              <a:rPr lang="da-DK" sz="3200"/>
              <a:t> for </a:t>
            </a:r>
            <a:r>
              <a:rPr lang="da-DK" sz="3200" b="1"/>
              <a:t>extension</a:t>
            </a:r>
            <a:r>
              <a:rPr lang="da-DK" sz="3200"/>
              <a:t>, but </a:t>
            </a:r>
            <a:r>
              <a:rPr lang="da-DK" sz="3200" b="1"/>
              <a:t>closed</a:t>
            </a:r>
            <a:r>
              <a:rPr lang="da-DK" sz="3200"/>
              <a:t> for </a:t>
            </a:r>
            <a:r>
              <a:rPr lang="da-DK" sz="3200" b="1"/>
              <a:t>modification</a:t>
            </a:r>
            <a:r>
              <a:rPr lang="da-DK" sz="3200"/>
              <a:t>.</a:t>
            </a:r>
          </a:p>
          <a:p>
            <a:r>
              <a:rPr lang="da-DK" sz="3200" b="1"/>
              <a:t>Open for extension</a:t>
            </a:r>
            <a:r>
              <a:rPr lang="da-DK" sz="3200"/>
              <a:t>: behavior can be extended with new behaviors</a:t>
            </a:r>
          </a:p>
          <a:p>
            <a:r>
              <a:rPr lang="da-DK" sz="3200" b="1"/>
              <a:t>Closed for modification</a:t>
            </a:r>
            <a:r>
              <a:rPr lang="da-DK" sz="3200"/>
              <a:t>: Extension does </a:t>
            </a:r>
            <a:r>
              <a:rPr lang="da-DK" sz="3200" u="sng"/>
              <a:t>not</a:t>
            </a:r>
            <a:r>
              <a:rPr lang="da-DK" sz="3200"/>
              <a:t> require change in the source code for the entity</a:t>
            </a:r>
          </a:p>
        </p:txBody>
      </p:sp>
    </p:spTree>
    <p:extLst>
      <p:ext uri="{BB962C8B-B14F-4D97-AF65-F5344CB8AC3E}">
        <p14:creationId xmlns:p14="http://schemas.microsoft.com/office/powerpoint/2010/main" val="72600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public void </a:t>
            </a:r>
            <a:r>
              <a:rPr lang="da-DK" b="1">
                <a:latin typeface="Consolas" panose="020B0609020204030204" pitchFamily="49" charset="0"/>
              </a:rPr>
              <a:t>ConvertData(</a:t>
            </a:r>
          </a:p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IDBConnection</a:t>
            </a:r>
            <a:r>
              <a:rPr lang="da-DK" b="1">
                <a:latin typeface="Consolas" panose="020B0609020204030204" pitchFamily="49" charset="0"/>
              </a:rPr>
              <a:t> conn, </a:t>
            </a:r>
            <a:r>
              <a:rPr lang="en-US" b="1">
                <a:latin typeface="Consolas" panose="020B0609020204030204" pitchFamily="49" charset="0"/>
              </a:rPr>
              <a:t> </a:t>
            </a:r>
          </a:p>
          <a:p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IXMLConverter</a:t>
            </a:r>
            <a:r>
              <a:rPr lang="da-DK" b="1">
                <a:latin typeface="Consolas" panose="020B0609020204030204" pitchFamily="49" charset="0"/>
              </a:rPr>
              <a:t> xmlConv, </a:t>
            </a:r>
          </a:p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IFileWriter</a:t>
            </a:r>
            <a:r>
              <a:rPr lang="da-DK" b="1">
                <a:latin typeface="Consolas" panose="020B0609020204030204" pitchFamily="49" charset="0"/>
              </a:rPr>
              <a:t> fileWriter, </a:t>
            </a:r>
          </a:p>
          <a:p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en-US" b="1">
                <a:latin typeface="Consolas" panose="020B0609020204030204" pitchFamily="49" charset="0"/>
              </a:rPr>
              <a:t> query,</a:t>
            </a:r>
            <a:endParaRPr lang="da-DK" b="1">
              <a:latin typeface="Consolas" panose="020B0609020204030204" pitchFamily="49" charset="0"/>
            </a:endParaRPr>
          </a:p>
          <a:p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en-US" b="1">
                <a:latin typeface="Consolas" panose="020B0609020204030204" pitchFamily="49" charset="0"/>
              </a:rPr>
              <a:t> fileTarget</a:t>
            </a:r>
            <a:r>
              <a:rPr lang="da-DK" b="1">
                <a:latin typeface="Consolas" panose="020B0609020204030204" pitchFamily="49" charset="0"/>
              </a:rPr>
              <a:t>)</a:t>
            </a:r>
          </a:p>
          <a:p>
            <a:r>
              <a:rPr lang="da-DK" b="1">
                <a:latin typeface="Consolas" panose="020B0609020204030204" pitchFamily="49" charset="0"/>
              </a:rPr>
              <a:t>{</a:t>
            </a:r>
          </a:p>
          <a:p>
            <a:r>
              <a:rPr lang="da-DK" b="1">
                <a:latin typeface="Consolas" panose="020B0609020204030204" pitchFamily="49" charset="0"/>
              </a:rPr>
              <a:t>   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Read data from database</a:t>
            </a:r>
          </a:p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RecordSet</a:t>
            </a:r>
            <a:r>
              <a:rPr lang="da-DK" b="1">
                <a:latin typeface="Consolas" panose="020B0609020204030204" pitchFamily="49" charset="0"/>
              </a:rPr>
              <a:t> records = conn.ExecuteQuery(query);</a:t>
            </a:r>
          </a:p>
          <a:p>
            <a:endParaRPr lang="da-DK" b="1">
              <a:latin typeface="Consolas" panose="020B0609020204030204" pitchFamily="49" charset="0"/>
            </a:endParaRPr>
          </a:p>
          <a:p>
            <a:r>
              <a:rPr lang="en-US" b="1"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Convert data from RecordSet to XML</a:t>
            </a:r>
          </a:p>
          <a:p>
            <a:r>
              <a:rPr lang="da-DK" b="1"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b="1">
                <a:latin typeface="Consolas" panose="020B0609020204030204" pitchFamily="49" charset="0"/>
              </a:rPr>
              <a:t> xmlData = xmlConv.ConvertRecordSet(records);</a:t>
            </a:r>
          </a:p>
          <a:p>
            <a:endParaRPr lang="da-DK" b="1">
              <a:latin typeface="Consolas" panose="020B0609020204030204" pitchFamily="49" charset="0"/>
            </a:endParaRPr>
          </a:p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Write XML data to text file</a:t>
            </a:r>
            <a:endParaRPr lang="da-DK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b="1">
                <a:latin typeface="Consolas" panose="020B0609020204030204" pitchFamily="49" charset="0"/>
              </a:rPr>
              <a:t>   fileWriter.Write(</a:t>
            </a:r>
            <a:r>
              <a:rPr lang="en-US" b="1">
                <a:latin typeface="Consolas" panose="020B0609020204030204" pitchFamily="49" charset="0"/>
              </a:rPr>
              <a:t>fileTarget, xmlData</a:t>
            </a:r>
            <a:r>
              <a:rPr lang="da-DK" b="1">
                <a:latin typeface="Consolas" panose="020B0609020204030204" pitchFamily="49" charset="0"/>
              </a:rPr>
              <a:t>);</a:t>
            </a:r>
          </a:p>
          <a:p>
            <a:r>
              <a:rPr lang="da-DK" b="1">
                <a:latin typeface="Consolas" panose="020B0609020204030204" pitchFamily="49" charset="0"/>
              </a:rPr>
              <a:t>}</a:t>
            </a:r>
          </a:p>
          <a:p>
            <a:endParaRPr lang="da-DK" sz="8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784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public void </a:t>
            </a:r>
            <a:r>
              <a:rPr lang="da-DK" b="1">
                <a:latin typeface="Consolas" panose="020B0609020204030204" pitchFamily="49" charset="0"/>
              </a:rPr>
              <a:t>ConvertData(</a:t>
            </a:r>
          </a:p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IDBConnection</a:t>
            </a:r>
            <a:r>
              <a:rPr lang="da-DK" b="1">
                <a:latin typeface="Consolas" panose="020B0609020204030204" pitchFamily="49" charset="0"/>
              </a:rPr>
              <a:t> conn, </a:t>
            </a:r>
            <a:r>
              <a:rPr lang="en-US" b="1">
                <a:latin typeface="Consolas" panose="020B0609020204030204" pitchFamily="49" charset="0"/>
              </a:rPr>
              <a:t> </a:t>
            </a:r>
          </a:p>
          <a:p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da-DK" b="1">
                <a:solidFill>
                  <a:srgbClr val="FF0000"/>
                </a:solidFill>
                <a:latin typeface="Consolas" panose="020B0609020204030204" pitchFamily="49" charset="0"/>
              </a:rPr>
              <a:t>IRecordSetConverter rcConv</a:t>
            </a:r>
            <a:r>
              <a:rPr lang="da-DK" b="1">
                <a:latin typeface="Consolas" panose="020B0609020204030204" pitchFamily="49" charset="0"/>
              </a:rPr>
              <a:t>, </a:t>
            </a:r>
          </a:p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IFileWriter</a:t>
            </a:r>
            <a:r>
              <a:rPr lang="da-DK" b="1">
                <a:latin typeface="Consolas" panose="020B0609020204030204" pitchFamily="49" charset="0"/>
              </a:rPr>
              <a:t> fileWriter, </a:t>
            </a:r>
          </a:p>
          <a:p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en-US" b="1">
                <a:latin typeface="Consolas" panose="020B0609020204030204" pitchFamily="49" charset="0"/>
              </a:rPr>
              <a:t> query,</a:t>
            </a:r>
            <a:endParaRPr lang="da-DK" b="1">
              <a:latin typeface="Consolas" panose="020B0609020204030204" pitchFamily="49" charset="0"/>
            </a:endParaRPr>
          </a:p>
          <a:p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en-US" b="1">
                <a:latin typeface="Consolas" panose="020B0609020204030204" pitchFamily="49" charset="0"/>
              </a:rPr>
              <a:t> fileTarget</a:t>
            </a:r>
            <a:r>
              <a:rPr lang="da-DK" b="1">
                <a:latin typeface="Consolas" panose="020B0609020204030204" pitchFamily="49" charset="0"/>
              </a:rPr>
              <a:t>)</a:t>
            </a:r>
          </a:p>
          <a:p>
            <a:r>
              <a:rPr lang="da-DK" b="1">
                <a:latin typeface="Consolas" panose="020B0609020204030204" pitchFamily="49" charset="0"/>
              </a:rPr>
              <a:t>{</a:t>
            </a:r>
          </a:p>
          <a:p>
            <a:r>
              <a:rPr lang="da-DK" b="1">
                <a:latin typeface="Consolas" panose="020B0609020204030204" pitchFamily="49" charset="0"/>
              </a:rPr>
              <a:t>   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Read data from database</a:t>
            </a:r>
          </a:p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RecordSet</a:t>
            </a:r>
            <a:r>
              <a:rPr lang="da-DK" b="1">
                <a:latin typeface="Consolas" panose="020B0609020204030204" pitchFamily="49" charset="0"/>
              </a:rPr>
              <a:t> records = conn.ExecuteQuery(query);</a:t>
            </a:r>
          </a:p>
          <a:p>
            <a:endParaRPr lang="da-DK" b="1">
              <a:latin typeface="Consolas" panose="020B0609020204030204" pitchFamily="49" charset="0"/>
            </a:endParaRPr>
          </a:p>
          <a:p>
            <a:r>
              <a:rPr lang="en-US" b="1"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Convert data from RecordSet to text</a:t>
            </a:r>
          </a:p>
          <a:p>
            <a:r>
              <a:rPr lang="da-DK" b="1"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b="1">
                <a:latin typeface="Consolas" panose="020B0609020204030204" pitchFamily="49" charset="0"/>
              </a:rPr>
              <a:t> convData = </a:t>
            </a:r>
            <a:r>
              <a:rPr lang="da-DK" b="1">
                <a:solidFill>
                  <a:srgbClr val="FF0000"/>
                </a:solidFill>
                <a:latin typeface="Consolas" panose="020B0609020204030204" pitchFamily="49" charset="0"/>
              </a:rPr>
              <a:t>rcConv</a:t>
            </a:r>
            <a:r>
              <a:rPr lang="da-DK" b="1">
                <a:latin typeface="Consolas" panose="020B0609020204030204" pitchFamily="49" charset="0"/>
              </a:rPr>
              <a:t>.ConvertRecordSet(records);</a:t>
            </a:r>
          </a:p>
          <a:p>
            <a:endParaRPr lang="da-DK" b="1">
              <a:latin typeface="Consolas" panose="020B0609020204030204" pitchFamily="49" charset="0"/>
            </a:endParaRPr>
          </a:p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Write converted data to text file</a:t>
            </a:r>
            <a:endParaRPr lang="da-DK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b="1">
                <a:latin typeface="Consolas" panose="020B0609020204030204" pitchFamily="49" charset="0"/>
              </a:rPr>
              <a:t>   fileWriter.Write(</a:t>
            </a:r>
            <a:r>
              <a:rPr lang="en-US" b="1">
                <a:latin typeface="Consolas" panose="020B0609020204030204" pitchFamily="49" charset="0"/>
              </a:rPr>
              <a:t>fileTarget, </a:t>
            </a:r>
            <a:r>
              <a:rPr lang="da-DK" b="1">
                <a:latin typeface="Consolas" panose="020B0609020204030204" pitchFamily="49" charset="0"/>
              </a:rPr>
              <a:t>convData);</a:t>
            </a:r>
          </a:p>
          <a:p>
            <a:r>
              <a:rPr lang="da-DK" b="1">
                <a:latin typeface="Consolas" panose="020B0609020204030204" pitchFamily="49" charset="0"/>
              </a:rPr>
              <a:t>}</a:t>
            </a:r>
          </a:p>
          <a:p>
            <a:endParaRPr lang="da-DK" sz="8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65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154736924"/>
              </p:ext>
            </p:extLst>
          </p:nvPr>
        </p:nvGraphicFramePr>
        <p:xfrm>
          <a:off x="102268" y="144380"/>
          <a:ext cx="11959390" cy="6611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2803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496723155"/>
              </p:ext>
            </p:extLst>
          </p:nvPr>
        </p:nvGraphicFramePr>
        <p:xfrm>
          <a:off x="102268" y="144380"/>
          <a:ext cx="11959390" cy="6611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590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Call to convert to XML format</a:t>
            </a:r>
            <a:endParaRPr lang="da-DK" sz="2400" b="1">
              <a:latin typeface="Consolas" panose="020B0609020204030204" pitchFamily="49" charset="0"/>
            </a:endParaRPr>
          </a:p>
          <a:p>
            <a:r>
              <a:rPr lang="da-DK" sz="2400" b="1">
                <a:latin typeface="Consolas" panose="020B0609020204030204" pitchFamily="49" charset="0"/>
              </a:rPr>
              <a:t>ConvertData(</a:t>
            </a:r>
          </a:p>
          <a:p>
            <a:r>
              <a:rPr lang="da-DK" sz="2400" b="1">
                <a:latin typeface="Consolas" panose="020B0609020204030204" pitchFamily="49" charset="0"/>
              </a:rPr>
              <a:t>   new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SQLServerDBConnection</a:t>
            </a:r>
            <a:r>
              <a:rPr lang="da-DK" sz="2400" b="1">
                <a:latin typeface="Consolas" panose="020B0609020204030204" pitchFamily="49" charset="0"/>
              </a:rPr>
              <a:t>(),</a:t>
            </a:r>
            <a:endParaRPr lang="en-US" sz="2400" b="1">
              <a:latin typeface="Consolas" panose="020B0609020204030204" pitchFamily="49" charset="0"/>
            </a:endParaRPr>
          </a:p>
          <a:p>
            <a:r>
              <a:rPr lang="en-US" sz="2400" b="1">
                <a:latin typeface="Consolas" panose="020B0609020204030204" pitchFamily="49" charset="0"/>
              </a:rPr>
              <a:t>   new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RecToXMLConverter</a:t>
            </a:r>
            <a:r>
              <a:rPr lang="da-DK" sz="2400" b="1">
                <a:latin typeface="Consolas" panose="020B0609020204030204" pitchFamily="49" charset="0"/>
              </a:rPr>
              <a:t>()</a:t>
            </a:r>
            <a:r>
              <a:rPr lang="en-US" sz="2400" b="1">
                <a:latin typeface="Consolas" panose="020B0609020204030204" pitchFamily="49" charset="0"/>
              </a:rPr>
              <a:t>, </a:t>
            </a:r>
          </a:p>
          <a:p>
            <a:r>
              <a:rPr lang="en-US" sz="2400" b="1">
                <a:latin typeface="Consolas" panose="020B0609020204030204" pitchFamily="49" charset="0"/>
              </a:rPr>
              <a:t>   new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FileWriterFAT32</a:t>
            </a:r>
            <a:r>
              <a:rPr lang="da-DK" sz="2400" b="1">
                <a:latin typeface="Consolas" panose="020B0609020204030204" pitchFamily="49" charset="0"/>
              </a:rPr>
              <a:t>(),</a:t>
            </a:r>
          </a:p>
          <a:p>
            <a:r>
              <a:rPr lang="en-US" sz="2400" b="1">
                <a:latin typeface="Consolas" panose="020B0609020204030204" pitchFamily="49" charset="0"/>
              </a:rPr>
              <a:t>   query,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</a:p>
          <a:p>
            <a:r>
              <a:rPr lang="da-DK" sz="2400" b="1">
                <a:latin typeface="Consolas" panose="020B0609020204030204" pitchFamily="49" charset="0"/>
              </a:rPr>
              <a:t>   </a:t>
            </a:r>
            <a:r>
              <a:rPr lang="en-US" sz="2400" b="1">
                <a:latin typeface="Consolas" panose="020B0609020204030204" pitchFamily="49" charset="0"/>
              </a:rPr>
              <a:t>fileTarget);</a:t>
            </a:r>
            <a:endParaRPr lang="da-DK" sz="2400" b="1">
              <a:latin typeface="Consolas" panose="020B0609020204030204" pitchFamily="49" charset="0"/>
            </a:endParaRPr>
          </a:p>
          <a:p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373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Call to convert to JSON format</a:t>
            </a:r>
            <a:endParaRPr lang="da-DK" sz="2400" b="1">
              <a:latin typeface="Consolas" panose="020B0609020204030204" pitchFamily="49" charset="0"/>
            </a:endParaRPr>
          </a:p>
          <a:p>
            <a:r>
              <a:rPr lang="da-DK" sz="2400" b="1">
                <a:latin typeface="Consolas" panose="020B0609020204030204" pitchFamily="49" charset="0"/>
              </a:rPr>
              <a:t>ConvertData(</a:t>
            </a:r>
          </a:p>
          <a:p>
            <a:r>
              <a:rPr lang="da-DK" sz="2400" b="1">
                <a:latin typeface="Consolas" panose="020B0609020204030204" pitchFamily="49" charset="0"/>
              </a:rPr>
              <a:t>   new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SQLServerDBConnection</a:t>
            </a:r>
            <a:r>
              <a:rPr lang="da-DK" sz="2400" b="1">
                <a:latin typeface="Consolas" panose="020B0609020204030204" pitchFamily="49" charset="0"/>
              </a:rPr>
              <a:t>(),</a:t>
            </a:r>
            <a:endParaRPr lang="en-US" sz="2400" b="1">
              <a:latin typeface="Consolas" panose="020B0609020204030204" pitchFamily="49" charset="0"/>
            </a:endParaRPr>
          </a:p>
          <a:p>
            <a:r>
              <a:rPr lang="en-US" sz="2400" b="1">
                <a:latin typeface="Consolas" panose="020B0609020204030204" pitchFamily="49" charset="0"/>
              </a:rPr>
              <a:t>   new </a:t>
            </a:r>
            <a:r>
              <a:rPr lang="da-DK" sz="2400" b="1">
                <a:solidFill>
                  <a:srgbClr val="FF0000"/>
                </a:solidFill>
                <a:latin typeface="Consolas" panose="020B0609020204030204" pitchFamily="49" charset="0"/>
              </a:rPr>
              <a:t>RecToJSONConverter</a:t>
            </a:r>
            <a:r>
              <a:rPr lang="da-DK" sz="2400" b="1">
                <a:latin typeface="Consolas" panose="020B0609020204030204" pitchFamily="49" charset="0"/>
              </a:rPr>
              <a:t>()</a:t>
            </a:r>
            <a:r>
              <a:rPr lang="en-US" sz="2400" b="1">
                <a:latin typeface="Consolas" panose="020B0609020204030204" pitchFamily="49" charset="0"/>
              </a:rPr>
              <a:t>, </a:t>
            </a:r>
          </a:p>
          <a:p>
            <a:r>
              <a:rPr lang="en-US" sz="2400" b="1">
                <a:latin typeface="Consolas" panose="020B0609020204030204" pitchFamily="49" charset="0"/>
              </a:rPr>
              <a:t>   new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FileWriterFAT32</a:t>
            </a:r>
            <a:r>
              <a:rPr lang="da-DK" sz="2400" b="1">
                <a:latin typeface="Consolas" panose="020B0609020204030204" pitchFamily="49" charset="0"/>
              </a:rPr>
              <a:t>(),</a:t>
            </a:r>
          </a:p>
          <a:p>
            <a:r>
              <a:rPr lang="en-US" sz="2400" b="1">
                <a:latin typeface="Consolas" panose="020B0609020204030204" pitchFamily="49" charset="0"/>
              </a:rPr>
              <a:t>   query,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</a:p>
          <a:p>
            <a:r>
              <a:rPr lang="da-DK" sz="2400" b="1">
                <a:latin typeface="Consolas" panose="020B0609020204030204" pitchFamily="49" charset="0"/>
              </a:rPr>
              <a:t>   </a:t>
            </a:r>
            <a:r>
              <a:rPr lang="en-US" sz="2400" b="1">
                <a:latin typeface="Consolas" panose="020B0609020204030204" pitchFamily="49" charset="0"/>
              </a:rPr>
              <a:t>fileTarget);</a:t>
            </a:r>
            <a:endParaRPr lang="da-DK" sz="2400" b="1">
              <a:latin typeface="Consolas" panose="020B0609020204030204" pitchFamily="49" charset="0"/>
            </a:endParaRPr>
          </a:p>
          <a:p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02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>
                <a:solidFill>
                  <a:srgbClr val="FF0000"/>
                </a:solidFill>
              </a:rPr>
              <a:t>L</a:t>
            </a:r>
            <a:r>
              <a:rPr lang="da-DK" b="1"/>
              <a:t>iskov Substitution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7006389" cy="4351338"/>
          </a:xfrm>
        </p:spPr>
        <p:txBody>
          <a:bodyPr/>
          <a:lstStyle/>
          <a:p>
            <a:r>
              <a:rPr lang="da-DK" sz="3200"/>
              <a:t>Principle relating to how to create inheritance hierarchies</a:t>
            </a:r>
          </a:p>
          <a:p>
            <a:r>
              <a:rPr lang="da-DK" sz="3200"/>
              <a:t>Ensures that a client can use </a:t>
            </a:r>
            <a:r>
              <a:rPr lang="da-DK" sz="3200" u="sng"/>
              <a:t>subclasses</a:t>
            </a:r>
            <a:r>
              <a:rPr lang="da-DK" sz="3200"/>
              <a:t> of provided classes without changing the expected behavior</a:t>
            </a:r>
          </a:p>
          <a:p>
            <a:r>
              <a:rPr lang="da-DK" sz="3200"/>
              <a:t>Maybe another time… </a:t>
            </a:r>
            <a:r>
              <a:rPr lang="da-DK" sz="3200">
                <a:sym typeface="Wingdings" panose="05000000000000000000" pitchFamily="2" charset="2"/>
              </a:rPr>
              <a:t></a:t>
            </a:r>
            <a:endParaRPr lang="da-DK" sz="3200"/>
          </a:p>
        </p:txBody>
      </p:sp>
      <p:pic>
        <p:nvPicPr>
          <p:cNvPr id="5122" name="Picture 2" descr="Billedresultat for detour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8358" y="2083037"/>
            <a:ext cx="3336424" cy="319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050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>
                <a:solidFill>
                  <a:srgbClr val="FF0000"/>
                </a:solidFill>
              </a:rPr>
              <a:t>I</a:t>
            </a:r>
            <a:r>
              <a:rPr lang="da-DK" b="1"/>
              <a:t>nterface Segregation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8492289" cy="4351338"/>
          </a:xfrm>
        </p:spPr>
        <p:txBody>
          <a:bodyPr/>
          <a:lstStyle/>
          <a:p>
            <a:r>
              <a:rPr lang="da-DK" sz="3200" b="1"/>
              <a:t>Interfaces</a:t>
            </a:r>
            <a:r>
              <a:rPr lang="da-DK" sz="3200"/>
              <a:t>: abstract definitions of behavior</a:t>
            </a:r>
          </a:p>
          <a:p>
            <a:r>
              <a:rPr lang="da-DK" sz="3200"/>
              <a:t>Clients should ”see” objects through interfaces</a:t>
            </a:r>
          </a:p>
          <a:p>
            <a:r>
              <a:rPr lang="da-DK" sz="3200"/>
              <a:t>Smaller interfaces =&gt; </a:t>
            </a:r>
            <a:r>
              <a:rPr lang="da-DK" sz="3200" b="1"/>
              <a:t>less dependency </a:t>
            </a:r>
            <a:r>
              <a:rPr lang="da-DK" sz="3200"/>
              <a:t>between clients and objects</a:t>
            </a:r>
          </a:p>
          <a:p>
            <a:r>
              <a:rPr lang="da-DK" sz="3200" b="1"/>
              <a:t>One</a:t>
            </a:r>
            <a:r>
              <a:rPr lang="da-DK" sz="3200"/>
              <a:t> object may implement </a:t>
            </a:r>
            <a:r>
              <a:rPr lang="da-DK" sz="3200" b="1"/>
              <a:t>many</a:t>
            </a:r>
            <a:r>
              <a:rPr lang="da-DK" sz="3200"/>
              <a:t> interfaces</a:t>
            </a:r>
          </a:p>
          <a:p>
            <a:r>
              <a:rPr lang="da-DK" sz="3200"/>
              <a:t>Keep interfaces </a:t>
            </a:r>
            <a:r>
              <a:rPr lang="da-DK" sz="3200" b="1"/>
              <a:t>small</a:t>
            </a:r>
            <a:r>
              <a:rPr lang="da-DK" sz="3200"/>
              <a:t> and </a:t>
            </a:r>
            <a:r>
              <a:rPr lang="da-DK" sz="3200" b="1"/>
              <a:t>focused</a:t>
            </a:r>
          </a:p>
        </p:txBody>
      </p:sp>
    </p:spTree>
    <p:extLst>
      <p:ext uri="{BB962C8B-B14F-4D97-AF65-F5344CB8AC3E}">
        <p14:creationId xmlns:p14="http://schemas.microsoft.com/office/powerpoint/2010/main" val="4045933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470680" y="2589898"/>
            <a:ext cx="2400614" cy="16230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8431352" y="1172030"/>
            <a:ext cx="3347074" cy="445874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ClassABC</a:t>
            </a:r>
          </a:p>
          <a:p>
            <a:r>
              <a:rPr lang="da-DK" sz="2400">
                <a:solidFill>
                  <a:srgbClr val="FFFF00"/>
                </a:solidFill>
              </a:rPr>
              <a:t>MethodA</a:t>
            </a:r>
          </a:p>
          <a:p>
            <a:r>
              <a:rPr lang="da-DK" sz="2400">
                <a:solidFill>
                  <a:srgbClr val="FFFF00"/>
                </a:solidFill>
              </a:rPr>
              <a:t>MethodB</a:t>
            </a:r>
          </a:p>
          <a:p>
            <a:r>
              <a:rPr lang="da-DK" sz="2400">
                <a:solidFill>
                  <a:srgbClr val="FFFF00"/>
                </a:solidFill>
              </a:rPr>
              <a:t>MethodC</a:t>
            </a:r>
          </a:p>
        </p:txBody>
      </p:sp>
      <p:cxnSp>
        <p:nvCxnSpPr>
          <p:cNvPr id="6" name="Vinklet forbindelse 2"/>
          <p:cNvCxnSpPr>
            <a:stCxn id="4" idx="3"/>
            <a:endCxn id="8" idx="1"/>
          </p:cNvCxnSpPr>
          <p:nvPr/>
        </p:nvCxnSpPr>
        <p:spPr>
          <a:xfrm>
            <a:off x="2871294" y="3401404"/>
            <a:ext cx="5560058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2176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private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ClassABC</a:t>
            </a:r>
            <a:r>
              <a:rPr lang="da-DK" sz="2000" b="1">
                <a:latin typeface="Consolas" panose="020B0609020204030204" pitchFamily="49" charset="0"/>
              </a:rPr>
              <a:t> _abc;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Client()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_abc =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new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ClassABC</a:t>
            </a:r>
            <a:r>
              <a:rPr lang="da-DK" sz="2000" b="1">
                <a:latin typeface="Consolas" panose="020B0609020204030204" pitchFamily="49" charset="0"/>
              </a:rPr>
              <a:t>();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endParaRPr lang="da-DK" sz="20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DoUsefulStuff()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_abc.MethodB();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r>
              <a:rPr lang="da-DK" sz="2000" b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71835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470680" y="2589898"/>
            <a:ext cx="2400614" cy="16230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8431352" y="1172030"/>
            <a:ext cx="3347074" cy="445874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ClassABC</a:t>
            </a:r>
          </a:p>
          <a:p>
            <a:r>
              <a:rPr lang="da-DK" sz="2400">
                <a:solidFill>
                  <a:srgbClr val="FFFF00"/>
                </a:solidFill>
              </a:rPr>
              <a:t>MethodA</a:t>
            </a:r>
          </a:p>
          <a:p>
            <a:r>
              <a:rPr lang="da-DK" sz="2400">
                <a:solidFill>
                  <a:srgbClr val="FFFF00"/>
                </a:solidFill>
              </a:rPr>
              <a:t>MethodB</a:t>
            </a:r>
          </a:p>
          <a:p>
            <a:r>
              <a:rPr lang="da-DK" sz="2400">
                <a:solidFill>
                  <a:srgbClr val="FFFF00"/>
                </a:solidFill>
              </a:rPr>
              <a:t>MethodC</a:t>
            </a:r>
          </a:p>
        </p:txBody>
      </p:sp>
    </p:spTree>
    <p:extLst>
      <p:ext uri="{BB962C8B-B14F-4D97-AF65-F5344CB8AC3E}">
        <p14:creationId xmlns:p14="http://schemas.microsoft.com/office/powerpoint/2010/main" val="19193407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470680" y="2589898"/>
            <a:ext cx="2400614" cy="16230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8431352" y="1172030"/>
            <a:ext cx="3347074" cy="445874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ClassABC</a:t>
            </a:r>
          </a:p>
          <a:p>
            <a:r>
              <a:rPr lang="da-DK" sz="2400">
                <a:solidFill>
                  <a:srgbClr val="FFFF00"/>
                </a:solidFill>
              </a:rPr>
              <a:t>MethodA</a:t>
            </a:r>
          </a:p>
          <a:p>
            <a:r>
              <a:rPr lang="da-DK" sz="2400">
                <a:solidFill>
                  <a:srgbClr val="FFFF00"/>
                </a:solidFill>
              </a:rPr>
              <a:t>MethodB</a:t>
            </a:r>
          </a:p>
          <a:p>
            <a:r>
              <a:rPr lang="da-DK" sz="2400">
                <a:solidFill>
                  <a:srgbClr val="FFFF00"/>
                </a:solidFill>
              </a:rPr>
              <a:t>MethodC</a:t>
            </a:r>
          </a:p>
        </p:txBody>
      </p:sp>
      <p:cxnSp>
        <p:nvCxnSpPr>
          <p:cNvPr id="3" name="Lige forbindelse 2"/>
          <p:cNvCxnSpPr>
            <a:stCxn id="4" idx="3"/>
          </p:cNvCxnSpPr>
          <p:nvPr/>
        </p:nvCxnSpPr>
        <p:spPr>
          <a:xfrm>
            <a:off x="2871294" y="3401404"/>
            <a:ext cx="4477179" cy="12950"/>
          </a:xfrm>
          <a:prstGeom prst="line">
            <a:avLst/>
          </a:prstGeom>
          <a:ln w="76200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ktangel 10"/>
          <p:cNvSpPr/>
          <p:nvPr/>
        </p:nvSpPr>
        <p:spPr>
          <a:xfrm rot="2700000">
            <a:off x="7497590" y="3054354"/>
            <a:ext cx="720000" cy="720000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ekstfelt 1"/>
          <p:cNvSpPr txBox="1"/>
          <p:nvPr/>
        </p:nvSpPr>
        <p:spPr>
          <a:xfrm>
            <a:off x="4043679" y="3521244"/>
            <a:ext cx="2302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/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429112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private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ClassABC</a:t>
            </a:r>
            <a:r>
              <a:rPr lang="da-DK" sz="2000" b="1">
                <a:latin typeface="Consolas" panose="020B0609020204030204" pitchFamily="49" charset="0"/>
              </a:rPr>
              <a:t> _abc;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Client(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ClassABC</a:t>
            </a:r>
            <a:r>
              <a:rPr lang="da-DK" sz="2000" b="1">
                <a:latin typeface="Consolas" panose="020B0609020204030204" pitchFamily="49" charset="0"/>
              </a:rPr>
              <a:t> abc)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_abc = abc;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endParaRPr lang="da-DK" sz="20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DoUsefulStuff()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_abc.MethodB();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r>
              <a:rPr lang="da-DK" sz="2000" b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459995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470680" y="2589898"/>
            <a:ext cx="2400614" cy="16230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8431352" y="1172030"/>
            <a:ext cx="3347074" cy="445874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ClassABC</a:t>
            </a:r>
          </a:p>
          <a:p>
            <a:r>
              <a:rPr lang="da-DK" sz="2400">
                <a:solidFill>
                  <a:srgbClr val="FFFF00"/>
                </a:solidFill>
              </a:rPr>
              <a:t>MethodA</a:t>
            </a:r>
          </a:p>
          <a:p>
            <a:r>
              <a:rPr lang="da-DK" sz="2400">
                <a:solidFill>
                  <a:srgbClr val="FFFF00"/>
                </a:solidFill>
              </a:rPr>
              <a:t>MethodB</a:t>
            </a:r>
          </a:p>
          <a:p>
            <a:r>
              <a:rPr lang="da-DK" sz="2400">
                <a:solidFill>
                  <a:srgbClr val="FFFF00"/>
                </a:solidFill>
              </a:rPr>
              <a:t>MethodC</a:t>
            </a:r>
          </a:p>
        </p:txBody>
      </p:sp>
    </p:spTree>
    <p:extLst>
      <p:ext uri="{BB962C8B-B14F-4D97-AF65-F5344CB8AC3E}">
        <p14:creationId xmlns:p14="http://schemas.microsoft.com/office/powerpoint/2010/main" val="36602718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470680" y="2589898"/>
            <a:ext cx="2400614" cy="16230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8431352" y="1172030"/>
            <a:ext cx="3347074" cy="445874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ClassABC</a:t>
            </a:r>
          </a:p>
          <a:p>
            <a:r>
              <a:rPr lang="da-DK" sz="2400">
                <a:solidFill>
                  <a:srgbClr val="FFFF00"/>
                </a:solidFill>
              </a:rPr>
              <a:t>MethodA</a:t>
            </a:r>
          </a:p>
          <a:p>
            <a:r>
              <a:rPr lang="da-DK" sz="2400">
                <a:solidFill>
                  <a:srgbClr val="FFFF00"/>
                </a:solidFill>
              </a:rPr>
              <a:t>MethodB</a:t>
            </a:r>
          </a:p>
          <a:p>
            <a:r>
              <a:rPr lang="da-DK" sz="2400">
                <a:solidFill>
                  <a:srgbClr val="FFFF00"/>
                </a:solidFill>
              </a:rPr>
              <a:t>MethodC</a:t>
            </a:r>
          </a:p>
        </p:txBody>
      </p:sp>
      <p:cxnSp>
        <p:nvCxnSpPr>
          <p:cNvPr id="3" name="Lige forbindelse 2"/>
          <p:cNvCxnSpPr>
            <a:stCxn id="4" idx="3"/>
          </p:cNvCxnSpPr>
          <p:nvPr/>
        </p:nvCxnSpPr>
        <p:spPr>
          <a:xfrm>
            <a:off x="2871294" y="3401404"/>
            <a:ext cx="4477179" cy="12950"/>
          </a:xfrm>
          <a:prstGeom prst="line">
            <a:avLst/>
          </a:prstGeom>
          <a:ln w="76200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ktangel 10"/>
          <p:cNvSpPr/>
          <p:nvPr/>
        </p:nvSpPr>
        <p:spPr>
          <a:xfrm rot="2700000">
            <a:off x="7497590" y="3054354"/>
            <a:ext cx="720000" cy="720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Tekstfelt 5"/>
          <p:cNvSpPr txBox="1"/>
          <p:nvPr/>
        </p:nvSpPr>
        <p:spPr>
          <a:xfrm>
            <a:off x="4043679" y="3521244"/>
            <a:ext cx="2199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/>
              <a:t>Aggregation</a:t>
            </a:r>
          </a:p>
        </p:txBody>
      </p:sp>
    </p:spTree>
    <p:extLst>
      <p:ext uri="{BB962C8B-B14F-4D97-AF65-F5344CB8AC3E}">
        <p14:creationId xmlns:p14="http://schemas.microsoft.com/office/powerpoint/2010/main" val="323548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470680" y="2589898"/>
            <a:ext cx="2400614" cy="16230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Client</a:t>
            </a:r>
          </a:p>
        </p:txBody>
      </p:sp>
      <p:cxnSp>
        <p:nvCxnSpPr>
          <p:cNvPr id="6" name="Vinklet forbindelse 2"/>
          <p:cNvCxnSpPr>
            <a:stCxn id="4" idx="3"/>
          </p:cNvCxnSpPr>
          <p:nvPr/>
        </p:nvCxnSpPr>
        <p:spPr>
          <a:xfrm>
            <a:off x="2871294" y="3401404"/>
            <a:ext cx="5560058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frundet rektangel 4"/>
          <p:cNvSpPr/>
          <p:nvPr/>
        </p:nvSpPr>
        <p:spPr>
          <a:xfrm>
            <a:off x="8431352" y="1172030"/>
            <a:ext cx="3347074" cy="445874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ClassABC</a:t>
            </a:r>
          </a:p>
          <a:p>
            <a:r>
              <a:rPr lang="da-DK" sz="2400">
                <a:solidFill>
                  <a:srgbClr val="FFFF00"/>
                </a:solidFill>
              </a:rPr>
              <a:t>MethodA</a:t>
            </a:r>
          </a:p>
          <a:p>
            <a:r>
              <a:rPr lang="da-DK" sz="2400">
                <a:solidFill>
                  <a:srgbClr val="FFFF00"/>
                </a:solidFill>
              </a:rPr>
              <a:t>MethodB</a:t>
            </a:r>
          </a:p>
          <a:p>
            <a:r>
              <a:rPr lang="da-DK" sz="2400">
                <a:solidFill>
                  <a:srgbClr val="FFFF00"/>
                </a:solidFill>
              </a:rPr>
              <a:t>MethodC</a:t>
            </a:r>
          </a:p>
        </p:txBody>
      </p:sp>
    </p:spTree>
    <p:extLst>
      <p:ext uri="{BB962C8B-B14F-4D97-AF65-F5344CB8AC3E}">
        <p14:creationId xmlns:p14="http://schemas.microsoft.com/office/powerpoint/2010/main" val="13095060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470680" y="2589898"/>
            <a:ext cx="2400614" cy="16230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Client</a:t>
            </a:r>
          </a:p>
        </p:txBody>
      </p:sp>
      <p:cxnSp>
        <p:nvCxnSpPr>
          <p:cNvPr id="6" name="Vinklet forbindelse 2"/>
          <p:cNvCxnSpPr>
            <a:stCxn id="4" idx="3"/>
            <a:endCxn id="9" idx="1"/>
          </p:cNvCxnSpPr>
          <p:nvPr/>
        </p:nvCxnSpPr>
        <p:spPr>
          <a:xfrm>
            <a:off x="2871294" y="3401404"/>
            <a:ext cx="2632373" cy="9549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frundet rektangel 6"/>
          <p:cNvSpPr/>
          <p:nvPr/>
        </p:nvSpPr>
        <p:spPr>
          <a:xfrm>
            <a:off x="5503667" y="1172030"/>
            <a:ext cx="2812158" cy="1417868"/>
          </a:xfrm>
          <a:prstGeom prst="roundRect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chemeClr val="tx1"/>
                </a:solidFill>
              </a:rPr>
              <a:t>InterfaceA</a:t>
            </a:r>
          </a:p>
          <a:p>
            <a:r>
              <a:rPr lang="da-DK" sz="2400">
                <a:solidFill>
                  <a:srgbClr val="FFFF00"/>
                </a:solidFill>
              </a:rPr>
              <a:t>MethodA</a:t>
            </a:r>
          </a:p>
        </p:txBody>
      </p:sp>
      <p:sp>
        <p:nvSpPr>
          <p:cNvPr id="9" name="Afrundet rektangel 8"/>
          <p:cNvSpPr/>
          <p:nvPr/>
        </p:nvSpPr>
        <p:spPr>
          <a:xfrm>
            <a:off x="5503667" y="2702019"/>
            <a:ext cx="2812158" cy="1417868"/>
          </a:xfrm>
          <a:prstGeom prst="roundRect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chemeClr val="tx1"/>
                </a:solidFill>
              </a:rPr>
              <a:t>InterfaceB</a:t>
            </a:r>
          </a:p>
          <a:p>
            <a:r>
              <a:rPr lang="da-DK" sz="2400">
                <a:solidFill>
                  <a:srgbClr val="FFFF00"/>
                </a:solidFill>
              </a:rPr>
              <a:t>MethodB</a:t>
            </a:r>
          </a:p>
        </p:txBody>
      </p:sp>
      <p:sp>
        <p:nvSpPr>
          <p:cNvPr id="10" name="Afrundet rektangel 9"/>
          <p:cNvSpPr/>
          <p:nvPr/>
        </p:nvSpPr>
        <p:spPr>
          <a:xfrm>
            <a:off x="5503667" y="4212908"/>
            <a:ext cx="2812158" cy="1417869"/>
          </a:xfrm>
          <a:prstGeom prst="roundRect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chemeClr val="tx1"/>
                </a:solidFill>
              </a:rPr>
              <a:t>InterfaceC</a:t>
            </a:r>
          </a:p>
          <a:p>
            <a:r>
              <a:rPr lang="da-DK" sz="2400">
                <a:solidFill>
                  <a:srgbClr val="FFFF00"/>
                </a:solidFill>
              </a:rPr>
              <a:t>MethodC</a:t>
            </a:r>
          </a:p>
        </p:txBody>
      </p:sp>
      <p:sp>
        <p:nvSpPr>
          <p:cNvPr id="11" name="Afrundet rektangel 10"/>
          <p:cNvSpPr/>
          <p:nvPr/>
        </p:nvSpPr>
        <p:spPr>
          <a:xfrm>
            <a:off x="8431352" y="1172030"/>
            <a:ext cx="3347074" cy="445874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ClassABC</a:t>
            </a:r>
          </a:p>
          <a:p>
            <a:r>
              <a:rPr lang="da-DK" sz="2400">
                <a:solidFill>
                  <a:srgbClr val="FFFF00"/>
                </a:solidFill>
              </a:rPr>
              <a:t>MethodA</a:t>
            </a:r>
          </a:p>
          <a:p>
            <a:r>
              <a:rPr lang="da-DK" sz="2400">
                <a:solidFill>
                  <a:srgbClr val="FFFF00"/>
                </a:solidFill>
              </a:rPr>
              <a:t>MethodB</a:t>
            </a:r>
          </a:p>
          <a:p>
            <a:r>
              <a:rPr lang="da-DK" sz="2400">
                <a:solidFill>
                  <a:srgbClr val="FFFF00"/>
                </a:solidFill>
              </a:rPr>
              <a:t>MethodC</a:t>
            </a:r>
          </a:p>
        </p:txBody>
      </p:sp>
    </p:spTree>
    <p:extLst>
      <p:ext uri="{BB962C8B-B14F-4D97-AF65-F5344CB8AC3E}">
        <p14:creationId xmlns:p14="http://schemas.microsoft.com/office/powerpoint/2010/main" val="219456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private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InterfaceB</a:t>
            </a:r>
            <a:r>
              <a:rPr lang="da-DK" sz="2000" b="1">
                <a:latin typeface="Consolas" panose="020B0609020204030204" pitchFamily="49" charset="0"/>
              </a:rPr>
              <a:t> _b;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Client(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InterfaceB</a:t>
            </a:r>
            <a:r>
              <a:rPr lang="da-DK" sz="2000" b="1">
                <a:latin typeface="Consolas" panose="020B0609020204030204" pitchFamily="49" charset="0"/>
              </a:rPr>
              <a:t> b)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_b = b;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endParaRPr lang="da-DK" sz="20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DoUsefulStuff()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_b.MethodB();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r>
              <a:rPr lang="da-DK" sz="2000" b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18645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470680" y="1330060"/>
            <a:ext cx="2400614" cy="16230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8453819" y="3895041"/>
            <a:ext cx="2812158" cy="233216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ClassABC</a:t>
            </a:r>
          </a:p>
          <a:p>
            <a:r>
              <a:rPr lang="da-DK" sz="2400">
                <a:solidFill>
                  <a:srgbClr val="FFFF00"/>
                </a:solidFill>
              </a:rPr>
              <a:t>MethodA</a:t>
            </a:r>
          </a:p>
          <a:p>
            <a:r>
              <a:rPr lang="da-DK" sz="2400">
                <a:solidFill>
                  <a:srgbClr val="FFFF00"/>
                </a:solidFill>
              </a:rPr>
              <a:t>MethodB</a:t>
            </a:r>
          </a:p>
          <a:p>
            <a:r>
              <a:rPr lang="da-DK" sz="2400">
                <a:solidFill>
                  <a:srgbClr val="FFFF00"/>
                </a:solidFill>
              </a:rPr>
              <a:t>MethodC</a:t>
            </a:r>
          </a:p>
        </p:txBody>
      </p:sp>
      <p:cxnSp>
        <p:nvCxnSpPr>
          <p:cNvPr id="3" name="Lige forbindelse 2"/>
          <p:cNvCxnSpPr>
            <a:stCxn id="4" idx="3"/>
          </p:cNvCxnSpPr>
          <p:nvPr/>
        </p:nvCxnSpPr>
        <p:spPr>
          <a:xfrm>
            <a:off x="2871294" y="2141566"/>
            <a:ext cx="4477179" cy="12950"/>
          </a:xfrm>
          <a:prstGeom prst="line">
            <a:avLst/>
          </a:prstGeom>
          <a:ln w="76200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ktangel 10"/>
          <p:cNvSpPr/>
          <p:nvPr/>
        </p:nvSpPr>
        <p:spPr>
          <a:xfrm rot="2700000">
            <a:off x="7497590" y="1794516"/>
            <a:ext cx="720000" cy="720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Tekstfelt 5"/>
          <p:cNvSpPr txBox="1"/>
          <p:nvPr/>
        </p:nvSpPr>
        <p:spPr>
          <a:xfrm>
            <a:off x="4043679" y="2261406"/>
            <a:ext cx="2199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/>
              <a:t>Aggregation</a:t>
            </a:r>
          </a:p>
        </p:txBody>
      </p:sp>
      <p:sp>
        <p:nvSpPr>
          <p:cNvPr id="7" name="Afrundet rektangel 6"/>
          <p:cNvSpPr/>
          <p:nvPr/>
        </p:nvSpPr>
        <p:spPr>
          <a:xfrm>
            <a:off x="8453819" y="1445582"/>
            <a:ext cx="2812158" cy="1417868"/>
          </a:xfrm>
          <a:prstGeom prst="roundRect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chemeClr val="tx1"/>
                </a:solidFill>
              </a:rPr>
              <a:t>InterfaceB</a:t>
            </a:r>
          </a:p>
          <a:p>
            <a:r>
              <a:rPr lang="da-DK" sz="2400">
                <a:solidFill>
                  <a:srgbClr val="FFFF00"/>
                </a:solidFill>
              </a:rPr>
              <a:t>MethodB</a:t>
            </a:r>
          </a:p>
        </p:txBody>
      </p:sp>
      <p:cxnSp>
        <p:nvCxnSpPr>
          <p:cNvPr id="9" name="Lige forbindelse 8"/>
          <p:cNvCxnSpPr>
            <a:stCxn id="8" idx="0"/>
            <a:endCxn id="7" idx="2"/>
          </p:cNvCxnSpPr>
          <p:nvPr/>
        </p:nvCxnSpPr>
        <p:spPr>
          <a:xfrm flipV="1">
            <a:off x="9859898" y="2863450"/>
            <a:ext cx="0" cy="1031591"/>
          </a:xfrm>
          <a:prstGeom prst="line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8015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470680" y="2589898"/>
            <a:ext cx="2400614" cy="16230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8431352" y="1172030"/>
            <a:ext cx="3347074" cy="445874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ClassABC</a:t>
            </a:r>
          </a:p>
        </p:txBody>
      </p:sp>
      <p:cxnSp>
        <p:nvCxnSpPr>
          <p:cNvPr id="6" name="Vinklet forbindelse 2"/>
          <p:cNvCxnSpPr>
            <a:stCxn id="4" idx="3"/>
            <a:endCxn id="9" idx="1"/>
          </p:cNvCxnSpPr>
          <p:nvPr/>
        </p:nvCxnSpPr>
        <p:spPr>
          <a:xfrm>
            <a:off x="2871294" y="3401404"/>
            <a:ext cx="2632373" cy="9549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frundet rektangel 6"/>
          <p:cNvSpPr/>
          <p:nvPr/>
        </p:nvSpPr>
        <p:spPr>
          <a:xfrm>
            <a:off x="5503667" y="1172030"/>
            <a:ext cx="2812158" cy="1417868"/>
          </a:xfrm>
          <a:prstGeom prst="roundRect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InterfaceA</a:t>
            </a:r>
          </a:p>
        </p:txBody>
      </p:sp>
      <p:sp>
        <p:nvSpPr>
          <p:cNvPr id="9" name="Afrundet rektangel 8"/>
          <p:cNvSpPr/>
          <p:nvPr/>
        </p:nvSpPr>
        <p:spPr>
          <a:xfrm>
            <a:off x="5503667" y="2702019"/>
            <a:ext cx="2812158" cy="1417868"/>
          </a:xfrm>
          <a:prstGeom prst="roundRect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InterfaceB</a:t>
            </a:r>
          </a:p>
        </p:txBody>
      </p:sp>
      <p:sp>
        <p:nvSpPr>
          <p:cNvPr id="10" name="Afrundet rektangel 9"/>
          <p:cNvSpPr/>
          <p:nvPr/>
        </p:nvSpPr>
        <p:spPr>
          <a:xfrm>
            <a:off x="5503667" y="4212908"/>
            <a:ext cx="2812158" cy="1417869"/>
          </a:xfrm>
          <a:prstGeom prst="roundRect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InterfaceC</a:t>
            </a:r>
          </a:p>
        </p:txBody>
      </p:sp>
    </p:spTree>
    <p:extLst>
      <p:ext uri="{BB962C8B-B14F-4D97-AF65-F5344CB8AC3E}">
        <p14:creationId xmlns:p14="http://schemas.microsoft.com/office/powerpoint/2010/main" val="23572579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470680" y="2589898"/>
            <a:ext cx="2400614" cy="16230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8431352" y="2702019"/>
            <a:ext cx="3347074" cy="14178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ClassB</a:t>
            </a:r>
          </a:p>
        </p:txBody>
      </p:sp>
      <p:cxnSp>
        <p:nvCxnSpPr>
          <p:cNvPr id="6" name="Vinklet forbindelse 2"/>
          <p:cNvCxnSpPr>
            <a:stCxn id="4" idx="3"/>
            <a:endCxn id="9" idx="1"/>
          </p:cNvCxnSpPr>
          <p:nvPr/>
        </p:nvCxnSpPr>
        <p:spPr>
          <a:xfrm>
            <a:off x="2871294" y="3401404"/>
            <a:ext cx="2632373" cy="9549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frundet rektangel 6"/>
          <p:cNvSpPr/>
          <p:nvPr/>
        </p:nvSpPr>
        <p:spPr>
          <a:xfrm>
            <a:off x="5503667" y="1172030"/>
            <a:ext cx="2812158" cy="1417868"/>
          </a:xfrm>
          <a:prstGeom prst="roundRect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InterfaceA</a:t>
            </a:r>
          </a:p>
        </p:txBody>
      </p:sp>
      <p:sp>
        <p:nvSpPr>
          <p:cNvPr id="9" name="Afrundet rektangel 8"/>
          <p:cNvSpPr/>
          <p:nvPr/>
        </p:nvSpPr>
        <p:spPr>
          <a:xfrm>
            <a:off x="5503667" y="2702019"/>
            <a:ext cx="2812158" cy="1417868"/>
          </a:xfrm>
          <a:prstGeom prst="roundRect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InterfaceB</a:t>
            </a:r>
          </a:p>
        </p:txBody>
      </p:sp>
      <p:sp>
        <p:nvSpPr>
          <p:cNvPr id="10" name="Afrundet rektangel 9"/>
          <p:cNvSpPr/>
          <p:nvPr/>
        </p:nvSpPr>
        <p:spPr>
          <a:xfrm>
            <a:off x="5503667" y="4212908"/>
            <a:ext cx="2812158" cy="1417869"/>
          </a:xfrm>
          <a:prstGeom prst="roundRect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InterfaceC</a:t>
            </a:r>
          </a:p>
        </p:txBody>
      </p:sp>
    </p:spTree>
    <p:extLst>
      <p:ext uri="{BB962C8B-B14F-4D97-AF65-F5344CB8AC3E}">
        <p14:creationId xmlns:p14="http://schemas.microsoft.com/office/powerpoint/2010/main" val="2899748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470680" y="2589898"/>
            <a:ext cx="2400614" cy="16230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8431352" y="2702019"/>
            <a:ext cx="3347074" cy="141786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ClassB</a:t>
            </a:r>
          </a:p>
        </p:txBody>
      </p:sp>
      <p:cxnSp>
        <p:nvCxnSpPr>
          <p:cNvPr id="6" name="Vinklet forbindelse 2"/>
          <p:cNvCxnSpPr>
            <a:stCxn id="4" idx="3"/>
            <a:endCxn id="9" idx="1"/>
          </p:cNvCxnSpPr>
          <p:nvPr/>
        </p:nvCxnSpPr>
        <p:spPr>
          <a:xfrm>
            <a:off x="2871294" y="3401404"/>
            <a:ext cx="2632373" cy="9549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frundet rektangel 8"/>
          <p:cNvSpPr/>
          <p:nvPr/>
        </p:nvSpPr>
        <p:spPr>
          <a:xfrm>
            <a:off x="5503667" y="2702019"/>
            <a:ext cx="2812158" cy="1417868"/>
          </a:xfrm>
          <a:prstGeom prst="roundRect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InterfaceB</a:t>
            </a:r>
          </a:p>
        </p:txBody>
      </p:sp>
    </p:spTree>
    <p:extLst>
      <p:ext uri="{BB962C8B-B14F-4D97-AF65-F5344CB8AC3E}">
        <p14:creationId xmlns:p14="http://schemas.microsoft.com/office/powerpoint/2010/main" val="112438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>
                <a:solidFill>
                  <a:srgbClr val="FF0000"/>
                </a:solidFill>
              </a:rPr>
              <a:t>D</a:t>
            </a:r>
            <a:r>
              <a:rPr lang="da-DK" b="1"/>
              <a:t>ependency Injection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8492289" cy="4351338"/>
          </a:xfrm>
        </p:spPr>
        <p:txBody>
          <a:bodyPr/>
          <a:lstStyle/>
          <a:p>
            <a:r>
              <a:rPr lang="da-DK" sz="3200"/>
              <a:t>A class should </a:t>
            </a:r>
            <a:r>
              <a:rPr lang="da-DK" sz="3200" u="sng"/>
              <a:t>not</a:t>
            </a:r>
            <a:r>
              <a:rPr lang="da-DK" sz="3200"/>
              <a:t> itself establish (too) tight dependencies to other classes</a:t>
            </a:r>
          </a:p>
          <a:p>
            <a:r>
              <a:rPr lang="da-DK" sz="3200"/>
              <a:t>Dependencies should be </a:t>
            </a:r>
            <a:r>
              <a:rPr lang="da-DK" sz="3200" b="1"/>
              <a:t>injected</a:t>
            </a:r>
            <a:r>
              <a:rPr lang="da-DK" sz="3200"/>
              <a:t> by a third party, by means of </a:t>
            </a:r>
            <a:r>
              <a:rPr lang="da-DK" sz="3200" b="1"/>
              <a:t>interfaces</a:t>
            </a:r>
          </a:p>
          <a:p>
            <a:r>
              <a:rPr lang="da-DK" sz="3200"/>
              <a:t>Can also be applied at lower levels</a:t>
            </a:r>
          </a:p>
          <a:p>
            <a:r>
              <a:rPr lang="da-DK" sz="3200"/>
              <a:t>Look for places in code where </a:t>
            </a:r>
            <a:r>
              <a:rPr lang="da-DK" sz="3200" b="1"/>
              <a:t>variation</a:t>
            </a:r>
            <a:r>
              <a:rPr lang="da-DK" sz="3200"/>
              <a:t> can occur, and turn them into </a:t>
            </a:r>
            <a:r>
              <a:rPr lang="da-DK" sz="3200" b="1"/>
              <a:t>extension points</a:t>
            </a:r>
          </a:p>
          <a:p>
            <a:r>
              <a:rPr lang="da-DK" sz="3200"/>
              <a:t>Apply </a:t>
            </a:r>
            <a:r>
              <a:rPr lang="da-DK" sz="3200" b="1"/>
              <a:t>when relevant</a:t>
            </a:r>
            <a:r>
              <a:rPr lang="da-DK" sz="320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6152282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194135" y="1064153"/>
            <a:ext cx="8141970" cy="430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951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194134" y="1144693"/>
            <a:ext cx="8067465" cy="421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8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spcAft>
                <a:spcPts val="0"/>
              </a:spcAft>
            </a:pPr>
            <a:r>
              <a:rPr lang="en-US" sz="28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SquareOf4()</a:t>
            </a:r>
            <a:endParaRPr lang="da-DK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7200">
              <a:spcAft>
                <a:spcPts val="0"/>
              </a:spcAft>
            </a:pPr>
            <a:r>
              <a:rPr lang="en-US" sz="28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4 * 4;</a:t>
            </a:r>
            <a:endParaRPr lang="da-DK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</a:p>
          <a:p>
            <a:pPr indent="457200">
              <a:spcAft>
                <a:spcPts val="0"/>
              </a:spcAft>
            </a:pPr>
            <a:endParaRPr lang="da-DK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sz="20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9546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spcAft>
                <a:spcPts val="0"/>
              </a:spcAft>
            </a:pPr>
            <a:r>
              <a:rPr lang="en-US" sz="28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SquareOf4()</a:t>
            </a:r>
            <a:endParaRPr lang="da-DK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7200">
              <a:spcAft>
                <a:spcPts val="0"/>
              </a:spcAft>
            </a:pPr>
            <a:r>
              <a:rPr lang="en-US" sz="28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4 * 4;</a:t>
            </a:r>
            <a:endParaRPr lang="da-DK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</a:p>
          <a:p>
            <a:pPr indent="457200">
              <a:spcAft>
                <a:spcPts val="0"/>
              </a:spcAft>
            </a:pPr>
            <a:endParaRPr lang="en-US" sz="2800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28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SquareOf6()</a:t>
            </a:r>
            <a:endParaRPr lang="da-DK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7200">
              <a:spcAft>
                <a:spcPts val="0"/>
              </a:spcAft>
            </a:pPr>
            <a:r>
              <a:rPr lang="en-US" sz="28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6 * 6;</a:t>
            </a:r>
            <a:endParaRPr lang="da-DK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da-DK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endParaRPr lang="da-DK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sz="2000" b="1">
              <a:latin typeface="Consolas" panose="020B0609020204030204" pitchFamily="49" charset="0"/>
            </a:endParaRPr>
          </a:p>
        </p:txBody>
      </p:sp>
      <p:sp>
        <p:nvSpPr>
          <p:cNvPr id="5" name="Forbudstavle 4"/>
          <p:cNvSpPr/>
          <p:nvPr/>
        </p:nvSpPr>
        <p:spPr>
          <a:xfrm>
            <a:off x="10062323" y="2310513"/>
            <a:ext cx="1620000" cy="1620000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37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spcAft>
                <a:spcPts val="0"/>
              </a:spcAft>
            </a:pPr>
            <a:r>
              <a:rPr lang="en-US" sz="28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Square(</a:t>
            </a:r>
            <a:r>
              <a:rPr lang="en-US" sz="2800" b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 n</a:t>
            </a: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da-DK" sz="2800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457200">
              <a:spcAft>
                <a:spcPts val="0"/>
              </a:spcAft>
            </a:pP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7200">
              <a:spcAft>
                <a:spcPts val="0"/>
              </a:spcAft>
            </a:pPr>
            <a:r>
              <a:rPr lang="en-US" sz="28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 * n;</a:t>
            </a:r>
            <a:endParaRPr lang="da-DK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da-DK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endParaRPr lang="en-US" sz="2800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457200">
              <a:spcAft>
                <a:spcPts val="0"/>
              </a:spcAft>
            </a:pPr>
            <a:endParaRPr lang="da-DK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sz="2000" b="1">
              <a:latin typeface="Consolas" panose="020B0609020204030204" pitchFamily="49" charset="0"/>
            </a:endParaRPr>
          </a:p>
        </p:txBody>
      </p:sp>
      <p:pic>
        <p:nvPicPr>
          <p:cNvPr id="5" name="Picture 2" descr="Billedresultat for tick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2323" y="2310513"/>
            <a:ext cx="1620000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5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26" y="1213271"/>
            <a:ext cx="11168120" cy="380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57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Die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_faceValue;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Random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_random = </a:t>
            </a: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Random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Die()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7200"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Roll();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FaceValue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7200">
              <a:spcAft>
                <a:spcPts val="0"/>
              </a:spcAft>
            </a:pP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 </a:t>
            </a: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_faceValue; }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Roll()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7200"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_faceValue = _random.Next(0,</a:t>
            </a:r>
            <a:r>
              <a:rPr lang="en-US" sz="1600" b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6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+ 1;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rbudstavle 3"/>
          <p:cNvSpPr/>
          <p:nvPr/>
        </p:nvSpPr>
        <p:spPr>
          <a:xfrm>
            <a:off x="10062323" y="2310513"/>
            <a:ext cx="1620000" cy="1620000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91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7" y="827578"/>
            <a:ext cx="860819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da-DK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Roll()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7200">
              <a:spcAft>
                <a:spcPts val="0"/>
              </a:spcAft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_faceValue = _random.Next(0,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6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+ 1;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</a:p>
          <a:p>
            <a:pPr indent="457200">
              <a:spcAft>
                <a:spcPts val="0"/>
              </a:spcAft>
            </a:pPr>
            <a:endParaRPr lang="en-US" sz="2400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endParaRPr lang="en-US" sz="2400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endParaRPr lang="en-US" sz="2400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Roll(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 noOfSides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7200">
              <a:spcAft>
                <a:spcPts val="0"/>
              </a:spcAft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_faceValue = _random.Next(0, 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noOfSides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+ 1;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</a:p>
          <a:p>
            <a:pPr indent="457200">
              <a:spcAft>
                <a:spcPts val="0"/>
              </a:spcAft>
            </a:pPr>
            <a:endParaRPr lang="en-US" sz="2400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rbudstavle 3"/>
          <p:cNvSpPr/>
          <p:nvPr/>
        </p:nvSpPr>
        <p:spPr>
          <a:xfrm>
            <a:off x="9933629" y="827578"/>
            <a:ext cx="1620000" cy="1620000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pic>
        <p:nvPicPr>
          <p:cNvPr id="5" name="Picture 2" descr="Billedresultat for tick icon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629" y="3651633"/>
            <a:ext cx="1620000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68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96392" y="704467"/>
            <a:ext cx="1009449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Die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_faceValue;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400" b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 int _noOfSides;</a:t>
            </a:r>
            <a:endParaRPr lang="da-DK" sz="1400" b="1">
              <a:solidFill>
                <a:srgbClr val="FF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457200">
              <a:spcAft>
                <a:spcPts val="0"/>
              </a:spcAft>
            </a:pPr>
            <a:r>
              <a:rPr lang="en-US" sz="1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Random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_random = </a:t>
            </a:r>
            <a:r>
              <a:rPr lang="en-US" sz="1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Random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Die(int noOfSides)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400" b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_noOfSides = noOfSides;</a:t>
            </a:r>
            <a:endParaRPr lang="da-DK" sz="1400" b="1">
              <a:solidFill>
                <a:srgbClr val="FF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457200" indent="457200">
              <a:spcAft>
                <a:spcPts val="0"/>
              </a:spcAft>
            </a:pP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Roll();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sz="1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FaceValue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7200">
              <a:spcAft>
                <a:spcPts val="0"/>
              </a:spcAft>
            </a:pPr>
            <a:r>
              <a:rPr lang="en-US" sz="1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 </a:t>
            </a:r>
            <a:r>
              <a:rPr lang="en-US" sz="1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_faceValue; }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Roll()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7200">
              <a:spcAft>
                <a:spcPts val="0"/>
              </a:spcAft>
            </a:pP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_faceValue = _random.Next(0, </a:t>
            </a:r>
            <a:r>
              <a:rPr lang="en-US" sz="1400" b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_noOfSides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+ 1;</a:t>
            </a:r>
            <a:endParaRPr lang="da-DK" sz="1400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457200">
              <a:spcAft>
                <a:spcPts val="0"/>
              </a:spcAft>
            </a:pP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da-DK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Billedresultat for tick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2323" y="2310513"/>
            <a:ext cx="1620000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88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Dependency Injection – filtering values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6398623" cy="4351338"/>
          </a:xfrm>
        </p:spPr>
        <p:txBody>
          <a:bodyPr/>
          <a:lstStyle/>
          <a:p>
            <a:r>
              <a:rPr lang="da-DK" sz="3200"/>
              <a:t>Given a set of integer values, filter out those values for which a certain </a:t>
            </a:r>
            <a:r>
              <a:rPr lang="da-DK" sz="3200" b="1"/>
              <a:t>condition</a:t>
            </a:r>
            <a:r>
              <a:rPr lang="da-DK" sz="3200"/>
              <a:t> becomes true.</a:t>
            </a:r>
          </a:p>
          <a:p>
            <a:r>
              <a:rPr lang="da-DK" sz="3200"/>
              <a:t>Condition example: </a:t>
            </a:r>
            <a:r>
              <a:rPr lang="da-DK" sz="3200" b="1"/>
              <a:t>value is less than 12</a:t>
            </a:r>
            <a:r>
              <a:rPr lang="da-DK" sz="3200"/>
              <a:t>.</a:t>
            </a:r>
          </a:p>
        </p:txBody>
      </p:sp>
      <p:sp>
        <p:nvSpPr>
          <p:cNvPr id="4" name="Rektangel 3"/>
          <p:cNvSpPr/>
          <p:nvPr/>
        </p:nvSpPr>
        <p:spPr>
          <a:xfrm>
            <a:off x="7694023" y="2103121"/>
            <a:ext cx="548639" cy="5747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12</a:t>
            </a:r>
          </a:p>
        </p:txBody>
      </p:sp>
      <p:sp>
        <p:nvSpPr>
          <p:cNvPr id="5" name="Rektangel 4"/>
          <p:cNvSpPr/>
          <p:nvPr/>
        </p:nvSpPr>
        <p:spPr>
          <a:xfrm>
            <a:off x="8242662" y="2103121"/>
            <a:ext cx="548639" cy="5747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24</a:t>
            </a:r>
          </a:p>
        </p:txBody>
      </p:sp>
      <p:sp>
        <p:nvSpPr>
          <p:cNvPr id="6" name="Rektangel 5"/>
          <p:cNvSpPr/>
          <p:nvPr/>
        </p:nvSpPr>
        <p:spPr>
          <a:xfrm>
            <a:off x="8791301" y="2103121"/>
            <a:ext cx="548639" cy="5747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9</a:t>
            </a:r>
          </a:p>
        </p:txBody>
      </p:sp>
      <p:sp>
        <p:nvSpPr>
          <p:cNvPr id="7" name="Rektangel 6"/>
          <p:cNvSpPr/>
          <p:nvPr/>
        </p:nvSpPr>
        <p:spPr>
          <a:xfrm>
            <a:off x="9339940" y="2103121"/>
            <a:ext cx="548639" cy="5747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10</a:t>
            </a:r>
          </a:p>
        </p:txBody>
      </p:sp>
      <p:sp>
        <p:nvSpPr>
          <p:cNvPr id="8" name="Rektangel 7"/>
          <p:cNvSpPr/>
          <p:nvPr/>
        </p:nvSpPr>
        <p:spPr>
          <a:xfrm>
            <a:off x="9888579" y="2103121"/>
            <a:ext cx="548639" cy="5747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6</a:t>
            </a:r>
          </a:p>
        </p:txBody>
      </p:sp>
      <p:sp>
        <p:nvSpPr>
          <p:cNvPr id="9" name="Rektangel 8"/>
          <p:cNvSpPr/>
          <p:nvPr/>
        </p:nvSpPr>
        <p:spPr>
          <a:xfrm>
            <a:off x="10437218" y="2103121"/>
            <a:ext cx="548639" cy="5747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3</a:t>
            </a:r>
          </a:p>
        </p:txBody>
      </p:sp>
      <p:sp>
        <p:nvSpPr>
          <p:cNvPr id="10" name="Rektangel 9"/>
          <p:cNvSpPr/>
          <p:nvPr/>
        </p:nvSpPr>
        <p:spPr>
          <a:xfrm>
            <a:off x="10985857" y="2103121"/>
            <a:ext cx="548639" cy="5747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45</a:t>
            </a:r>
          </a:p>
        </p:txBody>
      </p:sp>
      <p:sp>
        <p:nvSpPr>
          <p:cNvPr id="12" name="Nedadgående pil 11"/>
          <p:cNvSpPr/>
          <p:nvPr/>
        </p:nvSpPr>
        <p:spPr>
          <a:xfrm>
            <a:off x="7694023" y="3030582"/>
            <a:ext cx="3840473" cy="1657531"/>
          </a:xfrm>
          <a:prstGeom prst="downArrow">
            <a:avLst>
              <a:gd name="adj1" fmla="val 50000"/>
              <a:gd name="adj2" fmla="val 4230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&lt; 12</a:t>
            </a:r>
          </a:p>
        </p:txBody>
      </p:sp>
      <p:sp>
        <p:nvSpPr>
          <p:cNvPr id="15" name="Rektangel 14"/>
          <p:cNvSpPr/>
          <p:nvPr/>
        </p:nvSpPr>
        <p:spPr>
          <a:xfrm>
            <a:off x="8516981" y="4926150"/>
            <a:ext cx="548639" cy="57476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9</a:t>
            </a:r>
          </a:p>
        </p:txBody>
      </p:sp>
      <p:sp>
        <p:nvSpPr>
          <p:cNvPr id="16" name="Rektangel 15"/>
          <p:cNvSpPr/>
          <p:nvPr/>
        </p:nvSpPr>
        <p:spPr>
          <a:xfrm>
            <a:off x="9065620" y="4926150"/>
            <a:ext cx="548639" cy="57476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10</a:t>
            </a:r>
          </a:p>
        </p:txBody>
      </p:sp>
      <p:sp>
        <p:nvSpPr>
          <p:cNvPr id="17" name="Rektangel 16"/>
          <p:cNvSpPr/>
          <p:nvPr/>
        </p:nvSpPr>
        <p:spPr>
          <a:xfrm>
            <a:off x="9614259" y="4926150"/>
            <a:ext cx="548639" cy="57476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6</a:t>
            </a:r>
          </a:p>
        </p:txBody>
      </p:sp>
      <p:sp>
        <p:nvSpPr>
          <p:cNvPr id="18" name="Rektangel 17"/>
          <p:cNvSpPr/>
          <p:nvPr/>
        </p:nvSpPr>
        <p:spPr>
          <a:xfrm>
            <a:off x="10162898" y="4926150"/>
            <a:ext cx="548639" cy="57476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30838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Version 1.0</a:t>
            </a:r>
          </a:p>
          <a:p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 FilterValues()</a:t>
            </a:r>
          </a:p>
          <a:p>
            <a:r>
              <a:rPr lang="da-DK" sz="2000" b="1">
                <a:latin typeface="Consolas" panose="020B0609020204030204" pitchFamily="49" charset="0"/>
              </a:rPr>
              <a:t>{</a:t>
            </a:r>
          </a:p>
          <a:p>
            <a:r>
              <a:rPr lang="en-US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</a:t>
            </a:r>
            <a:r>
              <a:rPr lang="en-US" sz="2000" b="1">
                <a:latin typeface="Consolas" panose="020B0609020204030204" pitchFamily="49" charset="0"/>
              </a:rPr>
              <a:t> values =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US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</a:t>
            </a:r>
            <a:r>
              <a:rPr lang="en-US" sz="2000" b="1">
                <a:latin typeface="Consolas" panose="020B0609020204030204" pitchFamily="49" charset="0"/>
              </a:rPr>
              <a:t>{ 12, 24, 9, 10, 6, 3, 45 };</a:t>
            </a:r>
          </a:p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 filteredValues =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&gt;(); 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en-US" sz="2000" b="1">
                <a:latin typeface="Consolas" panose="020B0609020204030204" pitchFamily="49" charset="0"/>
              </a:rPr>
              <a:t>  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foreach</a:t>
            </a:r>
            <a:r>
              <a:rPr lang="en-US" sz="2000" b="1">
                <a:latin typeface="Consolas" panose="020B0609020204030204" pitchFamily="49" charset="0"/>
              </a:rPr>
              <a:t> (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2000" b="1">
                <a:latin typeface="Consolas" panose="020B0609020204030204" pitchFamily="49" charset="0"/>
              </a:rPr>
              <a:t> value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en-US" sz="2000" b="1">
                <a:latin typeface="Consolas" panose="020B0609020204030204" pitchFamily="49" charset="0"/>
              </a:rPr>
              <a:t> values)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da-DK" sz="2000" b="1">
                <a:latin typeface="Consolas" panose="020B0609020204030204" pitchFamily="49" charset="0"/>
              </a:rPr>
              <a:t> (value &lt; 12)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   filteredValues.Add(value);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}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da-DK" sz="2000" b="1">
                <a:latin typeface="Consolas" panose="020B0609020204030204" pitchFamily="49" charset="0"/>
              </a:rPr>
              <a:t> filteredValues;</a:t>
            </a:r>
          </a:p>
          <a:p>
            <a:r>
              <a:rPr lang="da-DK" sz="2000" b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84795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Call of Version 1.0</a:t>
            </a:r>
          </a:p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800" b="1">
                <a:latin typeface="Consolas" panose="020B0609020204030204" pitchFamily="49" charset="0"/>
              </a:rPr>
              <a:t>&lt;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800" b="1">
                <a:latin typeface="Consolas" panose="020B0609020204030204" pitchFamily="49" charset="0"/>
              </a:rPr>
              <a:t>&gt; filteredValues;</a:t>
            </a:r>
            <a:endParaRPr lang="da-DK" sz="28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FilterV10</a:t>
            </a:r>
            <a:r>
              <a:rPr lang="da-DK" sz="2800" b="1">
                <a:latin typeface="Consolas" panose="020B0609020204030204" pitchFamily="49" charset="0"/>
              </a:rPr>
              <a:t> fv10 = 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FilterV10</a:t>
            </a:r>
            <a:r>
              <a:rPr lang="da-DK" sz="2800" b="1">
                <a:latin typeface="Consolas" panose="020B0609020204030204" pitchFamily="49" charset="0"/>
              </a:rPr>
              <a:t>(</a:t>
            </a:r>
            <a:r>
              <a:rPr lang="en-US" sz="2800" b="1">
                <a:latin typeface="Consolas" panose="020B0609020204030204" pitchFamily="49" charset="0"/>
              </a:rPr>
              <a:t>);</a:t>
            </a:r>
          </a:p>
          <a:p>
            <a:endParaRPr lang="da-DK" sz="2800" b="1">
              <a:latin typeface="Consolas" panose="020B0609020204030204" pitchFamily="49" charset="0"/>
            </a:endParaRPr>
          </a:p>
          <a:p>
            <a:r>
              <a:rPr lang="da-DK" sz="2800" b="1">
                <a:latin typeface="Consolas" panose="020B0609020204030204" pitchFamily="49" charset="0"/>
              </a:rPr>
              <a:t>filteredValues = fv10.FilterValues();</a:t>
            </a:r>
            <a:endParaRPr lang="da-DK" sz="28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7314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/>
          <p:cNvSpPr/>
          <p:nvPr/>
        </p:nvSpPr>
        <p:spPr>
          <a:xfrm>
            <a:off x="7920000" y="3240000"/>
            <a:ext cx="2880000" cy="28800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/>
              <a:t>30</a:t>
            </a:r>
          </a:p>
        </p:txBody>
      </p:sp>
      <p:sp>
        <p:nvSpPr>
          <p:cNvPr id="5" name="Ellipse 4"/>
          <p:cNvSpPr/>
          <p:nvPr/>
        </p:nvSpPr>
        <p:spPr>
          <a:xfrm>
            <a:off x="7920000" y="3240000"/>
            <a:ext cx="2880000" cy="2880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/>
              <a:t>25</a:t>
            </a:r>
          </a:p>
        </p:txBody>
      </p:sp>
      <p:sp>
        <p:nvSpPr>
          <p:cNvPr id="6" name="Ellipse 5"/>
          <p:cNvSpPr/>
          <p:nvPr/>
        </p:nvSpPr>
        <p:spPr>
          <a:xfrm>
            <a:off x="7920000" y="3240000"/>
            <a:ext cx="2880000" cy="28800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/>
              <a:t>20</a:t>
            </a:r>
          </a:p>
        </p:txBody>
      </p:sp>
      <p:sp>
        <p:nvSpPr>
          <p:cNvPr id="7" name="Ellipse 6"/>
          <p:cNvSpPr/>
          <p:nvPr/>
        </p:nvSpPr>
        <p:spPr>
          <a:xfrm>
            <a:off x="7920000" y="3240000"/>
            <a:ext cx="2880000" cy="288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/>
              <a:t>15</a:t>
            </a:r>
          </a:p>
        </p:txBody>
      </p:sp>
      <p:sp>
        <p:nvSpPr>
          <p:cNvPr id="8" name="Ellipse 7"/>
          <p:cNvSpPr/>
          <p:nvPr/>
        </p:nvSpPr>
        <p:spPr>
          <a:xfrm>
            <a:off x="7920000" y="3240000"/>
            <a:ext cx="2880000" cy="288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/>
              <a:t>10</a:t>
            </a:r>
          </a:p>
        </p:txBody>
      </p:sp>
      <p:sp>
        <p:nvSpPr>
          <p:cNvPr id="9" name="Ellipse 8"/>
          <p:cNvSpPr/>
          <p:nvPr/>
        </p:nvSpPr>
        <p:spPr>
          <a:xfrm>
            <a:off x="7920000" y="3240000"/>
            <a:ext cx="2880000" cy="288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600"/>
              <a:t>5</a:t>
            </a:r>
          </a:p>
        </p:txBody>
      </p:sp>
      <p:sp>
        <p:nvSpPr>
          <p:cNvPr id="3" name="Tekstfelt 2"/>
          <p:cNvSpPr txBox="1"/>
          <p:nvPr/>
        </p:nvSpPr>
        <p:spPr>
          <a:xfrm>
            <a:off x="962527" y="827578"/>
            <a:ext cx="5838324" cy="427809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a-DK" sz="16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Version 1.0</a:t>
            </a:r>
          </a:p>
          <a:p>
            <a:r>
              <a:rPr lang="da-DK" sz="16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1600" b="1">
                <a:latin typeface="Consolas" panose="020B0609020204030204" pitchFamily="49" charset="0"/>
              </a:rPr>
              <a:t> </a:t>
            </a:r>
            <a:r>
              <a:rPr lang="da-DK" sz="16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1600" b="1">
                <a:latin typeface="Consolas" panose="020B0609020204030204" pitchFamily="49" charset="0"/>
              </a:rPr>
              <a:t>&lt;</a:t>
            </a:r>
            <a:r>
              <a:rPr lang="da-DK" sz="1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1600" b="1">
                <a:latin typeface="Consolas" panose="020B0609020204030204" pitchFamily="49" charset="0"/>
              </a:rPr>
              <a:t>&gt; FilterValues()</a:t>
            </a:r>
          </a:p>
          <a:p>
            <a:r>
              <a:rPr lang="da-DK" sz="1600" b="1">
                <a:latin typeface="Consolas" panose="020B0609020204030204" pitchFamily="49" charset="0"/>
              </a:rPr>
              <a:t>{</a:t>
            </a:r>
          </a:p>
          <a:p>
            <a:r>
              <a:rPr lang="en-US" sz="1600" b="1">
                <a:latin typeface="Consolas" panose="020B0609020204030204" pitchFamily="49" charset="0"/>
              </a:rPr>
              <a:t>   </a:t>
            </a:r>
            <a:r>
              <a:rPr lang="da-DK" sz="16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1600" b="1">
                <a:latin typeface="Consolas" panose="020B0609020204030204" pitchFamily="49" charset="0"/>
              </a:rPr>
              <a:t>&lt;</a:t>
            </a:r>
            <a:r>
              <a:rPr lang="da-DK" sz="1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1600" b="1">
                <a:latin typeface="Consolas" panose="020B0609020204030204" pitchFamily="49" charset="0"/>
              </a:rPr>
              <a:t>&gt;</a:t>
            </a:r>
            <a:r>
              <a:rPr lang="en-US" sz="1600" b="1">
                <a:latin typeface="Consolas" panose="020B0609020204030204" pitchFamily="49" charset="0"/>
              </a:rPr>
              <a:t> values = </a:t>
            </a:r>
            <a:r>
              <a:rPr lang="en-US" sz="16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US" sz="1600" b="1">
                <a:latin typeface="Consolas" panose="020B0609020204030204" pitchFamily="49" charset="0"/>
              </a:rPr>
              <a:t> </a:t>
            </a:r>
            <a:r>
              <a:rPr lang="da-DK" sz="16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1600" b="1">
                <a:latin typeface="Consolas" panose="020B0609020204030204" pitchFamily="49" charset="0"/>
              </a:rPr>
              <a:t>&lt;</a:t>
            </a:r>
            <a:r>
              <a:rPr lang="da-DK" sz="1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1600" b="1">
                <a:latin typeface="Consolas" panose="020B0609020204030204" pitchFamily="49" charset="0"/>
              </a:rPr>
              <a:t>&gt;</a:t>
            </a:r>
          </a:p>
          <a:p>
            <a:r>
              <a:rPr lang="da-DK" sz="1600" b="1">
                <a:latin typeface="Consolas" panose="020B0609020204030204" pitchFamily="49" charset="0"/>
              </a:rPr>
              <a:t>                      </a:t>
            </a:r>
            <a:r>
              <a:rPr lang="en-US" sz="1600" b="1">
                <a:latin typeface="Consolas" panose="020B0609020204030204" pitchFamily="49" charset="0"/>
              </a:rPr>
              <a:t>{ 12, 24, 9, 10, 6, 3, 45 };</a:t>
            </a:r>
          </a:p>
          <a:p>
            <a:r>
              <a:rPr lang="da-DK" sz="16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List</a:t>
            </a:r>
            <a:r>
              <a:rPr lang="da-DK" sz="1600" b="1">
                <a:latin typeface="Consolas" panose="020B0609020204030204" pitchFamily="49" charset="0"/>
              </a:rPr>
              <a:t>&lt;</a:t>
            </a:r>
            <a:r>
              <a:rPr lang="da-DK" sz="1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1600" b="1">
                <a:latin typeface="Consolas" panose="020B0609020204030204" pitchFamily="49" charset="0"/>
              </a:rPr>
              <a:t>&gt; filteredValues = </a:t>
            </a:r>
            <a:r>
              <a:rPr lang="en-US" sz="16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1600" b="1">
                <a:latin typeface="Consolas" panose="020B0609020204030204" pitchFamily="49" charset="0"/>
              </a:rPr>
              <a:t> </a:t>
            </a:r>
            <a:r>
              <a:rPr lang="da-DK" sz="16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1600" b="1">
                <a:latin typeface="Consolas" panose="020B0609020204030204" pitchFamily="49" charset="0"/>
              </a:rPr>
              <a:t>&lt;</a:t>
            </a:r>
            <a:r>
              <a:rPr lang="da-DK" sz="1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1600" b="1">
                <a:latin typeface="Consolas" panose="020B0609020204030204" pitchFamily="49" charset="0"/>
              </a:rPr>
              <a:t>&gt;(); </a:t>
            </a:r>
          </a:p>
          <a:p>
            <a:endParaRPr lang="da-DK" sz="1600" b="1">
              <a:latin typeface="Consolas" panose="020B0609020204030204" pitchFamily="49" charset="0"/>
            </a:endParaRPr>
          </a:p>
          <a:p>
            <a:r>
              <a:rPr lang="en-US" sz="1600" b="1">
                <a:latin typeface="Consolas" panose="020B0609020204030204" pitchFamily="49" charset="0"/>
              </a:rPr>
              <a:t>   </a:t>
            </a:r>
            <a:r>
              <a:rPr lang="en-US" sz="1600" b="1">
                <a:solidFill>
                  <a:srgbClr val="0070C0"/>
                </a:solidFill>
                <a:latin typeface="Consolas" panose="020B0609020204030204" pitchFamily="49" charset="0"/>
              </a:rPr>
              <a:t>foreach</a:t>
            </a:r>
            <a:r>
              <a:rPr lang="en-US" sz="1600" b="1">
                <a:latin typeface="Consolas" panose="020B0609020204030204" pitchFamily="49" charset="0"/>
              </a:rPr>
              <a:t> (</a:t>
            </a:r>
            <a:r>
              <a:rPr lang="en-US" sz="1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1600" b="1">
                <a:latin typeface="Consolas" panose="020B0609020204030204" pitchFamily="49" charset="0"/>
              </a:rPr>
              <a:t> value </a:t>
            </a:r>
            <a:r>
              <a:rPr lang="en-US" sz="1600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en-US" sz="1600" b="1">
                <a:latin typeface="Consolas" panose="020B0609020204030204" pitchFamily="49" charset="0"/>
              </a:rPr>
              <a:t> values)</a:t>
            </a:r>
          </a:p>
          <a:p>
            <a:r>
              <a:rPr lang="da-DK" sz="1600" b="1">
                <a:latin typeface="Consolas" panose="020B0609020204030204" pitchFamily="49" charset="0"/>
              </a:rPr>
              <a:t>   {</a:t>
            </a:r>
          </a:p>
          <a:p>
            <a:r>
              <a:rPr lang="da-DK" sz="1600" b="1">
                <a:latin typeface="Consolas" panose="020B0609020204030204" pitchFamily="49" charset="0"/>
              </a:rPr>
              <a:t>      </a:t>
            </a:r>
            <a:r>
              <a:rPr lang="da-DK" sz="1600" b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da-DK" sz="1600" b="1">
                <a:latin typeface="Consolas" panose="020B0609020204030204" pitchFamily="49" charset="0"/>
              </a:rPr>
              <a:t> (value &lt; 12)</a:t>
            </a:r>
          </a:p>
          <a:p>
            <a:r>
              <a:rPr lang="da-DK" sz="1600" b="1">
                <a:latin typeface="Consolas" panose="020B0609020204030204" pitchFamily="49" charset="0"/>
              </a:rPr>
              <a:t>      {</a:t>
            </a:r>
          </a:p>
          <a:p>
            <a:r>
              <a:rPr lang="da-DK" sz="1600" b="1">
                <a:latin typeface="Consolas" panose="020B0609020204030204" pitchFamily="49" charset="0"/>
              </a:rPr>
              <a:t>         filteredValues.Add(value);</a:t>
            </a:r>
          </a:p>
          <a:p>
            <a:r>
              <a:rPr lang="da-DK" sz="1600" b="1">
                <a:latin typeface="Consolas" panose="020B0609020204030204" pitchFamily="49" charset="0"/>
              </a:rPr>
              <a:t>      }</a:t>
            </a:r>
          </a:p>
          <a:p>
            <a:r>
              <a:rPr lang="da-DK" sz="1600" b="1">
                <a:latin typeface="Consolas" panose="020B0609020204030204" pitchFamily="49" charset="0"/>
              </a:rPr>
              <a:t>   }</a:t>
            </a:r>
          </a:p>
          <a:p>
            <a:endParaRPr lang="da-DK" sz="1600" b="1">
              <a:latin typeface="Consolas" panose="020B0609020204030204" pitchFamily="49" charset="0"/>
            </a:endParaRPr>
          </a:p>
          <a:p>
            <a:r>
              <a:rPr lang="da-DK" sz="1600" b="1">
                <a:latin typeface="Consolas" panose="020B0609020204030204" pitchFamily="49" charset="0"/>
              </a:rPr>
              <a:t>   </a:t>
            </a:r>
            <a:r>
              <a:rPr lang="da-DK" sz="16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da-DK" sz="1600" b="1">
                <a:latin typeface="Consolas" panose="020B0609020204030204" pitchFamily="49" charset="0"/>
              </a:rPr>
              <a:t> filteredValues;</a:t>
            </a:r>
          </a:p>
          <a:p>
            <a:r>
              <a:rPr lang="da-DK" sz="16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Pladsholder til indhold 2"/>
          <p:cNvSpPr>
            <a:spLocks noGrp="1"/>
          </p:cNvSpPr>
          <p:nvPr>
            <p:ph idx="1"/>
          </p:nvPr>
        </p:nvSpPr>
        <p:spPr>
          <a:xfrm>
            <a:off x="6929438" y="827578"/>
            <a:ext cx="4972049" cy="4351338"/>
          </a:xfrm>
        </p:spPr>
        <p:txBody>
          <a:bodyPr/>
          <a:lstStyle/>
          <a:p>
            <a:r>
              <a:rPr lang="da-DK" sz="3200"/>
              <a:t>What parts of this filtering process may </a:t>
            </a:r>
            <a:r>
              <a:rPr lang="da-DK" sz="3200" b="1"/>
              <a:t>vary</a:t>
            </a:r>
            <a:r>
              <a:rPr lang="da-DK" sz="3200"/>
              <a:t>?</a:t>
            </a:r>
          </a:p>
          <a:p>
            <a:r>
              <a:rPr lang="da-DK" sz="3200"/>
              <a:t>How can we </a:t>
            </a:r>
            <a:r>
              <a:rPr lang="da-DK" sz="3200" b="1"/>
              <a:t>manage</a:t>
            </a:r>
            <a:r>
              <a:rPr lang="da-DK" sz="3200"/>
              <a:t> this variation?</a:t>
            </a:r>
          </a:p>
        </p:txBody>
      </p:sp>
      <p:pic>
        <p:nvPicPr>
          <p:cNvPr id="11" name="Picture 2" descr="Billedresultat for question mark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00" y="3240000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90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Version 1.0</a:t>
            </a:r>
          </a:p>
          <a:p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 FilterValues()</a:t>
            </a:r>
          </a:p>
          <a:p>
            <a:r>
              <a:rPr lang="da-DK" sz="2000" b="1">
                <a:latin typeface="Consolas" panose="020B0609020204030204" pitchFamily="49" charset="0"/>
              </a:rPr>
              <a:t>{</a:t>
            </a:r>
          </a:p>
          <a:p>
            <a:r>
              <a:rPr lang="en-US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</a:t>
            </a:r>
            <a:r>
              <a:rPr lang="en-US" sz="2000" b="1">
                <a:latin typeface="Consolas" panose="020B0609020204030204" pitchFamily="49" charset="0"/>
              </a:rPr>
              <a:t> values =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US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</a:t>
            </a:r>
            <a:r>
              <a:rPr lang="en-US" sz="2000" b="1">
                <a:latin typeface="Consolas" panose="020B0609020204030204" pitchFamily="49" charset="0"/>
              </a:rPr>
              <a:t>{ 12, 24, 9, 10, 6, 3, 45 };</a:t>
            </a:r>
          </a:p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 filteredValues =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&gt;(); 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en-US" sz="2000" b="1">
                <a:latin typeface="Consolas" panose="020B0609020204030204" pitchFamily="49" charset="0"/>
              </a:rPr>
              <a:t>  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foreach</a:t>
            </a:r>
            <a:r>
              <a:rPr lang="en-US" sz="2000" b="1">
                <a:latin typeface="Consolas" panose="020B0609020204030204" pitchFamily="49" charset="0"/>
              </a:rPr>
              <a:t> (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2000" b="1">
                <a:latin typeface="Consolas" panose="020B0609020204030204" pitchFamily="49" charset="0"/>
              </a:rPr>
              <a:t> value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en-US" sz="2000" b="1">
                <a:latin typeface="Consolas" panose="020B0609020204030204" pitchFamily="49" charset="0"/>
              </a:rPr>
              <a:t> values)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da-DK" sz="2000" b="1">
                <a:latin typeface="Consolas" panose="020B0609020204030204" pitchFamily="49" charset="0"/>
              </a:rPr>
              <a:t> (value &lt; 12)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   filteredValues.Add(value);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}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da-DK" sz="2000" b="1">
                <a:latin typeface="Consolas" panose="020B0609020204030204" pitchFamily="49" charset="0"/>
              </a:rPr>
              <a:t> filteredValues;</a:t>
            </a:r>
          </a:p>
          <a:p>
            <a:r>
              <a:rPr lang="da-DK" sz="20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Afrundet rektangel 1"/>
          <p:cNvSpPr/>
          <p:nvPr/>
        </p:nvSpPr>
        <p:spPr>
          <a:xfrm>
            <a:off x="1306286" y="1724297"/>
            <a:ext cx="8725988" cy="457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954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Version 2.0</a:t>
            </a:r>
          </a:p>
          <a:p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 FilterValues(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</a:t>
            </a:r>
            <a:r>
              <a:rPr lang="en-US" sz="2000" b="1">
                <a:latin typeface="Consolas" panose="020B0609020204030204" pitchFamily="49" charset="0"/>
              </a:rPr>
              <a:t> values</a:t>
            </a:r>
            <a:r>
              <a:rPr lang="da-DK" sz="2000" b="1">
                <a:latin typeface="Consolas" panose="020B0609020204030204" pitchFamily="49" charset="0"/>
              </a:rPr>
              <a:t>)</a:t>
            </a:r>
          </a:p>
          <a:p>
            <a:r>
              <a:rPr lang="da-DK" sz="2000" b="1">
                <a:latin typeface="Consolas" panose="020B0609020204030204" pitchFamily="49" charset="0"/>
              </a:rPr>
              <a:t>{</a:t>
            </a:r>
            <a:endParaRPr lang="en-US" sz="2000" b="1">
              <a:latin typeface="Consolas" panose="020B0609020204030204" pitchFamily="49" charset="0"/>
            </a:endParaRPr>
          </a:p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 filteredValues =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&gt;(); 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en-US" sz="2000" b="1">
                <a:latin typeface="Consolas" panose="020B0609020204030204" pitchFamily="49" charset="0"/>
              </a:rPr>
              <a:t>  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foreach</a:t>
            </a:r>
            <a:r>
              <a:rPr lang="en-US" sz="2000" b="1">
                <a:latin typeface="Consolas" panose="020B0609020204030204" pitchFamily="49" charset="0"/>
              </a:rPr>
              <a:t> (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2000" b="1">
                <a:latin typeface="Consolas" panose="020B0609020204030204" pitchFamily="49" charset="0"/>
              </a:rPr>
              <a:t> value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en-US" sz="2000" b="1">
                <a:latin typeface="Consolas" panose="020B0609020204030204" pitchFamily="49" charset="0"/>
              </a:rPr>
              <a:t> values)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da-DK" sz="2000" b="1">
                <a:latin typeface="Consolas" panose="020B0609020204030204" pitchFamily="49" charset="0"/>
              </a:rPr>
              <a:t> (value &lt; 12)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   filteredValues.Add(value);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}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da-DK" sz="2000" b="1">
                <a:latin typeface="Consolas" panose="020B0609020204030204" pitchFamily="49" charset="0"/>
              </a:rPr>
              <a:t> filteredValues;</a:t>
            </a:r>
          </a:p>
          <a:p>
            <a:r>
              <a:rPr lang="da-DK" sz="20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Afrundet rektangel 3"/>
          <p:cNvSpPr/>
          <p:nvPr/>
        </p:nvSpPr>
        <p:spPr>
          <a:xfrm>
            <a:off x="5107577" y="1136469"/>
            <a:ext cx="2664823" cy="45720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2011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Call of Version 2.0</a:t>
            </a:r>
          </a:p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800" b="1">
                <a:latin typeface="Consolas" panose="020B0609020204030204" pitchFamily="49" charset="0"/>
              </a:rPr>
              <a:t>&lt;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800" b="1">
                <a:latin typeface="Consolas" panose="020B0609020204030204" pitchFamily="49" charset="0"/>
              </a:rPr>
              <a:t>&gt; values = </a:t>
            </a:r>
            <a:r>
              <a:rPr lang="en-US" sz="28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US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800" b="1">
                <a:latin typeface="Consolas" panose="020B0609020204030204" pitchFamily="49" charset="0"/>
              </a:rPr>
              <a:t>&lt;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800" b="1">
                <a:latin typeface="Consolas" panose="020B0609020204030204" pitchFamily="49" charset="0"/>
              </a:rPr>
              <a:t>&gt;</a:t>
            </a:r>
            <a:r>
              <a:rPr lang="en-US" sz="2800" b="1">
                <a:latin typeface="Consolas" panose="020B0609020204030204" pitchFamily="49" charset="0"/>
              </a:rPr>
              <a:t>{…}</a:t>
            </a:r>
            <a:r>
              <a:rPr lang="da-DK" sz="2800" b="1">
                <a:latin typeface="Consolas" panose="020B0609020204030204" pitchFamily="49" charset="0"/>
              </a:rPr>
              <a:t>;</a:t>
            </a:r>
            <a:endParaRPr lang="da-DK" sz="28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800" b="1">
                <a:latin typeface="Consolas" panose="020B0609020204030204" pitchFamily="49" charset="0"/>
              </a:rPr>
              <a:t>&lt;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800" b="1">
                <a:latin typeface="Consolas" panose="020B0609020204030204" pitchFamily="49" charset="0"/>
              </a:rPr>
              <a:t>&gt; filteredValues;</a:t>
            </a:r>
            <a:endParaRPr lang="da-DK" sz="28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FilterV20</a:t>
            </a:r>
            <a:r>
              <a:rPr lang="da-DK" sz="2800" b="1">
                <a:latin typeface="Consolas" panose="020B0609020204030204" pitchFamily="49" charset="0"/>
              </a:rPr>
              <a:t> fv20 = 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FilterV20</a:t>
            </a:r>
            <a:r>
              <a:rPr lang="da-DK" sz="2800" b="1">
                <a:latin typeface="Consolas" panose="020B0609020204030204" pitchFamily="49" charset="0"/>
              </a:rPr>
              <a:t>(</a:t>
            </a:r>
            <a:r>
              <a:rPr lang="en-US" sz="2800" b="1">
                <a:latin typeface="Consolas" panose="020B0609020204030204" pitchFamily="49" charset="0"/>
              </a:rPr>
              <a:t>);</a:t>
            </a:r>
          </a:p>
          <a:p>
            <a:endParaRPr lang="da-DK" sz="2800" b="1">
              <a:latin typeface="Consolas" panose="020B0609020204030204" pitchFamily="49" charset="0"/>
            </a:endParaRPr>
          </a:p>
          <a:p>
            <a:r>
              <a:rPr lang="da-DK" sz="2800" b="1">
                <a:latin typeface="Consolas" panose="020B0609020204030204" pitchFamily="49" charset="0"/>
              </a:rPr>
              <a:t>filteredValues = fv20.FilterValues(values);</a:t>
            </a:r>
            <a:endParaRPr lang="da-DK" sz="28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3137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Version 2.0</a:t>
            </a:r>
          </a:p>
          <a:p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 FilterValues(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</a:t>
            </a:r>
            <a:r>
              <a:rPr lang="en-US" sz="2000" b="1">
                <a:latin typeface="Consolas" panose="020B0609020204030204" pitchFamily="49" charset="0"/>
              </a:rPr>
              <a:t> values</a:t>
            </a:r>
            <a:r>
              <a:rPr lang="da-DK" sz="2000" b="1">
                <a:latin typeface="Consolas" panose="020B0609020204030204" pitchFamily="49" charset="0"/>
              </a:rPr>
              <a:t>)</a:t>
            </a:r>
          </a:p>
          <a:p>
            <a:r>
              <a:rPr lang="da-DK" sz="2000" b="1">
                <a:latin typeface="Consolas" panose="020B0609020204030204" pitchFamily="49" charset="0"/>
              </a:rPr>
              <a:t>{</a:t>
            </a:r>
            <a:endParaRPr lang="en-US" sz="2000" b="1">
              <a:latin typeface="Consolas" panose="020B0609020204030204" pitchFamily="49" charset="0"/>
            </a:endParaRPr>
          </a:p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 filteredValues =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&gt;(); 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en-US" sz="2000" b="1">
                <a:latin typeface="Consolas" panose="020B0609020204030204" pitchFamily="49" charset="0"/>
              </a:rPr>
              <a:t>  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foreach</a:t>
            </a:r>
            <a:r>
              <a:rPr lang="en-US" sz="2000" b="1">
                <a:latin typeface="Consolas" panose="020B0609020204030204" pitchFamily="49" charset="0"/>
              </a:rPr>
              <a:t> (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2000" b="1">
                <a:latin typeface="Consolas" panose="020B0609020204030204" pitchFamily="49" charset="0"/>
              </a:rPr>
              <a:t> value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en-US" sz="2000" b="1">
                <a:latin typeface="Consolas" panose="020B0609020204030204" pitchFamily="49" charset="0"/>
              </a:rPr>
              <a:t> values)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da-DK" sz="2000" b="1">
                <a:latin typeface="Consolas" panose="020B0609020204030204" pitchFamily="49" charset="0"/>
              </a:rPr>
              <a:t> (value &lt; 12)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   filteredValues.Add(value);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}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da-DK" sz="2000" b="1">
                <a:latin typeface="Consolas" panose="020B0609020204030204" pitchFamily="49" charset="0"/>
              </a:rPr>
              <a:t> filteredValues;</a:t>
            </a:r>
          </a:p>
          <a:p>
            <a:r>
              <a:rPr lang="da-DK" sz="20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2207623" y="2953468"/>
            <a:ext cx="1907177" cy="457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907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a-DK" sz="20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public interface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ICondition</a:t>
            </a:r>
            <a:endParaRPr lang="da-DK" sz="2800" b="1">
              <a:latin typeface="Consolas" panose="020B0609020204030204" pitchFamily="49" charset="0"/>
            </a:endParaRPr>
          </a:p>
          <a:p>
            <a:r>
              <a:rPr lang="da-DK" sz="2800" b="1">
                <a:latin typeface="Consolas" panose="020B0609020204030204" pitchFamily="49" charset="0"/>
              </a:rPr>
              <a:t>{</a:t>
            </a:r>
            <a:endParaRPr lang="en-US" sz="2800" b="1">
              <a:latin typeface="Consolas" panose="020B0609020204030204" pitchFamily="49" charset="0"/>
            </a:endParaRPr>
          </a:p>
          <a:p>
            <a:r>
              <a:rPr lang="en-US" sz="2800" b="1">
                <a:solidFill>
                  <a:srgbClr val="0070C0"/>
                </a:solidFill>
                <a:latin typeface="Consolas" panose="020B0609020204030204" pitchFamily="49" charset="0"/>
              </a:rPr>
              <a:t>   bool</a:t>
            </a:r>
            <a:r>
              <a:rPr lang="en-US" sz="2800" b="1">
                <a:latin typeface="Consolas" panose="020B0609020204030204" pitchFamily="49" charset="0"/>
              </a:rPr>
              <a:t> Condition(</a:t>
            </a:r>
            <a:r>
              <a:rPr lang="en-US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2800" b="1">
                <a:latin typeface="Consolas" panose="020B0609020204030204" pitchFamily="49" charset="0"/>
              </a:rPr>
              <a:t> value);</a:t>
            </a:r>
          </a:p>
          <a:p>
            <a:r>
              <a:rPr lang="da-DK" sz="2800" b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40822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Version 3.0</a:t>
            </a:r>
          </a:p>
          <a:p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 FilterValues(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</a:t>
            </a:r>
            <a:r>
              <a:rPr lang="en-US" sz="2000" b="1">
                <a:latin typeface="Consolas" panose="020B0609020204030204" pitchFamily="49" charset="0"/>
              </a:rPr>
              <a:t> values, </a:t>
            </a:r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ICondition</a:t>
            </a:r>
            <a:r>
              <a:rPr lang="en-US" sz="2000" b="1">
                <a:latin typeface="Consolas" panose="020B0609020204030204" pitchFamily="49" charset="0"/>
              </a:rPr>
              <a:t> cond</a:t>
            </a:r>
            <a:r>
              <a:rPr lang="da-DK" sz="2000" b="1">
                <a:latin typeface="Consolas" panose="020B0609020204030204" pitchFamily="49" charset="0"/>
              </a:rPr>
              <a:t>)</a:t>
            </a:r>
          </a:p>
          <a:p>
            <a:r>
              <a:rPr lang="da-DK" sz="2000" b="1">
                <a:latin typeface="Consolas" panose="020B0609020204030204" pitchFamily="49" charset="0"/>
              </a:rPr>
              <a:t>{</a:t>
            </a:r>
            <a:endParaRPr lang="en-US" sz="2000" b="1">
              <a:latin typeface="Consolas" panose="020B0609020204030204" pitchFamily="49" charset="0"/>
            </a:endParaRPr>
          </a:p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 filteredValues =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&gt;(); 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en-US" sz="2000" b="1">
                <a:latin typeface="Consolas" panose="020B0609020204030204" pitchFamily="49" charset="0"/>
              </a:rPr>
              <a:t>  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foreach</a:t>
            </a:r>
            <a:r>
              <a:rPr lang="en-US" sz="2000" b="1">
                <a:latin typeface="Consolas" panose="020B0609020204030204" pitchFamily="49" charset="0"/>
              </a:rPr>
              <a:t> (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2000" b="1">
                <a:latin typeface="Consolas" panose="020B0609020204030204" pitchFamily="49" charset="0"/>
              </a:rPr>
              <a:t> value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en-US" sz="2000" b="1">
                <a:latin typeface="Consolas" panose="020B0609020204030204" pitchFamily="49" charset="0"/>
              </a:rPr>
              <a:t> values)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da-DK" sz="2000" b="1">
                <a:latin typeface="Consolas" panose="020B0609020204030204" pitchFamily="49" charset="0"/>
              </a:rPr>
              <a:t> (cond.Condition(value))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   filteredValues.Add(value);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}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da-DK" sz="2000" b="1">
                <a:latin typeface="Consolas" panose="020B0609020204030204" pitchFamily="49" charset="0"/>
              </a:rPr>
              <a:t> filteredValues;</a:t>
            </a:r>
          </a:p>
          <a:p>
            <a:r>
              <a:rPr lang="da-DK" sz="20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Afrundet rektangel 3"/>
          <p:cNvSpPr/>
          <p:nvPr/>
        </p:nvSpPr>
        <p:spPr>
          <a:xfrm>
            <a:off x="7686675" y="1123407"/>
            <a:ext cx="2515416" cy="45720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Afrundet rektangel 4"/>
          <p:cNvSpPr/>
          <p:nvPr/>
        </p:nvSpPr>
        <p:spPr>
          <a:xfrm>
            <a:off x="2203268" y="2953468"/>
            <a:ext cx="3466012" cy="45720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3460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a-DK" sz="20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public class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ConditionLessThan12 </a:t>
            </a:r>
            <a:r>
              <a:rPr lang="da-DK" sz="2800" b="1">
                <a:latin typeface="Consolas" panose="020B0609020204030204" pitchFamily="49" charset="0"/>
              </a:rPr>
              <a:t>: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ICondition </a:t>
            </a:r>
            <a:endParaRPr lang="da-DK" sz="2800" b="1">
              <a:latin typeface="Consolas" panose="020B0609020204030204" pitchFamily="49" charset="0"/>
            </a:endParaRPr>
          </a:p>
          <a:p>
            <a:r>
              <a:rPr lang="da-DK" sz="2800" b="1">
                <a:latin typeface="Consolas" panose="020B0609020204030204" pitchFamily="49" charset="0"/>
              </a:rPr>
              <a:t>{</a:t>
            </a:r>
            <a:endParaRPr lang="en-US" sz="2800" b="1">
              <a:latin typeface="Consolas" panose="020B0609020204030204" pitchFamily="49" charset="0"/>
            </a:endParaRPr>
          </a:p>
          <a:p>
            <a:r>
              <a:rPr lang="en-US" sz="2800" b="1">
                <a:solidFill>
                  <a:srgbClr val="0070C0"/>
                </a:solidFill>
                <a:latin typeface="Consolas" panose="020B0609020204030204" pitchFamily="49" charset="0"/>
              </a:rPr>
              <a:t>   public bool</a:t>
            </a:r>
            <a:r>
              <a:rPr lang="en-US" sz="2800" b="1">
                <a:latin typeface="Consolas" panose="020B0609020204030204" pitchFamily="49" charset="0"/>
              </a:rPr>
              <a:t> Condition(</a:t>
            </a:r>
            <a:r>
              <a:rPr lang="en-US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2800" b="1">
                <a:latin typeface="Consolas" panose="020B0609020204030204" pitchFamily="49" charset="0"/>
              </a:rPr>
              <a:t> value)</a:t>
            </a:r>
          </a:p>
          <a:p>
            <a:r>
              <a:rPr lang="en-US" sz="2800" b="1">
                <a:latin typeface="Consolas" panose="020B0609020204030204" pitchFamily="49" charset="0"/>
              </a:rPr>
              <a:t>   {</a:t>
            </a:r>
          </a:p>
          <a:p>
            <a:r>
              <a:rPr lang="en-US" sz="2800" b="1">
                <a:latin typeface="Consolas" panose="020B0609020204030204" pitchFamily="49" charset="0"/>
              </a:rPr>
              <a:t>      </a:t>
            </a:r>
            <a:r>
              <a:rPr lang="en-US" sz="28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2800" b="1">
                <a:latin typeface="Consolas" panose="020B0609020204030204" pitchFamily="49" charset="0"/>
              </a:rPr>
              <a:t> (value &lt; 12);</a:t>
            </a:r>
          </a:p>
          <a:p>
            <a:r>
              <a:rPr lang="en-US" sz="2800" b="1">
                <a:latin typeface="Consolas" panose="020B0609020204030204" pitchFamily="49" charset="0"/>
              </a:rPr>
              <a:t>   }</a:t>
            </a:r>
          </a:p>
          <a:p>
            <a:r>
              <a:rPr lang="da-DK" sz="2800" b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55128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Call of Version 3.0</a:t>
            </a: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400" b="1">
                <a:latin typeface="Consolas" panose="020B0609020204030204" pitchFamily="49" charset="0"/>
              </a:rPr>
              <a:t>&gt; values = 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US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400" b="1">
                <a:latin typeface="Consolas" panose="020B0609020204030204" pitchFamily="49" charset="0"/>
              </a:rPr>
              <a:t>&gt;</a:t>
            </a:r>
            <a:r>
              <a:rPr lang="en-US" sz="2400" b="1">
                <a:latin typeface="Consolas" panose="020B0609020204030204" pitchFamily="49" charset="0"/>
              </a:rPr>
              <a:t>{…}</a:t>
            </a:r>
            <a:r>
              <a:rPr lang="da-DK" sz="2400" b="1">
                <a:latin typeface="Consolas" panose="020B0609020204030204" pitchFamily="49" charset="0"/>
              </a:rPr>
              <a:t>;</a:t>
            </a:r>
            <a:endParaRPr lang="da-DK" sz="24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400" b="1">
                <a:latin typeface="Consolas" panose="020B0609020204030204" pitchFamily="49" charset="0"/>
              </a:rPr>
              <a:t>&gt; filteredValues;</a:t>
            </a: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ICondition</a:t>
            </a:r>
            <a:r>
              <a:rPr lang="da-DK" sz="2400" b="1">
                <a:latin typeface="Consolas" panose="020B0609020204030204" pitchFamily="49" charset="0"/>
              </a:rPr>
              <a:t> condInt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ConditionLessThan12</a:t>
            </a:r>
            <a:r>
              <a:rPr lang="da-DK" sz="2400" b="1">
                <a:latin typeface="Consolas" panose="020B0609020204030204" pitchFamily="49" charset="0"/>
              </a:rPr>
              <a:t>(</a:t>
            </a:r>
            <a:r>
              <a:rPr lang="en-US" sz="2400" b="1">
                <a:latin typeface="Consolas" panose="020B0609020204030204" pitchFamily="49" charset="0"/>
              </a:rPr>
              <a:t>);</a:t>
            </a:r>
            <a:endParaRPr lang="da-DK" sz="24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FilterV30</a:t>
            </a:r>
            <a:r>
              <a:rPr lang="da-DK" sz="2400" b="1">
                <a:latin typeface="Consolas" panose="020B0609020204030204" pitchFamily="49" charset="0"/>
              </a:rPr>
              <a:t> fv30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FilterV30</a:t>
            </a:r>
            <a:r>
              <a:rPr lang="da-DK" sz="2400" b="1">
                <a:latin typeface="Consolas" panose="020B0609020204030204" pitchFamily="49" charset="0"/>
              </a:rPr>
              <a:t>(</a:t>
            </a:r>
            <a:r>
              <a:rPr lang="en-US" sz="2400" b="1">
                <a:latin typeface="Consolas" panose="020B0609020204030204" pitchFamily="49" charset="0"/>
              </a:rPr>
              <a:t>);</a:t>
            </a:r>
          </a:p>
          <a:p>
            <a:endParaRPr lang="da-DK" sz="2400" b="1">
              <a:latin typeface="Consolas" panose="020B0609020204030204" pitchFamily="49" charset="0"/>
            </a:endParaRPr>
          </a:p>
          <a:p>
            <a:r>
              <a:rPr lang="da-DK" sz="2400" b="1">
                <a:latin typeface="Consolas" panose="020B0609020204030204" pitchFamily="49" charset="0"/>
              </a:rPr>
              <a:t>filteredValues = fv30.FilterValues(values, condInt);</a:t>
            </a:r>
            <a:endParaRPr lang="da-DK" sz="24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8398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Version 3.0</a:t>
            </a:r>
          </a:p>
          <a:p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 FilterValues(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</a:t>
            </a:r>
            <a:r>
              <a:rPr lang="en-US" sz="2000" b="1">
                <a:latin typeface="Consolas" panose="020B0609020204030204" pitchFamily="49" charset="0"/>
              </a:rPr>
              <a:t> values, </a:t>
            </a:r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ICondition</a:t>
            </a:r>
            <a:r>
              <a:rPr lang="en-US" sz="2000" b="1">
                <a:latin typeface="Consolas" panose="020B0609020204030204" pitchFamily="49" charset="0"/>
              </a:rPr>
              <a:t> cond</a:t>
            </a:r>
            <a:r>
              <a:rPr lang="da-DK" sz="2000" b="1">
                <a:latin typeface="Consolas" panose="020B0609020204030204" pitchFamily="49" charset="0"/>
              </a:rPr>
              <a:t>)</a:t>
            </a:r>
          </a:p>
          <a:p>
            <a:r>
              <a:rPr lang="da-DK" sz="2000" b="1">
                <a:latin typeface="Consolas" panose="020B0609020204030204" pitchFamily="49" charset="0"/>
              </a:rPr>
              <a:t>{</a:t>
            </a:r>
            <a:endParaRPr lang="en-US" sz="2000" b="1">
              <a:latin typeface="Consolas" panose="020B0609020204030204" pitchFamily="49" charset="0"/>
            </a:endParaRPr>
          </a:p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 filteredValues =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&gt;(); 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en-US" sz="2000" b="1">
                <a:latin typeface="Consolas" panose="020B0609020204030204" pitchFamily="49" charset="0"/>
              </a:rPr>
              <a:t>  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foreach</a:t>
            </a:r>
            <a:r>
              <a:rPr lang="en-US" sz="2000" b="1">
                <a:latin typeface="Consolas" panose="020B0609020204030204" pitchFamily="49" charset="0"/>
              </a:rPr>
              <a:t> (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2000" b="1">
                <a:latin typeface="Consolas" panose="020B0609020204030204" pitchFamily="49" charset="0"/>
              </a:rPr>
              <a:t> value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en-US" sz="2000" b="1">
                <a:latin typeface="Consolas" panose="020B0609020204030204" pitchFamily="49" charset="0"/>
              </a:rPr>
              <a:t> values)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da-DK" sz="2000" b="1">
                <a:latin typeface="Consolas" panose="020B0609020204030204" pitchFamily="49" charset="0"/>
              </a:rPr>
              <a:t> (cond.Condition(value))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   filteredValues.Add(value);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}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da-DK" sz="2000" b="1">
                <a:latin typeface="Consolas" panose="020B0609020204030204" pitchFamily="49" charset="0"/>
              </a:rPr>
              <a:t> filteredValues;</a:t>
            </a:r>
          </a:p>
          <a:p>
            <a:r>
              <a:rPr lang="da-DK" sz="20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Afrundet rektangel 5"/>
          <p:cNvSpPr/>
          <p:nvPr/>
        </p:nvSpPr>
        <p:spPr>
          <a:xfrm>
            <a:off x="2586446" y="1124668"/>
            <a:ext cx="783771" cy="457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Afrundet rektangel 6"/>
          <p:cNvSpPr/>
          <p:nvPr/>
        </p:nvSpPr>
        <p:spPr>
          <a:xfrm>
            <a:off x="5769429" y="1124668"/>
            <a:ext cx="783771" cy="457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923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a-DK" sz="20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public interface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ICondition</a:t>
            </a:r>
            <a:endParaRPr lang="da-DK" sz="2800" b="1">
              <a:latin typeface="Consolas" panose="020B0609020204030204" pitchFamily="49" charset="0"/>
            </a:endParaRPr>
          </a:p>
          <a:p>
            <a:r>
              <a:rPr lang="da-DK" sz="2800" b="1">
                <a:latin typeface="Consolas" panose="020B0609020204030204" pitchFamily="49" charset="0"/>
              </a:rPr>
              <a:t>{</a:t>
            </a:r>
            <a:endParaRPr lang="en-US" sz="2800" b="1">
              <a:latin typeface="Consolas" panose="020B0609020204030204" pitchFamily="49" charset="0"/>
            </a:endParaRPr>
          </a:p>
          <a:p>
            <a:r>
              <a:rPr lang="en-US" sz="2800" b="1">
                <a:solidFill>
                  <a:srgbClr val="0070C0"/>
                </a:solidFill>
                <a:latin typeface="Consolas" panose="020B0609020204030204" pitchFamily="49" charset="0"/>
              </a:rPr>
              <a:t>   bool</a:t>
            </a:r>
            <a:r>
              <a:rPr lang="en-US" sz="2800" b="1">
                <a:latin typeface="Consolas" panose="020B0609020204030204" pitchFamily="49" charset="0"/>
              </a:rPr>
              <a:t> Condition(</a:t>
            </a:r>
            <a:r>
              <a:rPr lang="en-US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2800" b="1">
                <a:latin typeface="Consolas" panose="020B0609020204030204" pitchFamily="49" charset="0"/>
              </a:rPr>
              <a:t> value);</a:t>
            </a:r>
          </a:p>
          <a:p>
            <a:r>
              <a:rPr lang="da-DK" sz="2800" b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67499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a-DK" sz="20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public interface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IConditionGeneric</a:t>
            </a:r>
            <a:r>
              <a:rPr lang="en-US" sz="2800" b="1">
                <a:latin typeface="Consolas" panose="020B0609020204030204" pitchFamily="49" charset="0"/>
              </a:rPr>
              <a:t>&lt;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800" b="1">
                <a:latin typeface="Consolas" panose="020B0609020204030204" pitchFamily="49" charset="0"/>
              </a:rPr>
              <a:t>&gt;</a:t>
            </a:r>
            <a:endParaRPr lang="da-DK" sz="2800" b="1">
              <a:latin typeface="Consolas" panose="020B0609020204030204" pitchFamily="49" charset="0"/>
            </a:endParaRPr>
          </a:p>
          <a:p>
            <a:r>
              <a:rPr lang="da-DK" sz="2800" b="1">
                <a:latin typeface="Consolas" panose="020B0609020204030204" pitchFamily="49" charset="0"/>
              </a:rPr>
              <a:t>{</a:t>
            </a:r>
            <a:endParaRPr lang="en-US" sz="2800" b="1">
              <a:latin typeface="Consolas" panose="020B0609020204030204" pitchFamily="49" charset="0"/>
            </a:endParaRPr>
          </a:p>
          <a:p>
            <a:r>
              <a:rPr lang="en-US" sz="2800" b="1">
                <a:solidFill>
                  <a:srgbClr val="0070C0"/>
                </a:solidFill>
                <a:latin typeface="Consolas" panose="020B0609020204030204" pitchFamily="49" charset="0"/>
              </a:rPr>
              <a:t>   bool</a:t>
            </a:r>
            <a:r>
              <a:rPr lang="en-US" sz="2800" b="1">
                <a:latin typeface="Consolas" panose="020B0609020204030204" pitchFamily="49" charset="0"/>
              </a:rPr>
              <a:t> Condition(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800" b="1">
                <a:latin typeface="Consolas" panose="020B0609020204030204" pitchFamily="49" charset="0"/>
              </a:rPr>
              <a:t> value);</a:t>
            </a:r>
          </a:p>
          <a:p>
            <a:r>
              <a:rPr lang="da-DK" sz="2800" b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2084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7834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Version 4.0</a:t>
            </a:r>
          </a:p>
          <a:p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000" b="1">
                <a:latin typeface="Consolas" panose="020B0609020204030204" pitchFamily="49" charset="0"/>
              </a:rPr>
              <a:t>&gt; FilterValues&lt;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000" b="1">
                <a:latin typeface="Consolas" panose="020B0609020204030204" pitchFamily="49" charset="0"/>
              </a:rPr>
              <a:t>&gt;(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000" b="1">
                <a:latin typeface="Consolas" panose="020B0609020204030204" pitchFamily="49" charset="0"/>
              </a:rPr>
              <a:t>&gt;</a:t>
            </a:r>
            <a:r>
              <a:rPr lang="en-US" sz="2000" b="1">
                <a:latin typeface="Consolas" panose="020B0609020204030204" pitchFamily="49" charset="0"/>
              </a:rPr>
              <a:t> values, </a:t>
            </a:r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IConditionGeneric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000" b="1">
                <a:latin typeface="Consolas" panose="020B0609020204030204" pitchFamily="49" charset="0"/>
              </a:rPr>
              <a:t>&gt;</a:t>
            </a:r>
            <a:r>
              <a:rPr lang="en-US" sz="2000" b="1">
                <a:latin typeface="Consolas" panose="020B0609020204030204" pitchFamily="49" charset="0"/>
              </a:rPr>
              <a:t> cond</a:t>
            </a:r>
            <a:r>
              <a:rPr lang="da-DK" sz="2000" b="1">
                <a:latin typeface="Consolas" panose="020B0609020204030204" pitchFamily="49" charset="0"/>
              </a:rPr>
              <a:t>)</a:t>
            </a:r>
          </a:p>
          <a:p>
            <a:r>
              <a:rPr lang="da-DK" sz="2000" b="1">
                <a:latin typeface="Consolas" panose="020B0609020204030204" pitchFamily="49" charset="0"/>
              </a:rPr>
              <a:t>{</a:t>
            </a:r>
            <a:endParaRPr lang="en-US" sz="2000" b="1">
              <a:latin typeface="Consolas" panose="020B0609020204030204" pitchFamily="49" charset="0"/>
            </a:endParaRPr>
          </a:p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000" b="1">
                <a:latin typeface="Consolas" panose="020B0609020204030204" pitchFamily="49" charset="0"/>
              </a:rPr>
              <a:t>&gt; filteredValues =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000" b="1">
                <a:latin typeface="Consolas" panose="020B0609020204030204" pitchFamily="49" charset="0"/>
              </a:rPr>
              <a:t>&gt;(); 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en-US" sz="2000" b="1">
                <a:latin typeface="Consolas" panose="020B0609020204030204" pitchFamily="49" charset="0"/>
              </a:rPr>
              <a:t>  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foreach</a:t>
            </a:r>
            <a:r>
              <a:rPr lang="en-US" sz="2000" b="1">
                <a:latin typeface="Consolas" panose="020B0609020204030204" pitchFamily="49" charset="0"/>
              </a:rPr>
              <a:t> (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b="1">
                <a:latin typeface="Consolas" panose="020B0609020204030204" pitchFamily="49" charset="0"/>
              </a:rPr>
              <a:t> value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en-US" sz="2000" b="1">
                <a:latin typeface="Consolas" panose="020B0609020204030204" pitchFamily="49" charset="0"/>
              </a:rPr>
              <a:t> values)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da-DK" sz="2000" b="1">
                <a:latin typeface="Consolas" panose="020B0609020204030204" pitchFamily="49" charset="0"/>
              </a:rPr>
              <a:t> (cond.Condition(value))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   filteredValues.Add(value);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}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da-DK" sz="2000" b="1">
                <a:latin typeface="Consolas" panose="020B0609020204030204" pitchFamily="49" charset="0"/>
              </a:rPr>
              <a:t> filteredValues;</a:t>
            </a:r>
          </a:p>
          <a:p>
            <a:r>
              <a:rPr lang="da-DK" sz="20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Afrundet rektangel 3"/>
          <p:cNvSpPr/>
          <p:nvPr/>
        </p:nvSpPr>
        <p:spPr>
          <a:xfrm>
            <a:off x="9470571" y="1123407"/>
            <a:ext cx="613955" cy="45720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Afrundet rektangel 4"/>
          <p:cNvSpPr/>
          <p:nvPr/>
        </p:nvSpPr>
        <p:spPr>
          <a:xfrm>
            <a:off x="5408881" y="1123407"/>
            <a:ext cx="613955" cy="45720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Afrundet rektangel 5"/>
          <p:cNvSpPr/>
          <p:nvPr/>
        </p:nvSpPr>
        <p:spPr>
          <a:xfrm>
            <a:off x="2477588" y="1123407"/>
            <a:ext cx="613955" cy="45720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Afrundet rektangel 6"/>
          <p:cNvSpPr/>
          <p:nvPr/>
        </p:nvSpPr>
        <p:spPr>
          <a:xfrm>
            <a:off x="4714282" y="1123407"/>
            <a:ext cx="613955" cy="45720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667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70260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a-DK" sz="20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public class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ConditionContainsS </a:t>
            </a:r>
            <a:r>
              <a:rPr lang="da-DK" sz="2400" b="1">
                <a:latin typeface="Consolas" panose="020B0609020204030204" pitchFamily="49" charset="0"/>
              </a:rPr>
              <a:t>: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IConditionGeneric</a:t>
            </a:r>
            <a:r>
              <a:rPr lang="en-US" sz="2400" b="1">
                <a:latin typeface="Consolas" panose="020B0609020204030204" pitchFamily="49" charset="0"/>
              </a:rPr>
              <a:t>&lt;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>
                <a:latin typeface="Consolas" panose="020B0609020204030204" pitchFamily="49" charset="0"/>
              </a:rPr>
              <a:t>&gt;</a:t>
            </a:r>
            <a:endParaRPr lang="da-DK" sz="2400" b="1">
              <a:latin typeface="Consolas" panose="020B0609020204030204" pitchFamily="49" charset="0"/>
            </a:endParaRPr>
          </a:p>
          <a:p>
            <a:r>
              <a:rPr lang="da-DK" sz="2400" b="1">
                <a:latin typeface="Consolas" panose="020B0609020204030204" pitchFamily="49" charset="0"/>
              </a:rPr>
              <a:t>{</a:t>
            </a:r>
            <a:endParaRPr lang="en-US" sz="2400" b="1">
              <a:latin typeface="Consolas" panose="020B0609020204030204" pitchFamily="49" charset="0"/>
            </a:endParaRPr>
          </a:p>
          <a:p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   public bool</a:t>
            </a:r>
            <a:r>
              <a:rPr lang="en-US" sz="2400" b="1">
                <a:latin typeface="Consolas" panose="020B0609020204030204" pitchFamily="49" charset="0"/>
              </a:rPr>
              <a:t> Condition(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>
                <a:latin typeface="Consolas" panose="020B0609020204030204" pitchFamily="49" charset="0"/>
              </a:rPr>
              <a:t> value)</a:t>
            </a:r>
          </a:p>
          <a:p>
            <a:r>
              <a:rPr lang="en-US" sz="2400" b="1">
                <a:latin typeface="Consolas" panose="020B0609020204030204" pitchFamily="49" charset="0"/>
              </a:rPr>
              <a:t>   {</a:t>
            </a:r>
          </a:p>
          <a:p>
            <a:r>
              <a:rPr lang="en-US" sz="2400" b="1">
                <a:latin typeface="Consolas" panose="020B0609020204030204" pitchFamily="49" charset="0"/>
              </a:rPr>
              <a:t>      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>
                <a:latin typeface="Consolas" panose="020B0609020204030204" pitchFamily="49" charset="0"/>
              </a:rPr>
              <a:t> value.ToLower().Contains(</a:t>
            </a:r>
            <a:r>
              <a:rPr lang="da-DK" sz="2400" b="1">
                <a:solidFill>
                  <a:srgbClr val="C00000"/>
                </a:solidFill>
                <a:latin typeface="Consolas" panose="020B0609020204030204" pitchFamily="49" charset="0"/>
              </a:rPr>
              <a:t>"s"</a:t>
            </a:r>
            <a:r>
              <a:rPr lang="en-US" sz="2400" b="1">
                <a:latin typeface="Consolas" panose="020B0609020204030204" pitchFamily="49" charset="0"/>
              </a:rPr>
              <a:t>);</a:t>
            </a:r>
          </a:p>
          <a:p>
            <a:r>
              <a:rPr lang="en-US" sz="2400" b="1">
                <a:latin typeface="Consolas" panose="020B0609020204030204" pitchFamily="49" charset="0"/>
              </a:rPr>
              <a:t>   }</a:t>
            </a:r>
          </a:p>
          <a:p>
            <a:r>
              <a:rPr lang="da-DK" sz="2400" b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51554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Call of Version 4.0</a:t>
            </a: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 valuesStr = 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US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</a:t>
            </a:r>
            <a:r>
              <a:rPr lang="en-US" sz="2400" b="1">
                <a:latin typeface="Consolas" panose="020B0609020204030204" pitchFamily="49" charset="0"/>
              </a:rPr>
              <a:t>{…}</a:t>
            </a:r>
            <a:r>
              <a:rPr lang="da-DK" sz="2400" b="1">
                <a:latin typeface="Consolas" panose="020B0609020204030204" pitchFamily="49" charset="0"/>
              </a:rPr>
              <a:t>;</a:t>
            </a:r>
            <a:endParaRPr lang="da-DK" sz="24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 filteredValuesStr;</a:t>
            </a: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IConditionGeneric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400" b="1">
                <a:latin typeface="Consolas" panose="020B0609020204030204" pitchFamily="49" charset="0"/>
              </a:rPr>
              <a:t>&gt; condStr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ConditionContainsS</a:t>
            </a:r>
            <a:r>
              <a:rPr lang="da-DK" sz="2400" b="1">
                <a:latin typeface="Consolas" panose="020B0609020204030204" pitchFamily="49" charset="0"/>
              </a:rPr>
              <a:t>(</a:t>
            </a:r>
            <a:r>
              <a:rPr lang="en-US" sz="2400" b="1">
                <a:latin typeface="Consolas" panose="020B0609020204030204" pitchFamily="49" charset="0"/>
              </a:rPr>
              <a:t>);</a:t>
            </a:r>
            <a:endParaRPr lang="da-DK" sz="24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FilterV40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 fv40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FilterV40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&gt;(</a:t>
            </a:r>
            <a:r>
              <a:rPr lang="en-US" sz="2400" b="1">
                <a:latin typeface="Consolas" panose="020B0609020204030204" pitchFamily="49" charset="0"/>
              </a:rPr>
              <a:t>);</a:t>
            </a:r>
          </a:p>
          <a:p>
            <a:endParaRPr lang="da-DK" sz="2400" b="1">
              <a:latin typeface="Consolas" panose="020B0609020204030204" pitchFamily="49" charset="0"/>
            </a:endParaRPr>
          </a:p>
          <a:p>
            <a:r>
              <a:rPr lang="da-DK" sz="2400" b="1">
                <a:latin typeface="Consolas" panose="020B0609020204030204" pitchFamily="49" charset="0"/>
              </a:rPr>
              <a:t>filteredValuesStr = fv40.FilterValues(valuesStr, condStr);</a:t>
            </a:r>
            <a:endParaRPr lang="da-DK" sz="24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75100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79020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Version 4.0</a:t>
            </a:r>
          </a:p>
          <a:p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000" b="1">
                <a:latin typeface="Consolas" panose="020B0609020204030204" pitchFamily="49" charset="0"/>
              </a:rPr>
              <a:t>&gt; FilterValues&lt;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000" b="1">
                <a:latin typeface="Consolas" panose="020B0609020204030204" pitchFamily="49" charset="0"/>
              </a:rPr>
              <a:t>&gt;(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000" b="1">
                <a:latin typeface="Consolas" panose="020B0609020204030204" pitchFamily="49" charset="0"/>
              </a:rPr>
              <a:t>&gt;</a:t>
            </a:r>
            <a:r>
              <a:rPr lang="en-US" sz="2000" b="1">
                <a:latin typeface="Consolas" panose="020B0609020204030204" pitchFamily="49" charset="0"/>
              </a:rPr>
              <a:t> values, </a:t>
            </a:r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IConditionGeneric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000" b="1">
                <a:latin typeface="Consolas" panose="020B0609020204030204" pitchFamily="49" charset="0"/>
              </a:rPr>
              <a:t>&gt;</a:t>
            </a:r>
            <a:r>
              <a:rPr lang="en-US" sz="2000" b="1">
                <a:latin typeface="Consolas" panose="020B0609020204030204" pitchFamily="49" charset="0"/>
              </a:rPr>
              <a:t> cond</a:t>
            </a:r>
            <a:r>
              <a:rPr lang="da-DK" sz="2000" b="1">
                <a:latin typeface="Consolas" panose="020B0609020204030204" pitchFamily="49" charset="0"/>
              </a:rPr>
              <a:t>)</a:t>
            </a:r>
          </a:p>
          <a:p>
            <a:r>
              <a:rPr lang="da-DK" sz="2000" b="1">
                <a:latin typeface="Consolas" panose="020B0609020204030204" pitchFamily="49" charset="0"/>
              </a:rPr>
              <a:t>{</a:t>
            </a:r>
            <a:endParaRPr lang="en-US" sz="2000" b="1">
              <a:latin typeface="Consolas" panose="020B0609020204030204" pitchFamily="49" charset="0"/>
            </a:endParaRPr>
          </a:p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000" b="1">
                <a:latin typeface="Consolas" panose="020B0609020204030204" pitchFamily="49" charset="0"/>
              </a:rPr>
              <a:t>&gt; filteredValues =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000" b="1">
                <a:latin typeface="Consolas" panose="020B0609020204030204" pitchFamily="49" charset="0"/>
              </a:rPr>
              <a:t>&gt;(); 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en-US" sz="2000" b="1">
                <a:latin typeface="Consolas" panose="020B0609020204030204" pitchFamily="49" charset="0"/>
              </a:rPr>
              <a:t>  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foreach</a:t>
            </a:r>
            <a:r>
              <a:rPr lang="en-US" sz="2000" b="1">
                <a:latin typeface="Consolas" panose="020B0609020204030204" pitchFamily="49" charset="0"/>
              </a:rPr>
              <a:t> (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b="1">
                <a:latin typeface="Consolas" panose="020B0609020204030204" pitchFamily="49" charset="0"/>
              </a:rPr>
              <a:t> value </a:t>
            </a:r>
            <a:r>
              <a:rPr lang="en-US" sz="2000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en-US" sz="2000" b="1">
                <a:latin typeface="Consolas" panose="020B0609020204030204" pitchFamily="49" charset="0"/>
              </a:rPr>
              <a:t> values)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da-DK" sz="2000" b="1">
                <a:latin typeface="Consolas" panose="020B0609020204030204" pitchFamily="49" charset="0"/>
              </a:rPr>
              <a:t> (cond.Condition(value))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   filteredValues.Add(value);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}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da-DK" sz="2000" b="1">
                <a:latin typeface="Consolas" panose="020B0609020204030204" pitchFamily="49" charset="0"/>
              </a:rPr>
              <a:t> filteredValues;</a:t>
            </a:r>
          </a:p>
          <a:p>
            <a:r>
              <a:rPr lang="da-DK" sz="20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Afrundet rektangel 6"/>
          <p:cNvSpPr/>
          <p:nvPr/>
        </p:nvSpPr>
        <p:spPr>
          <a:xfrm>
            <a:off x="5359294" y="1124284"/>
            <a:ext cx="1088571" cy="457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812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6557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Version 5.0</a:t>
            </a:r>
          </a:p>
          <a:p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b="1">
                <a:latin typeface="Consolas" panose="020B0609020204030204" pitchFamily="49" charset="0"/>
              </a:rPr>
              <a:t> 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b="1">
                <a:latin typeface="Consolas" panose="020B0609020204030204" pitchFamily="49" charset="0"/>
              </a:rPr>
              <a:t>&lt;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b="1">
                <a:latin typeface="Consolas" panose="020B0609020204030204" pitchFamily="49" charset="0"/>
              </a:rPr>
              <a:t>&gt; FilterValues&lt;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b="1">
                <a:latin typeface="Consolas" panose="020B0609020204030204" pitchFamily="49" charset="0"/>
              </a:rPr>
              <a:t>&gt;(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IEnumerable</a:t>
            </a:r>
            <a:r>
              <a:rPr lang="da-DK" b="1">
                <a:latin typeface="Consolas" panose="020B0609020204030204" pitchFamily="49" charset="0"/>
              </a:rPr>
              <a:t>&lt;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b="1">
                <a:latin typeface="Consolas" panose="020B0609020204030204" pitchFamily="49" charset="0"/>
              </a:rPr>
              <a:t>&gt;</a:t>
            </a:r>
            <a:r>
              <a:rPr lang="en-US" b="1">
                <a:latin typeface="Consolas" panose="020B0609020204030204" pitchFamily="49" charset="0"/>
              </a:rPr>
              <a:t> values,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IConditionGeneric</a:t>
            </a:r>
            <a:r>
              <a:rPr lang="da-DK" b="1">
                <a:latin typeface="Consolas" panose="020B0609020204030204" pitchFamily="49" charset="0"/>
              </a:rPr>
              <a:t>&lt;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b="1">
                <a:latin typeface="Consolas" panose="020B0609020204030204" pitchFamily="49" charset="0"/>
              </a:rPr>
              <a:t>&gt;</a:t>
            </a:r>
            <a:r>
              <a:rPr lang="en-US" b="1">
                <a:latin typeface="Consolas" panose="020B0609020204030204" pitchFamily="49" charset="0"/>
              </a:rPr>
              <a:t> cond</a:t>
            </a:r>
            <a:r>
              <a:rPr lang="da-DK" b="1">
                <a:latin typeface="Consolas" panose="020B0609020204030204" pitchFamily="49" charset="0"/>
              </a:rPr>
              <a:t>)</a:t>
            </a:r>
          </a:p>
          <a:p>
            <a:r>
              <a:rPr lang="da-DK" b="1">
                <a:latin typeface="Consolas" panose="020B0609020204030204" pitchFamily="49" charset="0"/>
              </a:rPr>
              <a:t>{</a:t>
            </a:r>
            <a:endParaRPr lang="en-US" b="1">
              <a:latin typeface="Consolas" panose="020B0609020204030204" pitchFamily="49" charset="0"/>
            </a:endParaRPr>
          </a:p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List</a:t>
            </a:r>
            <a:r>
              <a:rPr lang="da-DK" b="1">
                <a:latin typeface="Consolas" panose="020B0609020204030204" pitchFamily="49" charset="0"/>
              </a:rPr>
              <a:t>&lt;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b="1">
                <a:latin typeface="Consolas" panose="020B0609020204030204" pitchFamily="49" charset="0"/>
              </a:rPr>
              <a:t>&gt; filteredValues = </a:t>
            </a:r>
            <a:r>
              <a:rPr lang="en-US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b="1">
                <a:latin typeface="Consolas" panose="020B0609020204030204" pitchFamily="49" charset="0"/>
              </a:rPr>
              <a:t> 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b="1">
                <a:latin typeface="Consolas" panose="020B0609020204030204" pitchFamily="49" charset="0"/>
              </a:rPr>
              <a:t>&lt;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b="1">
                <a:latin typeface="Consolas" panose="020B0609020204030204" pitchFamily="49" charset="0"/>
              </a:rPr>
              <a:t>&gt;(); </a:t>
            </a:r>
          </a:p>
          <a:p>
            <a:endParaRPr lang="da-DK" b="1">
              <a:latin typeface="Consolas" panose="020B0609020204030204" pitchFamily="49" charset="0"/>
            </a:endParaRPr>
          </a:p>
          <a:p>
            <a:r>
              <a:rPr lang="en-US" b="1"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rgbClr val="0070C0"/>
                </a:solidFill>
                <a:latin typeface="Consolas" panose="020B0609020204030204" pitchFamily="49" charset="0"/>
              </a:rPr>
              <a:t>foreach</a:t>
            </a:r>
            <a:r>
              <a:rPr lang="en-US" b="1">
                <a:latin typeface="Consolas" panose="020B0609020204030204" pitchFamily="49" charset="0"/>
              </a:rPr>
              <a:t> (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b="1">
                <a:latin typeface="Consolas" panose="020B0609020204030204" pitchFamily="49" charset="0"/>
              </a:rPr>
              <a:t> value </a:t>
            </a:r>
            <a:r>
              <a:rPr lang="en-US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en-US" b="1">
                <a:latin typeface="Consolas" panose="020B0609020204030204" pitchFamily="49" charset="0"/>
              </a:rPr>
              <a:t> values)</a:t>
            </a:r>
          </a:p>
          <a:p>
            <a:r>
              <a:rPr lang="da-DK" b="1">
                <a:latin typeface="Consolas" panose="020B0609020204030204" pitchFamily="49" charset="0"/>
              </a:rPr>
              <a:t>   {</a:t>
            </a:r>
          </a:p>
          <a:p>
            <a:r>
              <a:rPr lang="da-DK" b="1">
                <a:latin typeface="Consolas" panose="020B0609020204030204" pitchFamily="49" charset="0"/>
              </a:rPr>
              <a:t>      </a:t>
            </a:r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da-DK" b="1">
                <a:latin typeface="Consolas" panose="020B0609020204030204" pitchFamily="49" charset="0"/>
              </a:rPr>
              <a:t> (cond.Condition(value))</a:t>
            </a:r>
          </a:p>
          <a:p>
            <a:r>
              <a:rPr lang="da-DK" b="1">
                <a:latin typeface="Consolas" panose="020B0609020204030204" pitchFamily="49" charset="0"/>
              </a:rPr>
              <a:t>      {</a:t>
            </a:r>
          </a:p>
          <a:p>
            <a:r>
              <a:rPr lang="da-DK" b="1">
                <a:latin typeface="Consolas" panose="020B0609020204030204" pitchFamily="49" charset="0"/>
              </a:rPr>
              <a:t>         filteredValues.Add(value);</a:t>
            </a:r>
          </a:p>
          <a:p>
            <a:r>
              <a:rPr lang="da-DK" b="1">
                <a:latin typeface="Consolas" panose="020B0609020204030204" pitchFamily="49" charset="0"/>
              </a:rPr>
              <a:t>      }</a:t>
            </a:r>
          </a:p>
          <a:p>
            <a:r>
              <a:rPr lang="da-DK" b="1">
                <a:latin typeface="Consolas" panose="020B0609020204030204" pitchFamily="49" charset="0"/>
              </a:rPr>
              <a:t>   }</a:t>
            </a:r>
          </a:p>
          <a:p>
            <a:endParaRPr lang="da-DK" b="1">
              <a:latin typeface="Consolas" panose="020B0609020204030204" pitchFamily="49" charset="0"/>
            </a:endParaRPr>
          </a:p>
          <a:p>
            <a:r>
              <a:rPr lang="da-DK" b="1">
                <a:latin typeface="Consolas" panose="020B0609020204030204" pitchFamily="49" charset="0"/>
              </a:rPr>
              <a:t>   </a:t>
            </a:r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da-DK" b="1">
                <a:latin typeface="Consolas" panose="020B0609020204030204" pitchFamily="49" charset="0"/>
              </a:rPr>
              <a:t> filteredValues;</a:t>
            </a:r>
          </a:p>
          <a:p>
            <a:r>
              <a:rPr lang="da-DK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Afrundet rektangel 3"/>
          <p:cNvSpPr/>
          <p:nvPr/>
        </p:nvSpPr>
        <p:spPr>
          <a:xfrm>
            <a:off x="4918741" y="1077879"/>
            <a:ext cx="1818235" cy="45720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9875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Call of Version 4.0</a:t>
            </a: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 valuesStr = 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US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</a:t>
            </a:r>
            <a:r>
              <a:rPr lang="en-US" sz="2400" b="1">
                <a:latin typeface="Consolas" panose="020B0609020204030204" pitchFamily="49" charset="0"/>
              </a:rPr>
              <a:t>{…}</a:t>
            </a:r>
            <a:r>
              <a:rPr lang="da-DK" sz="2400" b="1">
                <a:latin typeface="Consolas" panose="020B0609020204030204" pitchFamily="49" charset="0"/>
              </a:rPr>
              <a:t>;</a:t>
            </a:r>
            <a:endParaRPr lang="da-DK" sz="24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 filteredValuesStr;</a:t>
            </a: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IConditionGeneric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400" b="1">
                <a:latin typeface="Consolas" panose="020B0609020204030204" pitchFamily="49" charset="0"/>
              </a:rPr>
              <a:t>&gt; condStr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ConditionContainsS</a:t>
            </a:r>
            <a:r>
              <a:rPr lang="da-DK" sz="2400" b="1">
                <a:latin typeface="Consolas" panose="020B0609020204030204" pitchFamily="49" charset="0"/>
              </a:rPr>
              <a:t>(</a:t>
            </a:r>
            <a:r>
              <a:rPr lang="en-US" sz="2400" b="1">
                <a:latin typeface="Consolas" panose="020B0609020204030204" pitchFamily="49" charset="0"/>
              </a:rPr>
              <a:t>);</a:t>
            </a:r>
            <a:endParaRPr lang="da-DK" sz="24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FilterV40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 fv40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FilterV40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&gt;(</a:t>
            </a:r>
            <a:r>
              <a:rPr lang="en-US" sz="2400" b="1">
                <a:latin typeface="Consolas" panose="020B0609020204030204" pitchFamily="49" charset="0"/>
              </a:rPr>
              <a:t>);</a:t>
            </a:r>
          </a:p>
          <a:p>
            <a:endParaRPr lang="da-DK" sz="2400" b="1">
              <a:latin typeface="Consolas" panose="020B0609020204030204" pitchFamily="49" charset="0"/>
            </a:endParaRPr>
          </a:p>
          <a:p>
            <a:r>
              <a:rPr lang="da-DK" sz="2400" b="1">
                <a:latin typeface="Consolas" panose="020B0609020204030204" pitchFamily="49" charset="0"/>
              </a:rPr>
              <a:t>filteredValuesStr = fv40.FilterValues(valuesStr, condStr);</a:t>
            </a:r>
            <a:endParaRPr lang="da-DK" sz="24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47836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Call of Version 5.0</a:t>
            </a: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LinkedList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 valuesStr = 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US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LinkedList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</a:t>
            </a:r>
            <a:r>
              <a:rPr lang="en-US" sz="2400" b="1">
                <a:latin typeface="Consolas" panose="020B0609020204030204" pitchFamily="49" charset="0"/>
              </a:rPr>
              <a:t>{…}</a:t>
            </a:r>
            <a:r>
              <a:rPr lang="da-DK" sz="2400" b="1">
                <a:latin typeface="Consolas" panose="020B0609020204030204" pitchFamily="49" charset="0"/>
              </a:rPr>
              <a:t>;</a:t>
            </a:r>
            <a:endParaRPr lang="da-DK" sz="24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 filteredValuesStr;</a:t>
            </a: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IConditionGeneric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sz="2400" b="1">
                <a:latin typeface="Consolas" panose="020B0609020204030204" pitchFamily="49" charset="0"/>
              </a:rPr>
              <a:t>&gt; condStr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ConditionContainsS</a:t>
            </a:r>
            <a:r>
              <a:rPr lang="da-DK" sz="2400" b="1">
                <a:latin typeface="Consolas" panose="020B0609020204030204" pitchFamily="49" charset="0"/>
              </a:rPr>
              <a:t>(</a:t>
            </a:r>
            <a:r>
              <a:rPr lang="en-US" sz="2400" b="1">
                <a:latin typeface="Consolas" panose="020B0609020204030204" pitchFamily="49" charset="0"/>
              </a:rPr>
              <a:t>);</a:t>
            </a:r>
            <a:endParaRPr lang="da-DK" sz="24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FilterV50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 fv50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FilterV50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&gt;(</a:t>
            </a:r>
            <a:r>
              <a:rPr lang="en-US" sz="2400" b="1">
                <a:latin typeface="Consolas" panose="020B0609020204030204" pitchFamily="49" charset="0"/>
              </a:rPr>
              <a:t>);</a:t>
            </a:r>
          </a:p>
          <a:p>
            <a:endParaRPr lang="da-DK" sz="2400" b="1">
              <a:latin typeface="Consolas" panose="020B0609020204030204" pitchFamily="49" charset="0"/>
            </a:endParaRPr>
          </a:p>
          <a:p>
            <a:r>
              <a:rPr lang="da-DK" sz="2400" b="1">
                <a:latin typeface="Consolas" panose="020B0609020204030204" pitchFamily="49" charset="0"/>
              </a:rPr>
              <a:t>filteredValuesStr = fv50.FilterValues(valuesStr, condStr);</a:t>
            </a:r>
            <a:endParaRPr lang="da-DK" sz="24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77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6086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Version 6.0 (with LINQ)</a:t>
            </a:r>
          </a:p>
          <a:p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b="1">
                <a:latin typeface="Consolas" panose="020B0609020204030204" pitchFamily="49" charset="0"/>
              </a:rPr>
              <a:t> 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b="1">
                <a:latin typeface="Consolas" panose="020B0609020204030204" pitchFamily="49" charset="0"/>
              </a:rPr>
              <a:t>&lt;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b="1">
                <a:latin typeface="Consolas" panose="020B0609020204030204" pitchFamily="49" charset="0"/>
              </a:rPr>
              <a:t>&gt; FilterValues&lt;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b="1">
                <a:latin typeface="Consolas" panose="020B0609020204030204" pitchFamily="49" charset="0"/>
              </a:rPr>
              <a:t>&gt;(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IEnumerable</a:t>
            </a:r>
            <a:r>
              <a:rPr lang="da-DK" b="1">
                <a:latin typeface="Consolas" panose="020B0609020204030204" pitchFamily="49" charset="0"/>
              </a:rPr>
              <a:t>&lt;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b="1">
                <a:latin typeface="Consolas" panose="020B0609020204030204" pitchFamily="49" charset="0"/>
              </a:rPr>
              <a:t>&gt;</a:t>
            </a:r>
            <a:r>
              <a:rPr lang="en-US" b="1">
                <a:latin typeface="Consolas" panose="020B0609020204030204" pitchFamily="49" charset="0"/>
              </a:rPr>
              <a:t> values,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IConditionGeneric</a:t>
            </a:r>
            <a:r>
              <a:rPr lang="da-DK" b="1">
                <a:latin typeface="Consolas" panose="020B0609020204030204" pitchFamily="49" charset="0"/>
              </a:rPr>
              <a:t>&lt;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b="1">
                <a:latin typeface="Consolas" panose="020B0609020204030204" pitchFamily="49" charset="0"/>
              </a:rPr>
              <a:t>&gt;</a:t>
            </a:r>
            <a:r>
              <a:rPr lang="en-US" b="1">
                <a:latin typeface="Consolas" panose="020B0609020204030204" pitchFamily="49" charset="0"/>
              </a:rPr>
              <a:t> cond</a:t>
            </a:r>
            <a:r>
              <a:rPr lang="da-DK" b="1">
                <a:latin typeface="Consolas" panose="020B0609020204030204" pitchFamily="49" charset="0"/>
              </a:rPr>
              <a:t>)</a:t>
            </a:r>
          </a:p>
          <a:p>
            <a:r>
              <a:rPr lang="da-DK" b="1">
                <a:latin typeface="Consolas" panose="020B0609020204030204" pitchFamily="49" charset="0"/>
              </a:rPr>
              <a:t>{</a:t>
            </a:r>
            <a:endParaRPr lang="en-US" b="1">
              <a:latin typeface="Consolas" panose="020B0609020204030204" pitchFamily="49" charset="0"/>
            </a:endParaRPr>
          </a:p>
          <a:p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   return</a:t>
            </a:r>
            <a:r>
              <a:rPr lang="da-DK" b="1">
                <a:solidFill>
                  <a:srgbClr val="000000"/>
                </a:solidFill>
                <a:latin typeface="Consolas" panose="020B0609020204030204" pitchFamily="49" charset="0"/>
              </a:rPr>
              <a:t> values.Where(cond.Condition).ToList();</a:t>
            </a:r>
            <a:endParaRPr lang="da-DK" b="1">
              <a:latin typeface="Consolas" panose="020B0609020204030204" pitchFamily="49" charset="0"/>
            </a:endParaRPr>
          </a:p>
          <a:p>
            <a:r>
              <a:rPr lang="da-DK" b="1">
                <a:latin typeface="Consolas" panose="020B0609020204030204" pitchFamily="49" charset="0"/>
              </a:rPr>
              <a:t>}</a:t>
            </a:r>
          </a:p>
          <a:p>
            <a:endParaRPr lang="da-DK" b="1">
              <a:latin typeface="Consolas" panose="020B0609020204030204" pitchFamily="49" charset="0"/>
            </a:endParaRPr>
          </a:p>
          <a:p>
            <a:endParaRPr lang="da-DK" b="1">
              <a:latin typeface="Consolas" panose="020B0609020204030204" pitchFamily="49" charset="0"/>
            </a:endParaRPr>
          </a:p>
          <a:p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Version 6.1 (with LINQ)</a:t>
            </a:r>
          </a:p>
          <a:p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b="1">
                <a:latin typeface="Consolas" panose="020B0609020204030204" pitchFamily="49" charset="0"/>
              </a:rPr>
              <a:t> 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b="1">
                <a:latin typeface="Consolas" panose="020B0609020204030204" pitchFamily="49" charset="0"/>
              </a:rPr>
              <a:t>&lt;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b="1">
                <a:latin typeface="Consolas" panose="020B0609020204030204" pitchFamily="49" charset="0"/>
              </a:rPr>
              <a:t>&gt; FilterValues&lt;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b="1">
                <a:latin typeface="Consolas" panose="020B0609020204030204" pitchFamily="49" charset="0"/>
              </a:rPr>
              <a:t>&gt;(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IEnumerable</a:t>
            </a:r>
            <a:r>
              <a:rPr lang="da-DK" b="1">
                <a:latin typeface="Consolas" panose="020B0609020204030204" pitchFamily="49" charset="0"/>
              </a:rPr>
              <a:t>&lt;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b="1">
                <a:latin typeface="Consolas" panose="020B0609020204030204" pitchFamily="49" charset="0"/>
              </a:rPr>
              <a:t>&gt;</a:t>
            </a:r>
            <a:r>
              <a:rPr lang="en-US" b="1">
                <a:latin typeface="Consolas" panose="020B0609020204030204" pitchFamily="49" charset="0"/>
              </a:rPr>
              <a:t> values,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Func</a:t>
            </a:r>
            <a:r>
              <a:rPr lang="da-DK" b="1">
                <a:latin typeface="Consolas" panose="020B0609020204030204" pitchFamily="49" charset="0"/>
              </a:rPr>
              <a:t>&lt;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da-DK" b="1">
                <a:latin typeface="Consolas" panose="020B0609020204030204" pitchFamily="49" charset="0"/>
              </a:rPr>
              <a:t>, </a:t>
            </a:r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bool</a:t>
            </a:r>
            <a:r>
              <a:rPr lang="da-DK" b="1">
                <a:latin typeface="Consolas" panose="020B0609020204030204" pitchFamily="49" charset="0"/>
              </a:rPr>
              <a:t>&gt;</a:t>
            </a:r>
            <a:r>
              <a:rPr lang="en-US" b="1">
                <a:latin typeface="Consolas" panose="020B0609020204030204" pitchFamily="49" charset="0"/>
              </a:rPr>
              <a:t> condFunc</a:t>
            </a:r>
            <a:r>
              <a:rPr lang="da-DK" b="1">
                <a:latin typeface="Consolas" panose="020B0609020204030204" pitchFamily="49" charset="0"/>
              </a:rPr>
              <a:t>)</a:t>
            </a:r>
          </a:p>
          <a:p>
            <a:r>
              <a:rPr lang="da-DK" b="1">
                <a:latin typeface="Consolas" panose="020B0609020204030204" pitchFamily="49" charset="0"/>
              </a:rPr>
              <a:t>{</a:t>
            </a:r>
            <a:endParaRPr lang="en-US" b="1">
              <a:latin typeface="Consolas" panose="020B0609020204030204" pitchFamily="49" charset="0"/>
            </a:endParaRPr>
          </a:p>
          <a:p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   return</a:t>
            </a:r>
            <a:r>
              <a:rPr lang="da-DK" b="1">
                <a:solidFill>
                  <a:srgbClr val="000000"/>
                </a:solidFill>
                <a:latin typeface="Consolas" panose="020B0609020204030204" pitchFamily="49" charset="0"/>
              </a:rPr>
              <a:t> values.Where(</a:t>
            </a:r>
            <a:r>
              <a:rPr lang="en-US" b="1">
                <a:latin typeface="Consolas" panose="020B0609020204030204" pitchFamily="49" charset="0"/>
              </a:rPr>
              <a:t>condFunc</a:t>
            </a:r>
            <a:r>
              <a:rPr lang="da-DK" b="1">
                <a:solidFill>
                  <a:srgbClr val="000000"/>
                </a:solidFill>
                <a:latin typeface="Consolas" panose="020B0609020204030204" pitchFamily="49" charset="0"/>
              </a:rPr>
              <a:t>).ToList();</a:t>
            </a:r>
            <a:endParaRPr lang="da-DK" b="1">
              <a:latin typeface="Consolas" panose="020B0609020204030204" pitchFamily="49" charset="0"/>
            </a:endParaRPr>
          </a:p>
          <a:p>
            <a:r>
              <a:rPr lang="da-DK" b="1">
                <a:latin typeface="Consolas" panose="020B0609020204030204" pitchFamily="49" charset="0"/>
              </a:rPr>
              <a:t>}</a:t>
            </a:r>
          </a:p>
          <a:p>
            <a:endParaRPr lang="da-DK" b="1">
              <a:latin typeface="Consolas" panose="020B0609020204030204" pitchFamily="49" charset="0"/>
            </a:endParaRPr>
          </a:p>
        </p:txBody>
      </p:sp>
      <p:pic>
        <p:nvPicPr>
          <p:cNvPr id="2050" name="Picture 2" descr="Billedresultat for whoa gif keanu imgur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2246" y="4814047"/>
            <a:ext cx="1660990" cy="1660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81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Call of Version 6.1</a:t>
            </a: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LinkedList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 valuesStr = 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US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LinkedList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</a:t>
            </a:r>
            <a:r>
              <a:rPr lang="en-US" sz="2400" b="1">
                <a:latin typeface="Consolas" panose="020B0609020204030204" pitchFamily="49" charset="0"/>
              </a:rPr>
              <a:t>{…}</a:t>
            </a:r>
            <a:r>
              <a:rPr lang="da-DK" sz="2400" b="1">
                <a:latin typeface="Consolas" panose="020B0609020204030204" pitchFamily="49" charset="0"/>
              </a:rPr>
              <a:t>;</a:t>
            </a:r>
            <a:endParaRPr lang="da-DK" sz="24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 filteredValuesStr;</a:t>
            </a: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FilterV61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 fv61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FilterV61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da-DK" sz="2400" b="1">
                <a:latin typeface="Consolas" panose="020B0609020204030204" pitchFamily="49" charset="0"/>
              </a:rPr>
              <a:t>&gt;(</a:t>
            </a:r>
            <a:r>
              <a:rPr lang="en-US" sz="2400" b="1">
                <a:latin typeface="Consolas" panose="020B0609020204030204" pitchFamily="49" charset="0"/>
              </a:rPr>
              <a:t>);</a:t>
            </a:r>
          </a:p>
          <a:p>
            <a:endParaRPr lang="da-DK" sz="2400" b="1">
              <a:latin typeface="Consolas" panose="020B0609020204030204" pitchFamily="49" charset="0"/>
            </a:endParaRPr>
          </a:p>
          <a:p>
            <a:r>
              <a:rPr lang="da-DK" sz="2400" b="1">
                <a:latin typeface="Consolas" panose="020B0609020204030204" pitchFamily="49" charset="0"/>
              </a:rPr>
              <a:t>filteredValuesStr = fv61.FilterValues(</a:t>
            </a:r>
          </a:p>
          <a:p>
            <a:r>
              <a:rPr lang="da-DK" sz="2400" b="1">
                <a:latin typeface="Consolas" panose="020B0609020204030204" pitchFamily="49" charset="0"/>
              </a:rPr>
              <a:t>   valuesStr, </a:t>
            </a:r>
          </a:p>
          <a:p>
            <a:r>
              <a:rPr lang="da-DK" sz="2400" b="1">
                <a:latin typeface="Consolas" panose="020B0609020204030204" pitchFamily="49" charset="0"/>
              </a:rPr>
              <a:t>   str =&gt; </a:t>
            </a:r>
            <a:r>
              <a:rPr lang="en-US" sz="2400" b="1">
                <a:latin typeface="Consolas" panose="020B0609020204030204" pitchFamily="49" charset="0"/>
              </a:rPr>
              <a:t>str.ToLower().Contains(</a:t>
            </a:r>
            <a:r>
              <a:rPr lang="da-DK" sz="2400" b="1">
                <a:solidFill>
                  <a:srgbClr val="C00000"/>
                </a:solidFill>
                <a:latin typeface="Consolas" panose="020B0609020204030204" pitchFamily="49" charset="0"/>
              </a:rPr>
              <a:t>"s"</a:t>
            </a:r>
            <a:r>
              <a:rPr lang="en-US" sz="2400" b="1">
                <a:latin typeface="Consolas" panose="020B0609020204030204" pitchFamily="49" charset="0"/>
              </a:rPr>
              <a:t>)</a:t>
            </a:r>
            <a:r>
              <a:rPr lang="da-DK" sz="2400" b="1">
                <a:latin typeface="Consolas" panose="020B0609020204030204" pitchFamily="49" charset="0"/>
              </a:rPr>
              <a:t>);</a:t>
            </a:r>
            <a:endParaRPr lang="da-DK" sz="24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333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6504517" y="1335505"/>
            <a:ext cx="4366015" cy="384594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31074987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6504517" y="1335505"/>
            <a:ext cx="4366015" cy="384594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7029673" y="3416968"/>
            <a:ext cx="3347074" cy="112495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ClassABC</a:t>
            </a:r>
          </a:p>
        </p:txBody>
      </p:sp>
    </p:spTree>
    <p:extLst>
      <p:ext uri="{BB962C8B-B14F-4D97-AF65-F5344CB8AC3E}">
        <p14:creationId xmlns:p14="http://schemas.microsoft.com/office/powerpoint/2010/main" val="50527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private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ClassABC</a:t>
            </a:r>
            <a:r>
              <a:rPr lang="da-DK" sz="2000" b="1">
                <a:latin typeface="Consolas" panose="020B0609020204030204" pitchFamily="49" charset="0"/>
              </a:rPr>
              <a:t> _abc;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Client()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_abc =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new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ClassABC</a:t>
            </a:r>
            <a:r>
              <a:rPr lang="da-DK" sz="2000" b="1">
                <a:latin typeface="Consolas" panose="020B0609020204030204" pitchFamily="49" charset="0"/>
              </a:rPr>
              <a:t>();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endParaRPr lang="da-DK" sz="20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DoUsefulStuff()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_abc.MethodB();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r>
              <a:rPr lang="da-DK" sz="2000" b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55122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a-DK" sz="2400" b="1">
              <a:latin typeface="Consolas" panose="020B0609020204030204" pitchFamily="49" charset="0"/>
            </a:endParaRPr>
          </a:p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r>
              <a:rPr lang="da-DK" sz="2800" b="1">
                <a:latin typeface="Consolas" panose="020B0609020204030204" pitchFamily="49" charset="0"/>
              </a:rPr>
              <a:t> c = 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r>
              <a:rPr lang="da-DK" sz="2800" b="1">
                <a:latin typeface="Consolas" panose="020B0609020204030204" pitchFamily="49" charset="0"/>
              </a:rPr>
              <a:t>(</a:t>
            </a:r>
            <a:r>
              <a:rPr lang="en-US" sz="2800" b="1">
                <a:latin typeface="Consolas" panose="020B0609020204030204" pitchFamily="49" charset="0"/>
              </a:rPr>
              <a:t>);</a:t>
            </a:r>
            <a:endParaRPr lang="da-DK" sz="2800" b="1">
              <a:latin typeface="Consolas" panose="020B0609020204030204" pitchFamily="49" charset="0"/>
            </a:endParaRPr>
          </a:p>
          <a:p>
            <a:r>
              <a:rPr lang="da-DK" sz="2800" b="1">
                <a:latin typeface="Consolas" panose="020B0609020204030204" pitchFamily="49" charset="0"/>
              </a:rPr>
              <a:t>c.DoUseufulStuff();</a:t>
            </a:r>
            <a:endParaRPr lang="da-DK" sz="28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1611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6504517" y="1335505"/>
            <a:ext cx="4366015" cy="384594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39254648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6504517" y="1335505"/>
            <a:ext cx="4366015" cy="384594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1611452" y="3416968"/>
            <a:ext cx="3347074" cy="112495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ClassABC</a:t>
            </a:r>
          </a:p>
        </p:txBody>
      </p:sp>
    </p:spTree>
    <p:extLst>
      <p:ext uri="{BB962C8B-B14F-4D97-AF65-F5344CB8AC3E}">
        <p14:creationId xmlns:p14="http://schemas.microsoft.com/office/powerpoint/2010/main" val="165765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59259E-6 L 0.44167 -0.0011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083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private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ClassABC</a:t>
            </a:r>
            <a:r>
              <a:rPr lang="da-DK" sz="2000" b="1">
                <a:latin typeface="Consolas" panose="020B0609020204030204" pitchFamily="49" charset="0"/>
              </a:rPr>
              <a:t> _abc;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Client(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ClassABC</a:t>
            </a:r>
            <a:r>
              <a:rPr lang="da-DK" sz="2000" b="1">
                <a:latin typeface="Consolas" panose="020B0609020204030204" pitchFamily="49" charset="0"/>
              </a:rPr>
              <a:t> abc)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_abc = abc;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endParaRPr lang="da-DK" sz="20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DoUsefulStuff()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_abc.MethodB();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r>
              <a:rPr lang="da-DK" sz="2000" b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194930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ClassABC</a:t>
            </a:r>
            <a:r>
              <a:rPr lang="da-DK" sz="2800" b="1">
                <a:latin typeface="Consolas" panose="020B0609020204030204" pitchFamily="49" charset="0"/>
              </a:rPr>
              <a:t> abc = 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ClassABC</a:t>
            </a:r>
            <a:r>
              <a:rPr lang="da-DK" sz="2800" b="1">
                <a:latin typeface="Consolas" panose="020B0609020204030204" pitchFamily="49" charset="0"/>
              </a:rPr>
              <a:t>(</a:t>
            </a:r>
            <a:r>
              <a:rPr lang="en-US" sz="2800" b="1">
                <a:latin typeface="Consolas" panose="020B0609020204030204" pitchFamily="49" charset="0"/>
              </a:rPr>
              <a:t>);</a:t>
            </a:r>
            <a:endParaRPr lang="da-DK" sz="2800" b="1">
              <a:latin typeface="Consolas" panose="020B0609020204030204" pitchFamily="49" charset="0"/>
            </a:endParaRPr>
          </a:p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r>
              <a:rPr lang="da-DK" sz="2800" b="1">
                <a:latin typeface="Consolas" panose="020B0609020204030204" pitchFamily="49" charset="0"/>
              </a:rPr>
              <a:t> c = 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r>
              <a:rPr lang="da-DK" sz="2800" b="1">
                <a:latin typeface="Consolas" panose="020B0609020204030204" pitchFamily="49" charset="0"/>
              </a:rPr>
              <a:t>(</a:t>
            </a:r>
            <a:r>
              <a:rPr lang="da-DK" sz="2800" b="1">
                <a:solidFill>
                  <a:srgbClr val="FF0000"/>
                </a:solidFill>
                <a:latin typeface="Consolas" panose="020B0609020204030204" pitchFamily="49" charset="0"/>
              </a:rPr>
              <a:t>abc</a:t>
            </a:r>
            <a:r>
              <a:rPr lang="en-US" sz="2800" b="1">
                <a:latin typeface="Consolas" panose="020B0609020204030204" pitchFamily="49" charset="0"/>
              </a:rPr>
              <a:t>);</a:t>
            </a:r>
            <a:endParaRPr lang="da-DK" sz="2800" b="1">
              <a:latin typeface="Consolas" panose="020B0609020204030204" pitchFamily="49" charset="0"/>
            </a:endParaRPr>
          </a:p>
          <a:p>
            <a:r>
              <a:rPr lang="da-DK" sz="2800" b="1">
                <a:latin typeface="Consolas" panose="020B0609020204030204" pitchFamily="49" charset="0"/>
              </a:rPr>
              <a:t>c.DoUseufulStuff();</a:t>
            </a:r>
            <a:endParaRPr lang="da-DK" sz="28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06141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6504517" y="1335505"/>
            <a:ext cx="4366015" cy="384594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1692135" y="849556"/>
            <a:ext cx="3347074" cy="1119490"/>
          </a:xfrm>
          <a:prstGeom prst="roundRect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>
                <a:solidFill>
                  <a:srgbClr val="FFFF00"/>
                </a:solidFill>
              </a:rPr>
              <a:t>InterfaceB</a:t>
            </a:r>
          </a:p>
        </p:txBody>
      </p:sp>
      <p:cxnSp>
        <p:nvCxnSpPr>
          <p:cNvPr id="9" name="Vinklet forbindelse 2"/>
          <p:cNvCxnSpPr>
            <a:endCxn id="8" idx="2"/>
          </p:cNvCxnSpPr>
          <p:nvPr/>
        </p:nvCxnSpPr>
        <p:spPr>
          <a:xfrm flipV="1">
            <a:off x="3365672" y="1969046"/>
            <a:ext cx="0" cy="739709"/>
          </a:xfrm>
          <a:prstGeom prst="straightConnector1">
            <a:avLst/>
          </a:prstGeom>
          <a:ln w="762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frundet rektangel 9"/>
          <p:cNvSpPr/>
          <p:nvPr/>
        </p:nvSpPr>
        <p:spPr>
          <a:xfrm>
            <a:off x="1692135" y="2708755"/>
            <a:ext cx="3347074" cy="112495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ClassABC</a:t>
            </a:r>
          </a:p>
        </p:txBody>
      </p:sp>
    </p:spTree>
    <p:extLst>
      <p:ext uri="{BB962C8B-B14F-4D97-AF65-F5344CB8AC3E}">
        <p14:creationId xmlns:p14="http://schemas.microsoft.com/office/powerpoint/2010/main" val="197428424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827578"/>
            <a:ext cx="100944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private</a:t>
            </a:r>
            <a:r>
              <a:rPr lang="da-DK" sz="2000" b="1"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InterfaceB</a:t>
            </a:r>
            <a:r>
              <a:rPr lang="da-DK" sz="2000" b="1">
                <a:latin typeface="Consolas" panose="020B0609020204030204" pitchFamily="49" charset="0"/>
              </a:rPr>
              <a:t> _b;</a:t>
            </a:r>
          </a:p>
          <a:p>
            <a:endParaRPr lang="da-DK" sz="2000" b="1"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Client(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InterfaceB</a:t>
            </a:r>
            <a:r>
              <a:rPr lang="da-DK" sz="2000" b="1">
                <a:latin typeface="Consolas" panose="020B0609020204030204" pitchFamily="49" charset="0"/>
              </a:rPr>
              <a:t> b)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_b = b;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endParaRPr lang="da-DK" sz="20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000" b="1">
                <a:latin typeface="Consolas" panose="020B0609020204030204" pitchFamily="49" charset="0"/>
              </a:rPr>
              <a:t>  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da-DK" sz="2000" b="1">
                <a:latin typeface="Consolas" panose="020B0609020204030204" pitchFamily="49" charset="0"/>
              </a:rPr>
              <a:t> DoUsefulStuff()</a:t>
            </a:r>
          </a:p>
          <a:p>
            <a:r>
              <a:rPr lang="da-DK" sz="2000" b="1">
                <a:latin typeface="Consolas" panose="020B0609020204030204" pitchFamily="49" charset="0"/>
              </a:rPr>
              <a:t>   {</a:t>
            </a:r>
          </a:p>
          <a:p>
            <a:r>
              <a:rPr lang="da-DK" sz="2000" b="1">
                <a:latin typeface="Consolas" panose="020B0609020204030204" pitchFamily="49" charset="0"/>
              </a:rPr>
              <a:t>      _b.MethodB();</a:t>
            </a:r>
          </a:p>
          <a:p>
            <a:r>
              <a:rPr lang="da-DK" sz="2000" b="1">
                <a:latin typeface="Consolas" panose="020B0609020204030204" pitchFamily="49" charset="0"/>
              </a:rPr>
              <a:t>   }</a:t>
            </a:r>
          </a:p>
          <a:p>
            <a:r>
              <a:rPr lang="da-DK" sz="2000" b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5084393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Create object that implements InterfaceB</a:t>
            </a:r>
          </a:p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InterfaceB</a:t>
            </a:r>
            <a:r>
              <a:rPr lang="da-DK" sz="2800" b="1">
                <a:latin typeface="Consolas" panose="020B0609020204030204" pitchFamily="49" charset="0"/>
              </a:rPr>
              <a:t> b = 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…</a:t>
            </a:r>
            <a:r>
              <a:rPr lang="da-DK" sz="2800" b="1">
                <a:latin typeface="Consolas" panose="020B0609020204030204" pitchFamily="49" charset="0"/>
              </a:rPr>
              <a:t>(</a:t>
            </a:r>
            <a:r>
              <a:rPr lang="en-US" sz="2800" b="1">
                <a:latin typeface="Consolas" panose="020B0609020204030204" pitchFamily="49" charset="0"/>
              </a:rPr>
              <a:t>); </a:t>
            </a:r>
            <a:endParaRPr lang="da-DK" sz="2800" b="1">
              <a:latin typeface="Consolas" panose="020B0609020204030204" pitchFamily="49" charset="0"/>
            </a:endParaRPr>
          </a:p>
          <a:p>
            <a:endParaRPr lang="da-DK" sz="28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r>
              <a:rPr lang="da-DK" sz="2800" b="1">
                <a:latin typeface="Consolas" panose="020B0609020204030204" pitchFamily="49" charset="0"/>
              </a:rPr>
              <a:t> c = 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r>
              <a:rPr lang="da-DK" sz="2800" b="1">
                <a:latin typeface="Consolas" panose="020B0609020204030204" pitchFamily="49" charset="0"/>
              </a:rPr>
              <a:t>(</a:t>
            </a:r>
            <a:r>
              <a:rPr lang="da-DK" sz="2800" b="1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sz="2800" b="1">
                <a:latin typeface="Consolas" panose="020B0609020204030204" pitchFamily="49" charset="0"/>
              </a:rPr>
              <a:t>);</a:t>
            </a:r>
            <a:endParaRPr lang="da-DK" sz="28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da-DK" sz="2800" b="1">
                <a:latin typeface="Consolas" panose="020B0609020204030204" pitchFamily="49" charset="0"/>
              </a:rPr>
              <a:t>c.DoUseufulStuff();</a:t>
            </a:r>
            <a:endParaRPr lang="da-DK" sz="28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da-DK" sz="28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4705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rundet rektangel 3"/>
          <p:cNvSpPr/>
          <p:nvPr/>
        </p:nvSpPr>
        <p:spPr>
          <a:xfrm>
            <a:off x="6217921" y="2201779"/>
            <a:ext cx="3948764" cy="363364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138001846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frundet rektangel 4"/>
          <p:cNvSpPr/>
          <p:nvPr/>
        </p:nvSpPr>
        <p:spPr>
          <a:xfrm>
            <a:off x="6217921" y="2201779"/>
            <a:ext cx="3948764" cy="363364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6518766" y="3601868"/>
            <a:ext cx="3347074" cy="112495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600"/>
              <a:t>ClassABC</a:t>
            </a:r>
          </a:p>
        </p:txBody>
      </p:sp>
    </p:spTree>
    <p:extLst>
      <p:ext uri="{BB962C8B-B14F-4D97-AF65-F5344CB8AC3E}">
        <p14:creationId xmlns:p14="http://schemas.microsoft.com/office/powerpoint/2010/main" val="140950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frundet rektangel 4"/>
          <p:cNvSpPr/>
          <p:nvPr/>
        </p:nvSpPr>
        <p:spPr>
          <a:xfrm>
            <a:off x="661337" y="468069"/>
            <a:ext cx="10064816" cy="5854526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>
                <a:solidFill>
                  <a:schemeClr val="tx1">
                    <a:lumMod val="75000"/>
                    <a:lumOff val="25000"/>
                  </a:schemeClr>
                </a:solidFill>
              </a:rPr>
              <a:t>Injector</a:t>
            </a:r>
          </a:p>
        </p:txBody>
      </p:sp>
    </p:spTree>
    <p:extLst>
      <p:ext uri="{BB962C8B-B14F-4D97-AF65-F5344CB8AC3E}">
        <p14:creationId xmlns:p14="http://schemas.microsoft.com/office/powerpoint/2010/main" val="306246387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frundet rektangel 7"/>
          <p:cNvSpPr/>
          <p:nvPr/>
        </p:nvSpPr>
        <p:spPr>
          <a:xfrm>
            <a:off x="661337" y="468069"/>
            <a:ext cx="10064816" cy="5854526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>
                <a:solidFill>
                  <a:schemeClr val="tx1">
                    <a:lumMod val="75000"/>
                    <a:lumOff val="25000"/>
                  </a:schemeClr>
                </a:solidFill>
              </a:rPr>
              <a:t>Injector</a:t>
            </a:r>
          </a:p>
        </p:txBody>
      </p:sp>
      <p:sp>
        <p:nvSpPr>
          <p:cNvPr id="7" name="Afrundet rektangel 6"/>
          <p:cNvSpPr/>
          <p:nvPr/>
        </p:nvSpPr>
        <p:spPr>
          <a:xfrm>
            <a:off x="1696452" y="4101716"/>
            <a:ext cx="2628901" cy="112495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600"/>
              <a:t>ClassABC</a:t>
            </a:r>
          </a:p>
        </p:txBody>
      </p:sp>
      <p:sp>
        <p:nvSpPr>
          <p:cNvPr id="5" name="Tekstfelt 4"/>
          <p:cNvSpPr txBox="1"/>
          <p:nvPr/>
        </p:nvSpPr>
        <p:spPr>
          <a:xfrm>
            <a:off x="1696452" y="1675804"/>
            <a:ext cx="377189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ClassABC</a:t>
            </a:r>
            <a:r>
              <a:rPr lang="da-DK" sz="2400" b="1">
                <a:latin typeface="Consolas" panose="020B0609020204030204" pitchFamily="49" charset="0"/>
              </a:rPr>
              <a:t>(</a:t>
            </a:r>
            <a:r>
              <a:rPr lang="en-US" sz="2400" b="1">
                <a:latin typeface="Consolas" panose="020B0609020204030204" pitchFamily="49" charset="0"/>
              </a:rPr>
              <a:t>);</a:t>
            </a:r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474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frundet rektangel 8"/>
          <p:cNvSpPr/>
          <p:nvPr/>
        </p:nvSpPr>
        <p:spPr>
          <a:xfrm>
            <a:off x="661337" y="468069"/>
            <a:ext cx="10064816" cy="5854526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>
                <a:solidFill>
                  <a:schemeClr val="tx1">
                    <a:lumMod val="75000"/>
                    <a:lumOff val="25000"/>
                  </a:schemeClr>
                </a:solidFill>
              </a:rPr>
              <a:t>Injector</a:t>
            </a:r>
          </a:p>
        </p:txBody>
      </p:sp>
      <p:sp>
        <p:nvSpPr>
          <p:cNvPr id="3" name="Afrundet rektangel 2"/>
          <p:cNvSpPr/>
          <p:nvPr/>
        </p:nvSpPr>
        <p:spPr>
          <a:xfrm>
            <a:off x="1257300" y="3398927"/>
            <a:ext cx="3453063" cy="19250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InterfaceB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1696452" y="4101716"/>
            <a:ext cx="2628901" cy="112495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600"/>
              <a:t>ClassABC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1696451" y="1675804"/>
            <a:ext cx="5642811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InterfaceB </a:t>
            </a:r>
            <a:r>
              <a:rPr lang="da-DK" sz="2400" b="1">
                <a:latin typeface="Consolas" panose="020B0609020204030204" pitchFamily="49" charset="0"/>
              </a:rPr>
              <a:t>b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ClassABC</a:t>
            </a:r>
            <a:r>
              <a:rPr lang="da-DK" sz="2400" b="1">
                <a:latin typeface="Consolas" panose="020B0609020204030204" pitchFamily="49" charset="0"/>
              </a:rPr>
              <a:t>(</a:t>
            </a:r>
            <a:r>
              <a:rPr lang="en-US" sz="2400" b="1">
                <a:latin typeface="Consolas" panose="020B0609020204030204" pitchFamily="49" charset="0"/>
              </a:rPr>
              <a:t>); </a:t>
            </a:r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52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frundet rektangel 8"/>
          <p:cNvSpPr/>
          <p:nvPr/>
        </p:nvSpPr>
        <p:spPr>
          <a:xfrm>
            <a:off x="679384" y="471664"/>
            <a:ext cx="10064816" cy="5854526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>
                <a:solidFill>
                  <a:schemeClr val="tx1">
                    <a:lumMod val="75000"/>
                    <a:lumOff val="25000"/>
                  </a:schemeClr>
                </a:solidFill>
              </a:rPr>
              <a:t>Injector</a:t>
            </a:r>
          </a:p>
        </p:txBody>
      </p:sp>
      <p:sp>
        <p:nvSpPr>
          <p:cNvPr id="3" name="Afrundet rektangel 2"/>
          <p:cNvSpPr/>
          <p:nvPr/>
        </p:nvSpPr>
        <p:spPr>
          <a:xfrm>
            <a:off x="1257300" y="3398927"/>
            <a:ext cx="3453063" cy="19250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InterfaceB</a:t>
            </a:r>
          </a:p>
        </p:txBody>
      </p:sp>
      <p:sp>
        <p:nvSpPr>
          <p:cNvPr id="7" name="Afrundet rektangel 6"/>
          <p:cNvSpPr/>
          <p:nvPr/>
        </p:nvSpPr>
        <p:spPr>
          <a:xfrm>
            <a:off x="6217921" y="2201779"/>
            <a:ext cx="3948764" cy="363364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1696452" y="4101716"/>
            <a:ext cx="2628901" cy="112495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600"/>
              <a:t>ClassABC</a:t>
            </a:r>
          </a:p>
        </p:txBody>
      </p:sp>
      <p:sp>
        <p:nvSpPr>
          <p:cNvPr id="6" name="Tekstfelt 5"/>
          <p:cNvSpPr txBox="1"/>
          <p:nvPr/>
        </p:nvSpPr>
        <p:spPr>
          <a:xfrm>
            <a:off x="1696451" y="1675804"/>
            <a:ext cx="5642811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InterfaceB </a:t>
            </a:r>
            <a:r>
              <a:rPr lang="da-DK" sz="2400" b="1">
                <a:latin typeface="Consolas" panose="020B0609020204030204" pitchFamily="49" charset="0"/>
              </a:rPr>
              <a:t>b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ClassABC</a:t>
            </a:r>
            <a:r>
              <a:rPr lang="da-DK" sz="2400" b="1">
                <a:latin typeface="Consolas" panose="020B0609020204030204" pitchFamily="49" charset="0"/>
              </a:rPr>
              <a:t>(</a:t>
            </a:r>
            <a:r>
              <a:rPr lang="en-US" sz="2400" b="1">
                <a:latin typeface="Consolas" panose="020B0609020204030204" pitchFamily="49" charset="0"/>
              </a:rPr>
              <a:t>);</a:t>
            </a: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r>
              <a:rPr lang="da-DK" sz="2400" b="1">
                <a:latin typeface="Consolas" panose="020B0609020204030204" pitchFamily="49" charset="0"/>
              </a:rPr>
              <a:t> c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r>
              <a:rPr lang="da-DK" sz="2400" b="1">
                <a:latin typeface="Consolas" panose="020B0609020204030204" pitchFamily="49" charset="0"/>
              </a:rPr>
              <a:t>(…</a:t>
            </a:r>
            <a:r>
              <a:rPr lang="en-US" sz="2400" b="1">
                <a:latin typeface="Consolas" panose="020B0609020204030204" pitchFamily="49" charset="0"/>
              </a:rPr>
              <a:t>); </a:t>
            </a:r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5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frundet rektangel 4"/>
          <p:cNvSpPr/>
          <p:nvPr/>
        </p:nvSpPr>
        <p:spPr>
          <a:xfrm>
            <a:off x="661337" y="468069"/>
            <a:ext cx="10064816" cy="5854526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>
                <a:solidFill>
                  <a:schemeClr val="tx1">
                    <a:lumMod val="75000"/>
                    <a:lumOff val="25000"/>
                  </a:schemeClr>
                </a:solidFill>
              </a:rPr>
              <a:t>Injector</a:t>
            </a:r>
          </a:p>
        </p:txBody>
      </p:sp>
      <p:sp>
        <p:nvSpPr>
          <p:cNvPr id="7" name="Afrundet rektangel 6"/>
          <p:cNvSpPr/>
          <p:nvPr/>
        </p:nvSpPr>
        <p:spPr>
          <a:xfrm>
            <a:off x="6217921" y="2201779"/>
            <a:ext cx="3948764" cy="363364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3" name="Afrundet rektangel 2"/>
          <p:cNvSpPr/>
          <p:nvPr/>
        </p:nvSpPr>
        <p:spPr>
          <a:xfrm>
            <a:off x="6491049" y="3398927"/>
            <a:ext cx="3453063" cy="19250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InterfaceB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6930201" y="4101716"/>
            <a:ext cx="2628901" cy="112495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600"/>
              <a:t>ClassABC</a:t>
            </a:r>
          </a:p>
        </p:txBody>
      </p:sp>
      <p:sp>
        <p:nvSpPr>
          <p:cNvPr id="6" name="Tekstfelt 5"/>
          <p:cNvSpPr txBox="1"/>
          <p:nvPr/>
        </p:nvSpPr>
        <p:spPr>
          <a:xfrm>
            <a:off x="1696451" y="1675804"/>
            <a:ext cx="5642811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InterfaceB </a:t>
            </a:r>
            <a:r>
              <a:rPr lang="da-DK" sz="2400" b="1">
                <a:latin typeface="Consolas" panose="020B0609020204030204" pitchFamily="49" charset="0"/>
              </a:rPr>
              <a:t>b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ClassABC</a:t>
            </a:r>
            <a:r>
              <a:rPr lang="da-DK" sz="2400" b="1">
                <a:latin typeface="Consolas" panose="020B0609020204030204" pitchFamily="49" charset="0"/>
              </a:rPr>
              <a:t>(</a:t>
            </a:r>
            <a:r>
              <a:rPr lang="en-US" sz="2400" b="1">
                <a:latin typeface="Consolas" panose="020B0609020204030204" pitchFamily="49" charset="0"/>
              </a:rPr>
              <a:t>);</a:t>
            </a:r>
          </a:p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r>
              <a:rPr lang="da-DK" sz="2400" b="1">
                <a:latin typeface="Consolas" panose="020B0609020204030204" pitchFamily="49" charset="0"/>
              </a:rPr>
              <a:t> c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400" b="1"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Client</a:t>
            </a:r>
            <a:r>
              <a:rPr lang="da-DK" sz="2400" b="1">
                <a:latin typeface="Consolas" panose="020B0609020204030204" pitchFamily="49" charset="0"/>
              </a:rPr>
              <a:t>(b</a:t>
            </a:r>
            <a:r>
              <a:rPr lang="en-US" sz="2400" b="1">
                <a:latin typeface="Consolas" panose="020B0609020204030204" pitchFamily="49" charset="0"/>
              </a:rPr>
              <a:t>); </a:t>
            </a:r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865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12822" y="171869"/>
            <a:ext cx="11534274" cy="4995694"/>
          </a:xfrm>
        </p:spPr>
        <p:txBody>
          <a:bodyPr anchor="ctr">
            <a:normAutofit/>
          </a:bodyPr>
          <a:lstStyle/>
          <a:p>
            <a:r>
              <a:rPr lang="da-DK" sz="7200" b="1"/>
              <a:t>Who is the </a:t>
            </a:r>
            <a:r>
              <a:rPr lang="da-DK" sz="7200" b="1">
                <a:solidFill>
                  <a:srgbClr val="FF0000"/>
                </a:solidFill>
              </a:rPr>
              <a:t>Injector</a:t>
            </a:r>
            <a:r>
              <a:rPr lang="da-DK" sz="7200" b="1"/>
              <a:t>?</a:t>
            </a:r>
            <a:endParaRPr lang="da-DK" sz="3200" i="1"/>
          </a:p>
        </p:txBody>
      </p:sp>
    </p:spTree>
    <p:extLst>
      <p:ext uri="{BB962C8B-B14F-4D97-AF65-F5344CB8AC3E}">
        <p14:creationId xmlns:p14="http://schemas.microsoft.com/office/powerpoint/2010/main" val="72408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2352</TotalTime>
  <Words>2866</Words>
  <Application>Microsoft Office PowerPoint</Application>
  <PresentationFormat>Widescreen</PresentationFormat>
  <Paragraphs>672</Paragraphs>
  <Slides>98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98</vt:i4>
      </vt:variant>
    </vt:vector>
  </HeadingPairs>
  <TitlesOfParts>
    <vt:vector size="105" baseType="lpstr">
      <vt:lpstr>Arial</vt:lpstr>
      <vt:lpstr>Calibri</vt:lpstr>
      <vt:lpstr>Calibri Light</vt:lpstr>
      <vt:lpstr>Consolas</vt:lpstr>
      <vt:lpstr>Times New Roman</vt:lpstr>
      <vt:lpstr>Wingdings</vt:lpstr>
      <vt:lpstr>Office-tema</vt:lpstr>
      <vt:lpstr>SOLID</vt:lpstr>
      <vt:lpstr>What is a Design Pattern?</vt:lpstr>
      <vt:lpstr>What is a Design Pattern?</vt:lpstr>
      <vt:lpstr>What is a Best Practice?</vt:lpstr>
      <vt:lpstr>PowerPoint-præsentation</vt:lpstr>
      <vt:lpstr>What goals do we strive at,  when we develop software?</vt:lpstr>
      <vt:lpstr>PowerPoint-præsentation</vt:lpstr>
      <vt:lpstr>What is Quality?</vt:lpstr>
      <vt:lpstr>What is Quality?  “it depends…”</vt:lpstr>
      <vt:lpstr>PowerPoint-præsentation</vt:lpstr>
      <vt:lpstr>PowerPoint-præsentation</vt:lpstr>
      <vt:lpstr>PowerPoint-præsentation</vt:lpstr>
      <vt:lpstr>What is Quality?</vt:lpstr>
      <vt:lpstr>What is Quality?  “words ending with …bility”</vt:lpstr>
      <vt:lpstr>Usability Reliability Extensibility Reusability Maintainability Portability …bility </vt:lpstr>
      <vt:lpstr> Reusability Extensibility </vt:lpstr>
      <vt:lpstr>How do we achieve… Reusability Extensibility </vt:lpstr>
      <vt:lpstr>SOLID</vt:lpstr>
      <vt:lpstr>Single responsibility Open/Closed Liskov Substitution Interface Segregation Dedendency Injection</vt:lpstr>
      <vt:lpstr>Single Responsibility</vt:lpstr>
      <vt:lpstr>PowerPoint-præsentation</vt:lpstr>
      <vt:lpstr>PowerPoint-præsentation</vt:lpstr>
      <vt:lpstr>Open/Closed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Liskov Substitution</vt:lpstr>
      <vt:lpstr>Interface Segregation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Dependency Injection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Dependency Injection – filtering values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Who is the Injector?</vt:lpstr>
    </vt:vector>
  </TitlesOfParts>
  <Company>Køge Handelsskole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Per Laursen</dc:creator>
  <cp:lastModifiedBy>Per Storgård Laursen</cp:lastModifiedBy>
  <cp:revision>220</cp:revision>
  <dcterms:created xsi:type="dcterms:W3CDTF">2017-09-05T14:00:27Z</dcterms:created>
  <dcterms:modified xsi:type="dcterms:W3CDTF">2025-03-15T11:11:59Z</dcterms:modified>
</cp:coreProperties>
</file>