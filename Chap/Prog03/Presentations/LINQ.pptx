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339" r:id="rId3"/>
    <p:sldId id="340" r:id="rId4"/>
    <p:sldId id="341" r:id="rId5"/>
    <p:sldId id="342" r:id="rId6"/>
    <p:sldId id="273" r:id="rId7"/>
    <p:sldId id="319" r:id="rId8"/>
    <p:sldId id="320" r:id="rId9"/>
    <p:sldId id="318" r:id="rId10"/>
    <p:sldId id="325" r:id="rId11"/>
    <p:sldId id="310" r:id="rId12"/>
    <p:sldId id="322" r:id="rId13"/>
    <p:sldId id="326" r:id="rId14"/>
    <p:sldId id="359" r:id="rId15"/>
    <p:sldId id="360" r:id="rId16"/>
    <p:sldId id="315" r:id="rId17"/>
    <p:sldId id="361" r:id="rId18"/>
    <p:sldId id="362" r:id="rId19"/>
    <p:sldId id="311" r:id="rId20"/>
    <p:sldId id="312" r:id="rId21"/>
    <p:sldId id="323" r:id="rId22"/>
    <p:sldId id="316" r:id="rId23"/>
    <p:sldId id="370" r:id="rId24"/>
    <p:sldId id="371" r:id="rId25"/>
    <p:sldId id="372" r:id="rId26"/>
    <p:sldId id="373" r:id="rId27"/>
    <p:sldId id="313" r:id="rId28"/>
    <p:sldId id="314" r:id="rId29"/>
    <p:sldId id="324" r:id="rId30"/>
    <p:sldId id="317" r:id="rId31"/>
    <p:sldId id="327" r:id="rId32"/>
    <p:sldId id="363" r:id="rId33"/>
    <p:sldId id="329" r:id="rId34"/>
    <p:sldId id="343" r:id="rId35"/>
    <p:sldId id="337" r:id="rId36"/>
    <p:sldId id="328" r:id="rId37"/>
    <p:sldId id="330" r:id="rId38"/>
    <p:sldId id="332" r:id="rId39"/>
    <p:sldId id="331" r:id="rId40"/>
    <p:sldId id="333" r:id="rId41"/>
    <p:sldId id="334" r:id="rId42"/>
    <p:sldId id="335" r:id="rId43"/>
    <p:sldId id="338" r:id="rId44"/>
    <p:sldId id="336" r:id="rId45"/>
    <p:sldId id="364" r:id="rId46"/>
    <p:sldId id="321" r:id="rId47"/>
    <p:sldId id="344" r:id="rId48"/>
    <p:sldId id="355" r:id="rId49"/>
    <p:sldId id="345" r:id="rId50"/>
    <p:sldId id="356" r:id="rId51"/>
    <p:sldId id="346" r:id="rId52"/>
    <p:sldId id="347" r:id="rId53"/>
    <p:sldId id="348" r:id="rId54"/>
    <p:sldId id="357" r:id="rId55"/>
    <p:sldId id="350" r:id="rId56"/>
    <p:sldId id="358" r:id="rId57"/>
    <p:sldId id="351" r:id="rId58"/>
    <p:sldId id="352" r:id="rId59"/>
    <p:sldId id="349" r:id="rId60"/>
    <p:sldId id="365" r:id="rId61"/>
    <p:sldId id="367" r:id="rId62"/>
    <p:sldId id="368" r:id="rId63"/>
    <p:sldId id="353" r:id="rId64"/>
    <p:sldId id="354" r:id="rId65"/>
    <p:sldId id="369" r:id="rId66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er Storgård Laursen" initials="PSL" lastIdx="0" clrIdx="0">
    <p:extLst>
      <p:ext uri="{19B8F6BF-5375-455C-9EA6-DF929625EA0E}">
        <p15:presenceInfo xmlns:p15="http://schemas.microsoft.com/office/powerpoint/2012/main" userId="S-1-5-21-1598380859-2660986602-128722333-2827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Ingen typografi, tabelgit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85" d="100"/>
          <a:sy n="85" d="100"/>
        </p:scale>
        <p:origin x="45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10-03-2025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990830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10-03-2025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23005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10-03-2025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539660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10-03-2025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229465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6" name="Pladsholder til indhol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10-03-2025</a:t>
            </a:fld>
            <a:endParaRPr lang="da-DK"/>
          </a:p>
        </p:txBody>
      </p:sp>
      <p:sp>
        <p:nvSpPr>
          <p:cNvPr id="8" name="Pladsholder til sidefod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980042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10-03-2025</a:t>
            </a:fld>
            <a:endParaRPr lang="da-DK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470170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10-03-2025</a:t>
            </a:fld>
            <a:endParaRPr lang="da-DK"/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175312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10-03-2025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037297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10-03-2025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879327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10-03-2025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302158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10-03-2025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263706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5B7D8E-2A20-4C0E-991C-872DBB7459A8}" type="datetimeFigureOut">
              <a:rPr lang="da-DK" smtClean="0"/>
              <a:t>10-03-2025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3729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175085" y="583532"/>
            <a:ext cx="9144000" cy="4511842"/>
          </a:xfrm>
        </p:spPr>
        <p:txBody>
          <a:bodyPr>
            <a:normAutofit/>
          </a:bodyPr>
          <a:lstStyle/>
          <a:p>
            <a:r>
              <a:rPr lang="da-DK" sz="16000" dirty="0"/>
              <a:t>LINQ</a:t>
            </a:r>
            <a:br>
              <a:rPr lang="da-DK" sz="16000" dirty="0"/>
            </a:br>
            <a:br>
              <a:rPr lang="da-DK" sz="5300" dirty="0"/>
            </a:br>
            <a:r>
              <a:rPr lang="da-DK" sz="5300" b="1" dirty="0">
                <a:solidFill>
                  <a:srgbClr val="FF0000"/>
                </a:solidFill>
              </a:rPr>
              <a:t>L</a:t>
            </a:r>
            <a:r>
              <a:rPr lang="da-DK" sz="5300" dirty="0"/>
              <a:t>anguage </a:t>
            </a:r>
            <a:r>
              <a:rPr lang="da-DK" sz="5300" dirty="0" err="1">
                <a:solidFill>
                  <a:srgbClr val="FF0000"/>
                </a:solidFill>
              </a:rPr>
              <a:t>IN</a:t>
            </a:r>
            <a:r>
              <a:rPr lang="da-DK" sz="5300" dirty="0" err="1"/>
              <a:t>tegrated</a:t>
            </a:r>
            <a:r>
              <a:rPr lang="da-DK" sz="5300" dirty="0"/>
              <a:t> </a:t>
            </a:r>
            <a:r>
              <a:rPr lang="da-DK" sz="5300" dirty="0">
                <a:solidFill>
                  <a:srgbClr val="FF0000"/>
                </a:solidFill>
              </a:rPr>
              <a:t>Q</a:t>
            </a:r>
            <a:r>
              <a:rPr lang="da-DK" sz="5300" dirty="0"/>
              <a:t>uery</a:t>
            </a:r>
          </a:p>
        </p:txBody>
      </p:sp>
    </p:spTree>
    <p:extLst>
      <p:ext uri="{BB962C8B-B14F-4D97-AF65-F5344CB8AC3E}">
        <p14:creationId xmlns:p14="http://schemas.microsoft.com/office/powerpoint/2010/main" val="12019566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/>
              <a:t>LINQ – Main features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1825625"/>
            <a:ext cx="9047205" cy="4351338"/>
          </a:xfrm>
        </p:spPr>
        <p:txBody>
          <a:bodyPr/>
          <a:lstStyle/>
          <a:p>
            <a:pPr lvl="0"/>
            <a:r>
              <a:rPr lang="da-DK" dirty="0" err="1"/>
              <a:t>Use</a:t>
            </a:r>
            <a:r>
              <a:rPr lang="da-DK"/>
              <a:t> declarative, SQL-like syntax for data selection</a:t>
            </a:r>
          </a:p>
          <a:p>
            <a:pPr lvl="0"/>
            <a:r>
              <a:rPr lang="da-DK"/>
              <a:t>Independence from specific collection classes; a collection only needs to implement </a:t>
            </a:r>
            <a:r>
              <a:rPr lang="da-DK" b="1"/>
              <a:t>IEnumerable&lt;T&gt;</a:t>
            </a:r>
          </a:p>
          <a:p>
            <a:pPr marL="0" lvl="0" indent="0">
              <a:buNone/>
            </a:pPr>
            <a:endParaRPr lang="da-DK"/>
          </a:p>
          <a:p>
            <a:pPr lvl="0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862116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LINQ – IEnumerable/IEnumerator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1825625"/>
            <a:ext cx="9047205" cy="4340398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4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interface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400" b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IEnumerable</a:t>
            </a:r>
            <a:r>
              <a:rPr lang="en-US" sz="2400" b="1"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</a:t>
            </a:r>
            <a:r>
              <a:rPr lang="en-US" sz="24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out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400" b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</a:t>
            </a:r>
            <a:r>
              <a:rPr lang="en-US" sz="2400" b="1"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</a:t>
            </a:r>
            <a:endParaRPr lang="da-DK" sz="2400" b="1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da-DK" sz="2400" b="1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2400" b="1">
                <a:solidFill>
                  <a:srgbClr val="2B91AF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2400" b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IEnumerator&lt;T&gt;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GetEnumerator();</a:t>
            </a:r>
            <a:endParaRPr lang="da-DK" sz="2400" b="1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2400" b="1">
              <a:solidFill>
                <a:srgbClr val="000000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2400" b="1">
              <a:solidFill>
                <a:srgbClr val="000000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4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interface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400" b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IEnumerator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</a:t>
            </a:r>
            <a:r>
              <a:rPr lang="en-US" sz="24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out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400" b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</a:t>
            </a:r>
            <a:endParaRPr lang="da-DK" sz="2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da-DK" sz="2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2400" b="1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24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bool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MoveNext();</a:t>
            </a:r>
            <a:endParaRPr lang="da-DK" sz="2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2400" b="1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24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Reset();</a:t>
            </a:r>
            <a:endParaRPr lang="da-DK" sz="2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2400" b="1">
                <a:solidFill>
                  <a:srgbClr val="2B91AF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2400" b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Current { </a:t>
            </a:r>
            <a:r>
              <a:rPr lang="en-US" sz="24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get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}</a:t>
            </a:r>
            <a:endParaRPr lang="da-DK" sz="2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da-DK"/>
          </a:p>
          <a:p>
            <a:pPr lvl="0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592291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LINQ – IEnumerable/IEnumerator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40398"/>
          </a:xfrm>
        </p:spPr>
        <p:txBody>
          <a:bodyPr>
            <a:normAutofit/>
          </a:bodyPr>
          <a:lstStyle/>
          <a:p>
            <a:pPr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IEnumerable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 collection = 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b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List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&gt;();</a:t>
            </a:r>
            <a:endParaRPr lang="da-DK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spcBef>
                <a:spcPts val="0"/>
              </a:spcBef>
              <a:spcAft>
                <a:spcPts val="0"/>
              </a:spcAft>
              <a:buNone/>
            </a:pPr>
            <a:endParaRPr lang="en-US" b="1">
              <a:solidFill>
                <a:srgbClr val="0000FF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foreach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var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item 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collection)</a:t>
            </a:r>
            <a:endParaRPr lang="da-DK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da-DK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b="1">
                <a:solidFill>
                  <a:srgbClr val="008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do something with the item</a:t>
            </a:r>
            <a:endParaRPr lang="da-DK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da-DK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933100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531341"/>
            <a:ext cx="10515600" cy="5634682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da-DK" b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da-DK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b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da-DK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b="1">
                <a:solidFill>
                  <a:srgbClr val="2B91AF"/>
                </a:solidFill>
                <a:latin typeface="Consolas" panose="020B0609020204030204" pitchFamily="49" charset="0"/>
              </a:rPr>
              <a:t>Movie</a:t>
            </a:r>
            <a:endParaRPr lang="da-DK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da-DK" b="1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	public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Title { 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	public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Year { 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	public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DurationInMins { 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  <a:endParaRPr lang="en-US" b="1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	public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StudioName { 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da-DK" b="1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da-DK" b="1"/>
          </a:p>
        </p:txBody>
      </p:sp>
    </p:spTree>
    <p:extLst>
      <p:ext uri="{BB962C8B-B14F-4D97-AF65-F5344CB8AC3E}">
        <p14:creationId xmlns:p14="http://schemas.microsoft.com/office/powerpoint/2010/main" val="7160878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3325759"/>
              </p:ext>
            </p:extLst>
          </p:nvPr>
        </p:nvGraphicFramePr>
        <p:xfrm>
          <a:off x="830178" y="337603"/>
          <a:ext cx="10160668" cy="54104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40167">
                  <a:extLst>
                    <a:ext uri="{9D8B030D-6E8A-4147-A177-3AD203B41FA5}">
                      <a16:colId xmlns:a16="http://schemas.microsoft.com/office/drawing/2014/main" val="47363412"/>
                    </a:ext>
                  </a:extLst>
                </a:gridCol>
                <a:gridCol w="2540167">
                  <a:extLst>
                    <a:ext uri="{9D8B030D-6E8A-4147-A177-3AD203B41FA5}">
                      <a16:colId xmlns:a16="http://schemas.microsoft.com/office/drawing/2014/main" val="3935601631"/>
                    </a:ext>
                  </a:extLst>
                </a:gridCol>
                <a:gridCol w="2540167">
                  <a:extLst>
                    <a:ext uri="{9D8B030D-6E8A-4147-A177-3AD203B41FA5}">
                      <a16:colId xmlns:a16="http://schemas.microsoft.com/office/drawing/2014/main" val="4119078486"/>
                    </a:ext>
                  </a:extLst>
                </a:gridCol>
                <a:gridCol w="2540167">
                  <a:extLst>
                    <a:ext uri="{9D8B030D-6E8A-4147-A177-3AD203B41FA5}">
                      <a16:colId xmlns:a16="http://schemas.microsoft.com/office/drawing/2014/main" val="371862353"/>
                    </a:ext>
                  </a:extLst>
                </a:gridCol>
              </a:tblGrid>
              <a:tr h="104717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32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da-DK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32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da-DK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32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Duration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32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InMins</a:t>
                      </a:r>
                      <a:endParaRPr lang="da-DK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32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StudioName</a:t>
                      </a:r>
                      <a:endParaRPr lang="da-DK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88163691"/>
                  </a:ext>
                </a:extLst>
              </a:tr>
              <a:tr h="8726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Se7en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1995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127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Line Cinema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83597378"/>
                  </a:ext>
                </a:extLst>
              </a:tr>
              <a:tr h="8726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Alien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1979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117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lang="en-US" sz="2800" baseline="30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</a:t>
                      </a: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Century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Fox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97639513"/>
                  </a:ext>
                </a:extLst>
              </a:tr>
              <a:tr h="8726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Forrest Gump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1994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142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Paramount Pictures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80531286"/>
                  </a:ext>
                </a:extLst>
              </a:tr>
              <a:tr h="8726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True Grit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2010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110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Paramount Pictures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59942850"/>
                  </a:ext>
                </a:extLst>
              </a:tr>
              <a:tr h="8726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Dark City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1998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111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Line Cinema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715571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95529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8750678"/>
              </p:ext>
            </p:extLst>
          </p:nvPr>
        </p:nvGraphicFramePr>
        <p:xfrm>
          <a:off x="890336" y="2304048"/>
          <a:ext cx="10160670" cy="20995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134">
                  <a:extLst>
                    <a:ext uri="{9D8B030D-6E8A-4147-A177-3AD203B41FA5}">
                      <a16:colId xmlns:a16="http://schemas.microsoft.com/office/drawing/2014/main" val="47363412"/>
                    </a:ext>
                  </a:extLst>
                </a:gridCol>
                <a:gridCol w="2032134">
                  <a:extLst>
                    <a:ext uri="{9D8B030D-6E8A-4147-A177-3AD203B41FA5}">
                      <a16:colId xmlns:a16="http://schemas.microsoft.com/office/drawing/2014/main" val="1977153358"/>
                    </a:ext>
                  </a:extLst>
                </a:gridCol>
                <a:gridCol w="2032134">
                  <a:extLst>
                    <a:ext uri="{9D8B030D-6E8A-4147-A177-3AD203B41FA5}">
                      <a16:colId xmlns:a16="http://schemas.microsoft.com/office/drawing/2014/main" val="3935601631"/>
                    </a:ext>
                  </a:extLst>
                </a:gridCol>
                <a:gridCol w="2032134">
                  <a:extLst>
                    <a:ext uri="{9D8B030D-6E8A-4147-A177-3AD203B41FA5}">
                      <a16:colId xmlns:a16="http://schemas.microsoft.com/office/drawing/2014/main" val="4119078486"/>
                    </a:ext>
                  </a:extLst>
                </a:gridCol>
                <a:gridCol w="2032134">
                  <a:extLst>
                    <a:ext uri="{9D8B030D-6E8A-4147-A177-3AD203B41FA5}">
                      <a16:colId xmlns:a16="http://schemas.microsoft.com/office/drawing/2014/main" val="371862353"/>
                    </a:ext>
                  </a:extLst>
                </a:gridCol>
              </a:tblGrid>
              <a:tr h="209951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71557111"/>
                  </a:ext>
                </a:extLst>
              </a:tr>
            </a:tbl>
          </a:graphicData>
        </a:graphic>
      </p:graphicFrame>
      <p:sp>
        <p:nvSpPr>
          <p:cNvPr id="5" name="Pladsholder til indhold 2"/>
          <p:cNvSpPr>
            <a:spLocks noGrp="1"/>
          </p:cNvSpPr>
          <p:nvPr>
            <p:ph idx="1"/>
          </p:nvPr>
        </p:nvSpPr>
        <p:spPr>
          <a:xfrm>
            <a:off x="890336" y="676609"/>
            <a:ext cx="10515600" cy="11762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a-DK" sz="48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List</a:t>
            </a:r>
            <a:r>
              <a:rPr lang="da-DK" sz="4800" b="1">
                <a:latin typeface="Consolas" panose="020B0609020204030204" pitchFamily="49" charset="0"/>
              </a:rPr>
              <a:t>&lt;</a:t>
            </a:r>
            <a:r>
              <a:rPr lang="da-DK" sz="48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Movie</a:t>
            </a:r>
            <a:r>
              <a:rPr lang="da-DK" sz="4800" b="1">
                <a:latin typeface="Consolas" panose="020B0609020204030204" pitchFamily="49" charset="0"/>
              </a:rPr>
              <a:t>&gt; movies</a:t>
            </a:r>
          </a:p>
        </p:txBody>
      </p:sp>
      <p:sp>
        <p:nvSpPr>
          <p:cNvPr id="2" name="Sky 1"/>
          <p:cNvSpPr/>
          <p:nvPr/>
        </p:nvSpPr>
        <p:spPr>
          <a:xfrm>
            <a:off x="962525" y="2622884"/>
            <a:ext cx="1882942" cy="1648327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200"/>
              <a:t>Movie</a:t>
            </a:r>
          </a:p>
        </p:txBody>
      </p:sp>
      <p:sp>
        <p:nvSpPr>
          <p:cNvPr id="6" name="Sky 5"/>
          <p:cNvSpPr/>
          <p:nvPr/>
        </p:nvSpPr>
        <p:spPr>
          <a:xfrm>
            <a:off x="2979820" y="2529639"/>
            <a:ext cx="1882942" cy="1648327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200"/>
              <a:t>Movie</a:t>
            </a:r>
          </a:p>
        </p:txBody>
      </p:sp>
      <p:sp>
        <p:nvSpPr>
          <p:cNvPr id="7" name="Sky 6"/>
          <p:cNvSpPr/>
          <p:nvPr/>
        </p:nvSpPr>
        <p:spPr>
          <a:xfrm>
            <a:off x="5029200" y="2538662"/>
            <a:ext cx="1882942" cy="1648327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200"/>
              <a:t>Movie</a:t>
            </a:r>
          </a:p>
        </p:txBody>
      </p:sp>
      <p:sp>
        <p:nvSpPr>
          <p:cNvPr id="8" name="Sky 7"/>
          <p:cNvSpPr/>
          <p:nvPr/>
        </p:nvSpPr>
        <p:spPr>
          <a:xfrm>
            <a:off x="7078580" y="2538661"/>
            <a:ext cx="1882942" cy="1648327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200"/>
              <a:t>Movie</a:t>
            </a:r>
          </a:p>
        </p:txBody>
      </p:sp>
      <p:sp>
        <p:nvSpPr>
          <p:cNvPr id="9" name="Sky 8"/>
          <p:cNvSpPr/>
          <p:nvPr/>
        </p:nvSpPr>
        <p:spPr>
          <a:xfrm>
            <a:off x="9095875" y="2532645"/>
            <a:ext cx="1882942" cy="1648327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200"/>
              <a:t>Movie</a:t>
            </a:r>
          </a:p>
        </p:txBody>
      </p:sp>
    </p:spTree>
    <p:extLst>
      <p:ext uri="{BB962C8B-B14F-4D97-AF65-F5344CB8AC3E}">
        <p14:creationId xmlns:p14="http://schemas.microsoft.com/office/powerpoint/2010/main" val="24083207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 3"/>
          <p:cNvGraphicFramePr>
            <a:graphicFrameLocks noGrp="1"/>
          </p:cNvGraphicFramePr>
          <p:nvPr>
            <p:extLst/>
          </p:nvPr>
        </p:nvGraphicFramePr>
        <p:xfrm>
          <a:off x="830178" y="328638"/>
          <a:ext cx="10160668" cy="54104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40167">
                  <a:extLst>
                    <a:ext uri="{9D8B030D-6E8A-4147-A177-3AD203B41FA5}">
                      <a16:colId xmlns:a16="http://schemas.microsoft.com/office/drawing/2014/main" val="47363412"/>
                    </a:ext>
                  </a:extLst>
                </a:gridCol>
                <a:gridCol w="2540167">
                  <a:extLst>
                    <a:ext uri="{9D8B030D-6E8A-4147-A177-3AD203B41FA5}">
                      <a16:colId xmlns:a16="http://schemas.microsoft.com/office/drawing/2014/main" val="3935601631"/>
                    </a:ext>
                  </a:extLst>
                </a:gridCol>
                <a:gridCol w="2540167">
                  <a:extLst>
                    <a:ext uri="{9D8B030D-6E8A-4147-A177-3AD203B41FA5}">
                      <a16:colId xmlns:a16="http://schemas.microsoft.com/office/drawing/2014/main" val="4119078486"/>
                    </a:ext>
                  </a:extLst>
                </a:gridCol>
                <a:gridCol w="2540167">
                  <a:extLst>
                    <a:ext uri="{9D8B030D-6E8A-4147-A177-3AD203B41FA5}">
                      <a16:colId xmlns:a16="http://schemas.microsoft.com/office/drawing/2014/main" val="371862353"/>
                    </a:ext>
                  </a:extLst>
                </a:gridCol>
              </a:tblGrid>
              <a:tr h="104717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32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da-DK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32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da-DK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32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Duration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32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InMins</a:t>
                      </a:r>
                      <a:endParaRPr lang="da-DK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32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StudioName</a:t>
                      </a:r>
                      <a:endParaRPr lang="da-DK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88163691"/>
                  </a:ext>
                </a:extLst>
              </a:tr>
              <a:tr h="8726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Se7en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1995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127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Line Cinema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83597378"/>
                  </a:ext>
                </a:extLst>
              </a:tr>
              <a:tr h="8726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Alien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1979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117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lang="en-US" sz="2800" baseline="30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</a:t>
                      </a: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Century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Fox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97639513"/>
                  </a:ext>
                </a:extLst>
              </a:tr>
              <a:tr h="8726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Forrest Gump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1994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142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Paramount Pictures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80531286"/>
                  </a:ext>
                </a:extLst>
              </a:tr>
              <a:tr h="8726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True Grit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2010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110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Paramount Pictures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59942850"/>
                  </a:ext>
                </a:extLst>
              </a:tr>
              <a:tr h="8726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Dark City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1998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111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Line Cinema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71557111"/>
                  </a:ext>
                </a:extLst>
              </a:tr>
            </a:tbl>
          </a:graphicData>
        </a:graphic>
      </p:graphicFrame>
      <p:sp>
        <p:nvSpPr>
          <p:cNvPr id="3" name="Afrundet rektangulær billedforklaring 2"/>
          <p:cNvSpPr/>
          <p:nvPr/>
        </p:nvSpPr>
        <p:spPr>
          <a:xfrm>
            <a:off x="3759867" y="1979194"/>
            <a:ext cx="4301289" cy="1696453"/>
          </a:xfrm>
          <a:prstGeom prst="wedgeRoundRectCallout">
            <a:avLst>
              <a:gd name="adj1" fmla="val -49784"/>
              <a:gd name="adj2" fmla="val -1657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4800"/>
              <a:t>Identification</a:t>
            </a:r>
          </a:p>
          <a:p>
            <a:pPr algn="ctr"/>
            <a:r>
              <a:rPr lang="da-DK" sz="3600">
                <a:solidFill>
                  <a:srgbClr val="FFFF00"/>
                </a:solidFill>
              </a:rPr>
              <a:t>movies</a:t>
            </a:r>
          </a:p>
        </p:txBody>
      </p:sp>
    </p:spTree>
    <p:extLst>
      <p:ext uri="{BB962C8B-B14F-4D97-AF65-F5344CB8AC3E}">
        <p14:creationId xmlns:p14="http://schemas.microsoft.com/office/powerpoint/2010/main" val="1203276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var</a:t>
            </a:r>
            <a:r>
              <a:rPr lang="en-US" sz="3200" b="1">
                <a:latin typeface="Consolas" panose="020B0609020204030204" pitchFamily="49" charset="0"/>
              </a:rPr>
              <a:t> query = </a:t>
            </a: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from</a:t>
            </a:r>
            <a:r>
              <a:rPr lang="en-US" sz="3200" b="1">
                <a:latin typeface="Consolas" panose="020B0609020204030204" pitchFamily="49" charset="0"/>
              </a:rPr>
              <a:t> m </a:t>
            </a: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in</a:t>
            </a:r>
            <a:r>
              <a:rPr lang="en-US" sz="3200" b="1">
                <a:latin typeface="Consolas" panose="020B0609020204030204" pitchFamily="49" charset="0"/>
              </a:rPr>
              <a:t> movies</a:t>
            </a:r>
          </a:p>
        </p:txBody>
      </p:sp>
    </p:spTree>
    <p:extLst>
      <p:ext uri="{BB962C8B-B14F-4D97-AF65-F5344CB8AC3E}">
        <p14:creationId xmlns:p14="http://schemas.microsoft.com/office/powerpoint/2010/main" val="29080483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var</a:t>
            </a:r>
            <a:r>
              <a:rPr lang="en-US" sz="3200" b="1">
                <a:latin typeface="Consolas" panose="020B0609020204030204" pitchFamily="49" charset="0"/>
              </a:rPr>
              <a:t> query = </a:t>
            </a: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from</a:t>
            </a:r>
            <a:r>
              <a:rPr lang="en-US" sz="3200" b="1">
                <a:latin typeface="Consolas" panose="020B0609020204030204" pitchFamily="49" charset="0"/>
              </a:rPr>
              <a:t> m </a:t>
            </a: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in</a:t>
            </a:r>
            <a:r>
              <a:rPr lang="en-US" sz="3200" b="1">
                <a:latin typeface="Consolas" panose="020B0609020204030204" pitchFamily="49" charset="0"/>
              </a:rPr>
              <a:t> movies</a:t>
            </a:r>
          </a:p>
          <a:p>
            <a:pPr marL="0" indent="0">
              <a:buNone/>
            </a:pPr>
            <a:endParaRPr lang="en-US" sz="3200" b="1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32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NB! Not a valid LINQ statement</a:t>
            </a:r>
            <a:endParaRPr lang="da-DK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72849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1556735"/>
              </p:ext>
            </p:extLst>
          </p:nvPr>
        </p:nvGraphicFramePr>
        <p:xfrm>
          <a:off x="830178" y="328638"/>
          <a:ext cx="10160668" cy="54104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40167">
                  <a:extLst>
                    <a:ext uri="{9D8B030D-6E8A-4147-A177-3AD203B41FA5}">
                      <a16:colId xmlns:a16="http://schemas.microsoft.com/office/drawing/2014/main" val="47363412"/>
                    </a:ext>
                  </a:extLst>
                </a:gridCol>
                <a:gridCol w="2540167">
                  <a:extLst>
                    <a:ext uri="{9D8B030D-6E8A-4147-A177-3AD203B41FA5}">
                      <a16:colId xmlns:a16="http://schemas.microsoft.com/office/drawing/2014/main" val="3935601631"/>
                    </a:ext>
                  </a:extLst>
                </a:gridCol>
                <a:gridCol w="2540167">
                  <a:extLst>
                    <a:ext uri="{9D8B030D-6E8A-4147-A177-3AD203B41FA5}">
                      <a16:colId xmlns:a16="http://schemas.microsoft.com/office/drawing/2014/main" val="4119078486"/>
                    </a:ext>
                  </a:extLst>
                </a:gridCol>
                <a:gridCol w="2540167">
                  <a:extLst>
                    <a:ext uri="{9D8B030D-6E8A-4147-A177-3AD203B41FA5}">
                      <a16:colId xmlns:a16="http://schemas.microsoft.com/office/drawing/2014/main" val="371862353"/>
                    </a:ext>
                  </a:extLst>
                </a:gridCol>
              </a:tblGrid>
              <a:tr h="104717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32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da-DK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32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da-DK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32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Duration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32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InMins</a:t>
                      </a:r>
                      <a:endParaRPr lang="da-DK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32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StudioName</a:t>
                      </a:r>
                      <a:endParaRPr lang="da-DK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88163691"/>
                  </a:ext>
                </a:extLst>
              </a:tr>
              <a:tr h="8726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Se7en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1995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127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Line Cinema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83597378"/>
                  </a:ext>
                </a:extLst>
              </a:tr>
              <a:tr h="8726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Alien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1979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117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lang="en-US" sz="2800" baseline="30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</a:t>
                      </a: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Century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Fox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97639513"/>
                  </a:ext>
                </a:extLst>
              </a:tr>
              <a:tr h="8726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Forrest Gump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1994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142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Paramount Pictures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80531286"/>
                  </a:ext>
                </a:extLst>
              </a:tr>
              <a:tr h="8726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True Grit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2010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110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Paramount Pictures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59942850"/>
                  </a:ext>
                </a:extLst>
              </a:tr>
              <a:tr h="8726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Dark City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1998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111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Line Cinema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71557111"/>
                  </a:ext>
                </a:extLst>
              </a:tr>
            </a:tbl>
          </a:graphicData>
        </a:graphic>
      </p:graphicFrame>
      <p:sp>
        <p:nvSpPr>
          <p:cNvPr id="2" name="Afrundet rektangulær billedforklaring 1"/>
          <p:cNvSpPr/>
          <p:nvPr/>
        </p:nvSpPr>
        <p:spPr>
          <a:xfrm>
            <a:off x="6286500" y="1275347"/>
            <a:ext cx="4301289" cy="1696453"/>
          </a:xfrm>
          <a:prstGeom prst="wedgeRoundRectCallout">
            <a:avLst>
              <a:gd name="adj1" fmla="val -98036"/>
              <a:gd name="adj2" fmla="val -6693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4800"/>
              <a:t>Selection</a:t>
            </a:r>
          </a:p>
          <a:p>
            <a:pPr algn="ctr"/>
            <a:r>
              <a:rPr lang="da-DK" sz="3600">
                <a:solidFill>
                  <a:srgbClr val="FFFF00"/>
                </a:solidFill>
              </a:rPr>
              <a:t>(Title, Year)</a:t>
            </a:r>
          </a:p>
        </p:txBody>
      </p:sp>
    </p:spTree>
    <p:extLst>
      <p:ext uri="{BB962C8B-B14F-4D97-AF65-F5344CB8AC3E}">
        <p14:creationId xmlns:p14="http://schemas.microsoft.com/office/powerpoint/2010/main" val="10364575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var</a:t>
            </a:r>
            <a:r>
              <a:rPr lang="en-US" sz="3200" b="1">
                <a:latin typeface="Consolas" panose="020B0609020204030204" pitchFamily="49" charset="0"/>
              </a:rPr>
              <a:t> query = </a:t>
            </a: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from</a:t>
            </a:r>
            <a:r>
              <a:rPr lang="en-US" sz="3200" b="1">
                <a:latin typeface="Consolas" panose="020B0609020204030204" pitchFamily="49" charset="0"/>
              </a:rPr>
              <a:t> m </a:t>
            </a: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in</a:t>
            </a:r>
            <a:r>
              <a:rPr lang="en-US" sz="3200" b="1">
                <a:latin typeface="Consolas" panose="020B0609020204030204" pitchFamily="49" charset="0"/>
              </a:rPr>
              <a:t> movies</a:t>
            </a:r>
          </a:p>
          <a:p>
            <a:pPr marL="0" indent="0">
              <a:buNone/>
            </a:pPr>
            <a:endParaRPr lang="en-US" sz="3200" b="1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79362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var</a:t>
            </a:r>
            <a:r>
              <a:rPr lang="en-US" sz="3200" b="1">
                <a:latin typeface="Consolas" panose="020B0609020204030204" pitchFamily="49" charset="0"/>
              </a:rPr>
              <a:t> query = </a:t>
            </a: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from</a:t>
            </a:r>
            <a:r>
              <a:rPr lang="en-US" sz="3200" b="1">
                <a:latin typeface="Consolas" panose="020B0609020204030204" pitchFamily="49" charset="0"/>
              </a:rPr>
              <a:t> m </a:t>
            </a: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in</a:t>
            </a:r>
            <a:r>
              <a:rPr lang="en-US" sz="3200" b="1">
                <a:latin typeface="Consolas" panose="020B0609020204030204" pitchFamily="49" charset="0"/>
              </a:rPr>
              <a:t> movies</a:t>
            </a:r>
            <a:endParaRPr lang="da-DK" sz="3200" b="1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			</a:t>
            </a: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select</a:t>
            </a:r>
            <a:r>
              <a:rPr lang="en-US" sz="3200" b="1">
                <a:latin typeface="Consolas" panose="020B0609020204030204" pitchFamily="49" charset="0"/>
              </a:rPr>
              <a:t> m.Title;</a:t>
            </a:r>
            <a:endParaRPr lang="da-DK" sz="3200" b="1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da-DK"/>
          </a:p>
        </p:txBody>
      </p:sp>
      <p:sp>
        <p:nvSpPr>
          <p:cNvPr id="2" name="Afrundet rektangulær billedforklaring 1"/>
          <p:cNvSpPr/>
          <p:nvPr/>
        </p:nvSpPr>
        <p:spPr>
          <a:xfrm>
            <a:off x="1037967" y="3525558"/>
            <a:ext cx="4077731" cy="1346887"/>
          </a:xfrm>
          <a:prstGeom prst="wedgeRoundRectCallout">
            <a:avLst>
              <a:gd name="adj1" fmla="val -42954"/>
              <a:gd name="adj2" fmla="val -13566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3200"/>
              <a:t>Type of return value:</a:t>
            </a:r>
          </a:p>
          <a:p>
            <a:r>
              <a:rPr lang="da-DK" sz="3200" b="1"/>
              <a:t>IEnumerable&lt;string&gt;</a:t>
            </a:r>
          </a:p>
        </p:txBody>
      </p:sp>
    </p:spTree>
    <p:extLst>
      <p:ext uri="{BB962C8B-B14F-4D97-AF65-F5344CB8AC3E}">
        <p14:creationId xmlns:p14="http://schemas.microsoft.com/office/powerpoint/2010/main" val="5291648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8665831"/>
              </p:ext>
            </p:extLst>
          </p:nvPr>
        </p:nvGraphicFramePr>
        <p:xfrm>
          <a:off x="890336" y="2725403"/>
          <a:ext cx="10160670" cy="20995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134">
                  <a:extLst>
                    <a:ext uri="{9D8B030D-6E8A-4147-A177-3AD203B41FA5}">
                      <a16:colId xmlns:a16="http://schemas.microsoft.com/office/drawing/2014/main" val="47363412"/>
                    </a:ext>
                  </a:extLst>
                </a:gridCol>
                <a:gridCol w="2032134">
                  <a:extLst>
                    <a:ext uri="{9D8B030D-6E8A-4147-A177-3AD203B41FA5}">
                      <a16:colId xmlns:a16="http://schemas.microsoft.com/office/drawing/2014/main" val="1977153358"/>
                    </a:ext>
                  </a:extLst>
                </a:gridCol>
                <a:gridCol w="2032134">
                  <a:extLst>
                    <a:ext uri="{9D8B030D-6E8A-4147-A177-3AD203B41FA5}">
                      <a16:colId xmlns:a16="http://schemas.microsoft.com/office/drawing/2014/main" val="3935601631"/>
                    </a:ext>
                  </a:extLst>
                </a:gridCol>
                <a:gridCol w="2032134">
                  <a:extLst>
                    <a:ext uri="{9D8B030D-6E8A-4147-A177-3AD203B41FA5}">
                      <a16:colId xmlns:a16="http://schemas.microsoft.com/office/drawing/2014/main" val="4119078486"/>
                    </a:ext>
                  </a:extLst>
                </a:gridCol>
                <a:gridCol w="2032134">
                  <a:extLst>
                    <a:ext uri="{9D8B030D-6E8A-4147-A177-3AD203B41FA5}">
                      <a16:colId xmlns:a16="http://schemas.microsoft.com/office/drawing/2014/main" val="371862353"/>
                    </a:ext>
                  </a:extLst>
                </a:gridCol>
              </a:tblGrid>
              <a:tr h="209951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71557111"/>
                  </a:ext>
                </a:extLst>
              </a:tr>
            </a:tbl>
          </a:graphicData>
        </a:graphic>
      </p:graphicFrame>
      <p:sp>
        <p:nvSpPr>
          <p:cNvPr id="5" name="Pladsholder til indhold 2"/>
          <p:cNvSpPr>
            <a:spLocks noGrp="1"/>
          </p:cNvSpPr>
          <p:nvPr>
            <p:ph idx="1"/>
          </p:nvPr>
        </p:nvSpPr>
        <p:spPr>
          <a:xfrm>
            <a:off x="890336" y="676609"/>
            <a:ext cx="10515600" cy="11762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from</a:t>
            </a:r>
            <a:r>
              <a:rPr lang="en-US" sz="4800" b="1">
                <a:latin typeface="Consolas" panose="020B0609020204030204" pitchFamily="49" charset="0"/>
              </a:rPr>
              <a:t> m </a:t>
            </a:r>
            <a:r>
              <a:rPr lang="en-US" sz="48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in</a:t>
            </a:r>
            <a:r>
              <a:rPr lang="en-US" sz="4800" b="1">
                <a:latin typeface="Consolas" panose="020B0609020204030204" pitchFamily="49" charset="0"/>
              </a:rPr>
              <a:t> movies</a:t>
            </a:r>
            <a:endParaRPr lang="da-DK" sz="4800" b="1">
              <a:latin typeface="Consolas" panose="020B0609020204030204" pitchFamily="49" charset="0"/>
            </a:endParaRPr>
          </a:p>
        </p:txBody>
      </p:sp>
      <p:sp>
        <p:nvSpPr>
          <p:cNvPr id="2" name="Sky 1"/>
          <p:cNvSpPr/>
          <p:nvPr/>
        </p:nvSpPr>
        <p:spPr>
          <a:xfrm>
            <a:off x="962525" y="3044239"/>
            <a:ext cx="1882942" cy="1648327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200"/>
              <a:t>Movie</a:t>
            </a:r>
          </a:p>
        </p:txBody>
      </p:sp>
      <p:sp>
        <p:nvSpPr>
          <p:cNvPr id="6" name="Sky 5"/>
          <p:cNvSpPr/>
          <p:nvPr/>
        </p:nvSpPr>
        <p:spPr>
          <a:xfrm>
            <a:off x="2979820" y="2950994"/>
            <a:ext cx="1882942" cy="1648327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200"/>
              <a:t>Movie</a:t>
            </a:r>
          </a:p>
        </p:txBody>
      </p:sp>
      <p:sp>
        <p:nvSpPr>
          <p:cNvPr id="7" name="Sky 6"/>
          <p:cNvSpPr/>
          <p:nvPr/>
        </p:nvSpPr>
        <p:spPr>
          <a:xfrm>
            <a:off x="5029200" y="2960017"/>
            <a:ext cx="1882942" cy="1648327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200"/>
              <a:t>Movie</a:t>
            </a:r>
          </a:p>
        </p:txBody>
      </p:sp>
      <p:sp>
        <p:nvSpPr>
          <p:cNvPr id="8" name="Sky 7"/>
          <p:cNvSpPr/>
          <p:nvPr/>
        </p:nvSpPr>
        <p:spPr>
          <a:xfrm>
            <a:off x="7078580" y="2960016"/>
            <a:ext cx="1882942" cy="1648327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200"/>
              <a:t>Movie</a:t>
            </a:r>
          </a:p>
        </p:txBody>
      </p:sp>
      <p:sp>
        <p:nvSpPr>
          <p:cNvPr id="9" name="Sky 8"/>
          <p:cNvSpPr/>
          <p:nvPr/>
        </p:nvSpPr>
        <p:spPr>
          <a:xfrm>
            <a:off x="9095875" y="2954000"/>
            <a:ext cx="1882942" cy="1648327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200"/>
              <a:t>Movie</a:t>
            </a:r>
          </a:p>
        </p:txBody>
      </p:sp>
    </p:spTree>
    <p:extLst>
      <p:ext uri="{BB962C8B-B14F-4D97-AF65-F5344CB8AC3E}">
        <p14:creationId xmlns:p14="http://schemas.microsoft.com/office/powerpoint/2010/main" val="12078562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5680117"/>
              </p:ext>
            </p:extLst>
          </p:nvPr>
        </p:nvGraphicFramePr>
        <p:xfrm>
          <a:off x="890336" y="2725403"/>
          <a:ext cx="10160670" cy="20995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134">
                  <a:extLst>
                    <a:ext uri="{9D8B030D-6E8A-4147-A177-3AD203B41FA5}">
                      <a16:colId xmlns:a16="http://schemas.microsoft.com/office/drawing/2014/main" val="47363412"/>
                    </a:ext>
                  </a:extLst>
                </a:gridCol>
                <a:gridCol w="2032134">
                  <a:extLst>
                    <a:ext uri="{9D8B030D-6E8A-4147-A177-3AD203B41FA5}">
                      <a16:colId xmlns:a16="http://schemas.microsoft.com/office/drawing/2014/main" val="1977153358"/>
                    </a:ext>
                  </a:extLst>
                </a:gridCol>
                <a:gridCol w="2032134">
                  <a:extLst>
                    <a:ext uri="{9D8B030D-6E8A-4147-A177-3AD203B41FA5}">
                      <a16:colId xmlns:a16="http://schemas.microsoft.com/office/drawing/2014/main" val="3935601631"/>
                    </a:ext>
                  </a:extLst>
                </a:gridCol>
                <a:gridCol w="2032134">
                  <a:extLst>
                    <a:ext uri="{9D8B030D-6E8A-4147-A177-3AD203B41FA5}">
                      <a16:colId xmlns:a16="http://schemas.microsoft.com/office/drawing/2014/main" val="4119078486"/>
                    </a:ext>
                  </a:extLst>
                </a:gridCol>
                <a:gridCol w="2032134">
                  <a:extLst>
                    <a:ext uri="{9D8B030D-6E8A-4147-A177-3AD203B41FA5}">
                      <a16:colId xmlns:a16="http://schemas.microsoft.com/office/drawing/2014/main" val="371862353"/>
                    </a:ext>
                  </a:extLst>
                </a:gridCol>
              </a:tblGrid>
              <a:tr h="209951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a-DK" sz="2800" b="1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”Se7en”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a-DK" sz="2800" b="1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”Alien”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a-DK" sz="2800" b="1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”Forest Gump”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a-DK" sz="2800" b="1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”True Grit”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a-DK" sz="2800" b="1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”Dark City”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71557111"/>
                  </a:ext>
                </a:extLst>
              </a:tr>
            </a:tbl>
          </a:graphicData>
        </a:graphic>
      </p:graphicFrame>
      <p:sp>
        <p:nvSpPr>
          <p:cNvPr id="5" name="Pladsholder til indhold 2"/>
          <p:cNvSpPr>
            <a:spLocks noGrp="1"/>
          </p:cNvSpPr>
          <p:nvPr>
            <p:ph idx="1"/>
          </p:nvPr>
        </p:nvSpPr>
        <p:spPr>
          <a:xfrm>
            <a:off x="890336" y="676608"/>
            <a:ext cx="10515600" cy="19164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from</a:t>
            </a:r>
            <a:r>
              <a:rPr lang="en-US" sz="4800" b="1">
                <a:latin typeface="Consolas" panose="020B0609020204030204" pitchFamily="49" charset="0"/>
              </a:rPr>
              <a:t> m </a:t>
            </a:r>
            <a:r>
              <a:rPr lang="en-US" sz="48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in</a:t>
            </a:r>
            <a:r>
              <a:rPr lang="en-US" sz="4800" b="1">
                <a:latin typeface="Consolas" panose="020B0609020204030204" pitchFamily="49" charset="0"/>
              </a:rPr>
              <a:t> movies</a:t>
            </a:r>
          </a:p>
          <a:p>
            <a:pPr marL="0" indent="0">
              <a:buNone/>
            </a:pPr>
            <a:r>
              <a:rPr lang="en-US" sz="48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select</a:t>
            </a:r>
            <a:r>
              <a:rPr lang="en-US" sz="4800" b="1">
                <a:latin typeface="Consolas" panose="020B0609020204030204" pitchFamily="49" charset="0"/>
              </a:rPr>
              <a:t> m.Title;</a:t>
            </a:r>
            <a:endParaRPr lang="da-DK" sz="4800" b="1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da-DK" sz="4800" b="1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51235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var</a:t>
            </a:r>
            <a:r>
              <a:rPr lang="en-US" sz="3200" b="1">
                <a:latin typeface="Consolas" panose="020B0609020204030204" pitchFamily="49" charset="0"/>
              </a:rPr>
              <a:t> query = </a:t>
            </a: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from</a:t>
            </a:r>
            <a:r>
              <a:rPr lang="en-US" sz="3200" b="1">
                <a:latin typeface="Consolas" panose="020B0609020204030204" pitchFamily="49" charset="0"/>
              </a:rPr>
              <a:t> m </a:t>
            </a: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in</a:t>
            </a:r>
            <a:r>
              <a:rPr lang="en-US" sz="3200" b="1">
                <a:latin typeface="Consolas" panose="020B0609020204030204" pitchFamily="49" charset="0"/>
              </a:rPr>
              <a:t> movies</a:t>
            </a:r>
            <a:endParaRPr lang="da-DK" sz="3200" b="1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			</a:t>
            </a: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select</a:t>
            </a:r>
            <a:r>
              <a:rPr lang="en-US" sz="3200" b="1">
                <a:latin typeface="Consolas" panose="020B0609020204030204" pitchFamily="49" charset="0"/>
              </a:rPr>
              <a:t> </a:t>
            </a: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new</a:t>
            </a:r>
            <a:r>
              <a:rPr lang="en-US" sz="3200" b="1">
                <a:latin typeface="Consolas" panose="020B0609020204030204" pitchFamily="49" charset="0"/>
              </a:rPr>
              <a:t> {m.Title, m.Year};</a:t>
            </a:r>
            <a:endParaRPr lang="da-DK" sz="3200" b="1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da-DK"/>
          </a:p>
        </p:txBody>
      </p:sp>
      <p:sp>
        <p:nvSpPr>
          <p:cNvPr id="4" name="Afrundet rektangulær billedforklaring 3"/>
          <p:cNvSpPr/>
          <p:nvPr/>
        </p:nvSpPr>
        <p:spPr>
          <a:xfrm>
            <a:off x="1013254" y="3488487"/>
            <a:ext cx="4077731" cy="1346887"/>
          </a:xfrm>
          <a:prstGeom prst="wedgeRoundRectCallout">
            <a:avLst>
              <a:gd name="adj1" fmla="val -42954"/>
              <a:gd name="adj2" fmla="val -13566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3200"/>
              <a:t>Type of return value:</a:t>
            </a:r>
          </a:p>
          <a:p>
            <a:r>
              <a:rPr lang="da-DK" sz="3200" b="1"/>
              <a:t>IEnumerable&lt;???&gt;</a:t>
            </a:r>
          </a:p>
        </p:txBody>
      </p:sp>
    </p:spTree>
    <p:extLst>
      <p:ext uri="{BB962C8B-B14F-4D97-AF65-F5344CB8AC3E}">
        <p14:creationId xmlns:p14="http://schemas.microsoft.com/office/powerpoint/2010/main" val="30385127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 3"/>
          <p:cNvGraphicFramePr>
            <a:graphicFrameLocks noGrp="1"/>
          </p:cNvGraphicFramePr>
          <p:nvPr>
            <p:extLst/>
          </p:nvPr>
        </p:nvGraphicFramePr>
        <p:xfrm>
          <a:off x="890336" y="2725403"/>
          <a:ext cx="10160670" cy="20995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134">
                  <a:extLst>
                    <a:ext uri="{9D8B030D-6E8A-4147-A177-3AD203B41FA5}">
                      <a16:colId xmlns:a16="http://schemas.microsoft.com/office/drawing/2014/main" val="47363412"/>
                    </a:ext>
                  </a:extLst>
                </a:gridCol>
                <a:gridCol w="2032134">
                  <a:extLst>
                    <a:ext uri="{9D8B030D-6E8A-4147-A177-3AD203B41FA5}">
                      <a16:colId xmlns:a16="http://schemas.microsoft.com/office/drawing/2014/main" val="1977153358"/>
                    </a:ext>
                  </a:extLst>
                </a:gridCol>
                <a:gridCol w="2032134">
                  <a:extLst>
                    <a:ext uri="{9D8B030D-6E8A-4147-A177-3AD203B41FA5}">
                      <a16:colId xmlns:a16="http://schemas.microsoft.com/office/drawing/2014/main" val="3935601631"/>
                    </a:ext>
                  </a:extLst>
                </a:gridCol>
                <a:gridCol w="2032134">
                  <a:extLst>
                    <a:ext uri="{9D8B030D-6E8A-4147-A177-3AD203B41FA5}">
                      <a16:colId xmlns:a16="http://schemas.microsoft.com/office/drawing/2014/main" val="4119078486"/>
                    </a:ext>
                  </a:extLst>
                </a:gridCol>
                <a:gridCol w="2032134">
                  <a:extLst>
                    <a:ext uri="{9D8B030D-6E8A-4147-A177-3AD203B41FA5}">
                      <a16:colId xmlns:a16="http://schemas.microsoft.com/office/drawing/2014/main" val="371862353"/>
                    </a:ext>
                  </a:extLst>
                </a:gridCol>
              </a:tblGrid>
              <a:tr h="209951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71557111"/>
                  </a:ext>
                </a:extLst>
              </a:tr>
            </a:tbl>
          </a:graphicData>
        </a:graphic>
      </p:graphicFrame>
      <p:sp>
        <p:nvSpPr>
          <p:cNvPr id="5" name="Pladsholder til indhold 2"/>
          <p:cNvSpPr>
            <a:spLocks noGrp="1"/>
          </p:cNvSpPr>
          <p:nvPr>
            <p:ph idx="1"/>
          </p:nvPr>
        </p:nvSpPr>
        <p:spPr>
          <a:xfrm>
            <a:off x="890336" y="676609"/>
            <a:ext cx="10515600" cy="11762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from</a:t>
            </a:r>
            <a:r>
              <a:rPr lang="en-US" sz="4800" b="1">
                <a:latin typeface="Consolas" panose="020B0609020204030204" pitchFamily="49" charset="0"/>
              </a:rPr>
              <a:t> m </a:t>
            </a:r>
            <a:r>
              <a:rPr lang="en-US" sz="48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in</a:t>
            </a:r>
            <a:r>
              <a:rPr lang="en-US" sz="4800" b="1">
                <a:latin typeface="Consolas" panose="020B0609020204030204" pitchFamily="49" charset="0"/>
              </a:rPr>
              <a:t> movies</a:t>
            </a:r>
            <a:endParaRPr lang="da-DK" sz="4800" b="1">
              <a:latin typeface="Consolas" panose="020B0609020204030204" pitchFamily="49" charset="0"/>
            </a:endParaRPr>
          </a:p>
        </p:txBody>
      </p:sp>
      <p:sp>
        <p:nvSpPr>
          <p:cNvPr id="2" name="Sky 1"/>
          <p:cNvSpPr/>
          <p:nvPr/>
        </p:nvSpPr>
        <p:spPr>
          <a:xfrm>
            <a:off x="962525" y="3044239"/>
            <a:ext cx="1882942" cy="1648327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200"/>
              <a:t>Movie</a:t>
            </a:r>
          </a:p>
        </p:txBody>
      </p:sp>
      <p:sp>
        <p:nvSpPr>
          <p:cNvPr id="6" name="Sky 5"/>
          <p:cNvSpPr/>
          <p:nvPr/>
        </p:nvSpPr>
        <p:spPr>
          <a:xfrm>
            <a:off x="2979820" y="2950994"/>
            <a:ext cx="1882942" cy="1648327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200"/>
              <a:t>Movie</a:t>
            </a:r>
          </a:p>
        </p:txBody>
      </p:sp>
      <p:sp>
        <p:nvSpPr>
          <p:cNvPr id="7" name="Sky 6"/>
          <p:cNvSpPr/>
          <p:nvPr/>
        </p:nvSpPr>
        <p:spPr>
          <a:xfrm>
            <a:off x="5029200" y="2960017"/>
            <a:ext cx="1882942" cy="1648327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200"/>
              <a:t>Movie</a:t>
            </a:r>
          </a:p>
        </p:txBody>
      </p:sp>
      <p:sp>
        <p:nvSpPr>
          <p:cNvPr id="8" name="Sky 7"/>
          <p:cNvSpPr/>
          <p:nvPr/>
        </p:nvSpPr>
        <p:spPr>
          <a:xfrm>
            <a:off x="7078580" y="2960016"/>
            <a:ext cx="1882942" cy="1648327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200"/>
              <a:t>Movie</a:t>
            </a:r>
          </a:p>
        </p:txBody>
      </p:sp>
      <p:sp>
        <p:nvSpPr>
          <p:cNvPr id="9" name="Sky 8"/>
          <p:cNvSpPr/>
          <p:nvPr/>
        </p:nvSpPr>
        <p:spPr>
          <a:xfrm>
            <a:off x="9095875" y="2954000"/>
            <a:ext cx="1882942" cy="1648327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200"/>
              <a:t>Movie</a:t>
            </a:r>
          </a:p>
        </p:txBody>
      </p:sp>
    </p:spTree>
    <p:extLst>
      <p:ext uri="{BB962C8B-B14F-4D97-AF65-F5344CB8AC3E}">
        <p14:creationId xmlns:p14="http://schemas.microsoft.com/office/powerpoint/2010/main" val="31746750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 3"/>
          <p:cNvGraphicFramePr>
            <a:graphicFrameLocks noGrp="1"/>
          </p:cNvGraphicFramePr>
          <p:nvPr>
            <p:extLst/>
          </p:nvPr>
        </p:nvGraphicFramePr>
        <p:xfrm>
          <a:off x="890336" y="2725403"/>
          <a:ext cx="10160670" cy="20995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134">
                  <a:extLst>
                    <a:ext uri="{9D8B030D-6E8A-4147-A177-3AD203B41FA5}">
                      <a16:colId xmlns:a16="http://schemas.microsoft.com/office/drawing/2014/main" val="47363412"/>
                    </a:ext>
                  </a:extLst>
                </a:gridCol>
                <a:gridCol w="2032134">
                  <a:extLst>
                    <a:ext uri="{9D8B030D-6E8A-4147-A177-3AD203B41FA5}">
                      <a16:colId xmlns:a16="http://schemas.microsoft.com/office/drawing/2014/main" val="1977153358"/>
                    </a:ext>
                  </a:extLst>
                </a:gridCol>
                <a:gridCol w="2032134">
                  <a:extLst>
                    <a:ext uri="{9D8B030D-6E8A-4147-A177-3AD203B41FA5}">
                      <a16:colId xmlns:a16="http://schemas.microsoft.com/office/drawing/2014/main" val="3935601631"/>
                    </a:ext>
                  </a:extLst>
                </a:gridCol>
                <a:gridCol w="2032134">
                  <a:extLst>
                    <a:ext uri="{9D8B030D-6E8A-4147-A177-3AD203B41FA5}">
                      <a16:colId xmlns:a16="http://schemas.microsoft.com/office/drawing/2014/main" val="4119078486"/>
                    </a:ext>
                  </a:extLst>
                </a:gridCol>
                <a:gridCol w="2032134">
                  <a:extLst>
                    <a:ext uri="{9D8B030D-6E8A-4147-A177-3AD203B41FA5}">
                      <a16:colId xmlns:a16="http://schemas.microsoft.com/office/drawing/2014/main" val="371862353"/>
                    </a:ext>
                  </a:extLst>
                </a:gridCol>
              </a:tblGrid>
              <a:tr h="209951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71557111"/>
                  </a:ext>
                </a:extLst>
              </a:tr>
            </a:tbl>
          </a:graphicData>
        </a:graphic>
      </p:graphicFrame>
      <p:sp>
        <p:nvSpPr>
          <p:cNvPr id="5" name="Pladsholder til indhold 2"/>
          <p:cNvSpPr>
            <a:spLocks noGrp="1"/>
          </p:cNvSpPr>
          <p:nvPr>
            <p:ph idx="1"/>
          </p:nvPr>
        </p:nvSpPr>
        <p:spPr>
          <a:xfrm>
            <a:off x="890336" y="676608"/>
            <a:ext cx="10515600" cy="19164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from</a:t>
            </a:r>
            <a:r>
              <a:rPr lang="en-US" sz="4800" b="1">
                <a:latin typeface="Consolas" panose="020B0609020204030204" pitchFamily="49" charset="0"/>
              </a:rPr>
              <a:t> m </a:t>
            </a:r>
            <a:r>
              <a:rPr lang="en-US" sz="48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in</a:t>
            </a:r>
            <a:r>
              <a:rPr lang="en-US" sz="4800" b="1">
                <a:latin typeface="Consolas" panose="020B0609020204030204" pitchFamily="49" charset="0"/>
              </a:rPr>
              <a:t> movies</a:t>
            </a:r>
          </a:p>
          <a:p>
            <a:pPr marL="0" indent="0">
              <a:buNone/>
            </a:pPr>
            <a:r>
              <a:rPr lang="en-US" sz="48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select</a:t>
            </a:r>
            <a:r>
              <a:rPr lang="en-US" sz="4800" b="1">
                <a:latin typeface="Consolas" panose="020B0609020204030204" pitchFamily="49" charset="0"/>
              </a:rPr>
              <a:t> </a:t>
            </a:r>
            <a:r>
              <a:rPr lang="en-US" sz="48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new</a:t>
            </a:r>
            <a:r>
              <a:rPr lang="en-US" sz="4800" b="1">
                <a:latin typeface="Consolas" panose="020B0609020204030204" pitchFamily="49" charset="0"/>
              </a:rPr>
              <a:t> {m.Title, m.Year};</a:t>
            </a:r>
            <a:endParaRPr lang="da-DK" sz="4800" b="1">
              <a:latin typeface="Consolas" panose="020B0609020204030204" pitchFamily="49" charset="0"/>
            </a:endParaRPr>
          </a:p>
        </p:txBody>
      </p:sp>
      <p:sp>
        <p:nvSpPr>
          <p:cNvPr id="2" name="Sky 1"/>
          <p:cNvSpPr/>
          <p:nvPr/>
        </p:nvSpPr>
        <p:spPr>
          <a:xfrm>
            <a:off x="962525" y="3044239"/>
            <a:ext cx="1882942" cy="1648327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>
                <a:solidFill>
                  <a:srgbClr val="C00000"/>
                </a:solidFill>
              </a:rPr>
              <a:t>”Se7en”</a:t>
            </a:r>
          </a:p>
          <a:p>
            <a:pPr algn="ctr"/>
            <a:r>
              <a:rPr lang="da-DK" sz="2400">
                <a:solidFill>
                  <a:srgbClr val="FFFF00"/>
                </a:solidFill>
              </a:rPr>
              <a:t>1995</a:t>
            </a:r>
          </a:p>
        </p:txBody>
      </p:sp>
      <p:sp>
        <p:nvSpPr>
          <p:cNvPr id="7" name="Sky 6"/>
          <p:cNvSpPr/>
          <p:nvPr/>
        </p:nvSpPr>
        <p:spPr>
          <a:xfrm>
            <a:off x="5029200" y="2960017"/>
            <a:ext cx="1882942" cy="1648327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/>
              <a:t>…</a:t>
            </a:r>
          </a:p>
        </p:txBody>
      </p:sp>
      <p:sp>
        <p:nvSpPr>
          <p:cNvPr id="8" name="Sky 7"/>
          <p:cNvSpPr/>
          <p:nvPr/>
        </p:nvSpPr>
        <p:spPr>
          <a:xfrm>
            <a:off x="7078580" y="2960016"/>
            <a:ext cx="1882942" cy="1648327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/>
              <a:t>…</a:t>
            </a:r>
          </a:p>
        </p:txBody>
      </p:sp>
      <p:sp>
        <p:nvSpPr>
          <p:cNvPr id="9" name="Sky 8"/>
          <p:cNvSpPr/>
          <p:nvPr/>
        </p:nvSpPr>
        <p:spPr>
          <a:xfrm>
            <a:off x="9095875" y="2954000"/>
            <a:ext cx="1882942" cy="1648327"/>
          </a:xfrm>
          <a:prstGeom prst="cloud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/>
              <a:t>…</a:t>
            </a:r>
          </a:p>
        </p:txBody>
      </p:sp>
      <p:sp>
        <p:nvSpPr>
          <p:cNvPr id="10" name="Sky 9">
            <a:extLst>
              <a:ext uri="{FF2B5EF4-FFF2-40B4-BE49-F238E27FC236}">
                <a16:creationId xmlns:a16="http://schemas.microsoft.com/office/drawing/2014/main" id="{65B304F6-44EB-4C48-8446-2CE952082A4D}"/>
              </a:ext>
            </a:extLst>
          </p:cNvPr>
          <p:cNvSpPr/>
          <p:nvPr/>
        </p:nvSpPr>
        <p:spPr>
          <a:xfrm>
            <a:off x="2995862" y="3044239"/>
            <a:ext cx="1882942" cy="1648327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>
                <a:solidFill>
                  <a:srgbClr val="C00000"/>
                </a:solidFill>
              </a:rPr>
              <a:t>”Alien”</a:t>
            </a:r>
          </a:p>
          <a:p>
            <a:pPr algn="ctr"/>
            <a:r>
              <a:rPr lang="da-DK" sz="2400">
                <a:solidFill>
                  <a:srgbClr val="FFFF00"/>
                </a:solidFill>
              </a:rPr>
              <a:t>1979</a:t>
            </a:r>
          </a:p>
        </p:txBody>
      </p:sp>
    </p:spTree>
    <p:extLst>
      <p:ext uri="{BB962C8B-B14F-4D97-AF65-F5344CB8AC3E}">
        <p14:creationId xmlns:p14="http://schemas.microsoft.com/office/powerpoint/2010/main" val="36002528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290124"/>
              </p:ext>
            </p:extLst>
          </p:nvPr>
        </p:nvGraphicFramePr>
        <p:xfrm>
          <a:off x="830178" y="328638"/>
          <a:ext cx="5080334" cy="54104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40167">
                  <a:extLst>
                    <a:ext uri="{9D8B030D-6E8A-4147-A177-3AD203B41FA5}">
                      <a16:colId xmlns:a16="http://schemas.microsoft.com/office/drawing/2014/main" val="47363412"/>
                    </a:ext>
                  </a:extLst>
                </a:gridCol>
                <a:gridCol w="2540167">
                  <a:extLst>
                    <a:ext uri="{9D8B030D-6E8A-4147-A177-3AD203B41FA5}">
                      <a16:colId xmlns:a16="http://schemas.microsoft.com/office/drawing/2014/main" val="3935601631"/>
                    </a:ext>
                  </a:extLst>
                </a:gridCol>
              </a:tblGrid>
              <a:tr h="104717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32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da-DK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32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da-DK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8163691"/>
                  </a:ext>
                </a:extLst>
              </a:tr>
              <a:tr h="8726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Se7en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1995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3597378"/>
                  </a:ext>
                </a:extLst>
              </a:tr>
              <a:tr h="8726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Alien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1979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7639513"/>
                  </a:ext>
                </a:extLst>
              </a:tr>
              <a:tr h="8726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Forrest Gump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1994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531286"/>
                  </a:ext>
                </a:extLst>
              </a:tr>
              <a:tr h="8726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True Grit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2010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9942850"/>
                  </a:ext>
                </a:extLst>
              </a:tr>
              <a:tr h="8726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Dark City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1998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15571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65335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el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5160628"/>
              </p:ext>
            </p:extLst>
          </p:nvPr>
        </p:nvGraphicFramePr>
        <p:xfrm>
          <a:off x="830178" y="328638"/>
          <a:ext cx="5080334" cy="54104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40167">
                  <a:extLst>
                    <a:ext uri="{9D8B030D-6E8A-4147-A177-3AD203B41FA5}">
                      <a16:colId xmlns:a16="http://schemas.microsoft.com/office/drawing/2014/main" val="47363412"/>
                    </a:ext>
                  </a:extLst>
                </a:gridCol>
                <a:gridCol w="2540167">
                  <a:extLst>
                    <a:ext uri="{9D8B030D-6E8A-4147-A177-3AD203B41FA5}">
                      <a16:colId xmlns:a16="http://schemas.microsoft.com/office/drawing/2014/main" val="3935601631"/>
                    </a:ext>
                  </a:extLst>
                </a:gridCol>
              </a:tblGrid>
              <a:tr h="104717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32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da-DK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32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da-DK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8163691"/>
                  </a:ext>
                </a:extLst>
              </a:tr>
              <a:tr h="8726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Se7en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1995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3597378"/>
                  </a:ext>
                </a:extLst>
              </a:tr>
              <a:tr h="8726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Alien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1979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7639513"/>
                  </a:ext>
                </a:extLst>
              </a:tr>
              <a:tr h="8726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Forrest Gump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1994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531286"/>
                  </a:ext>
                </a:extLst>
              </a:tr>
              <a:tr h="8726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True Grit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2010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9942850"/>
                  </a:ext>
                </a:extLst>
              </a:tr>
              <a:tr h="8726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Dark City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1998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1557111"/>
                  </a:ext>
                </a:extLst>
              </a:tr>
            </a:tbl>
          </a:graphicData>
        </a:graphic>
      </p:graphicFrame>
      <p:sp>
        <p:nvSpPr>
          <p:cNvPr id="5" name="Afrundet rektangulær billedforklaring 4"/>
          <p:cNvSpPr/>
          <p:nvPr/>
        </p:nvSpPr>
        <p:spPr>
          <a:xfrm>
            <a:off x="6286500" y="1275347"/>
            <a:ext cx="4301289" cy="1696453"/>
          </a:xfrm>
          <a:prstGeom prst="wedgeRoundRectCallout">
            <a:avLst>
              <a:gd name="adj1" fmla="val -85309"/>
              <a:gd name="adj2" fmla="val 2420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4800"/>
              <a:t>Filtering</a:t>
            </a:r>
          </a:p>
          <a:p>
            <a:pPr algn="ctr"/>
            <a:r>
              <a:rPr lang="da-DK" sz="3600">
                <a:solidFill>
                  <a:srgbClr val="FFFF00"/>
                </a:solidFill>
              </a:rPr>
              <a:t>(Year &lt; 1996)</a:t>
            </a:r>
          </a:p>
        </p:txBody>
      </p:sp>
    </p:spTree>
    <p:extLst>
      <p:ext uri="{BB962C8B-B14F-4D97-AF65-F5344CB8AC3E}">
        <p14:creationId xmlns:p14="http://schemas.microsoft.com/office/powerpoint/2010/main" val="18542885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var</a:t>
            </a:r>
            <a:r>
              <a:rPr lang="en-US" sz="3200" b="1">
                <a:latin typeface="Consolas" panose="020B0609020204030204" pitchFamily="49" charset="0"/>
              </a:rPr>
              <a:t> query = </a:t>
            </a: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from</a:t>
            </a:r>
            <a:r>
              <a:rPr lang="en-US" sz="3200" b="1">
                <a:latin typeface="Consolas" panose="020B0609020204030204" pitchFamily="49" charset="0"/>
              </a:rPr>
              <a:t> m </a:t>
            </a: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in</a:t>
            </a:r>
            <a:r>
              <a:rPr lang="en-US" sz="3200" b="1">
                <a:latin typeface="Consolas" panose="020B0609020204030204" pitchFamily="49" charset="0"/>
              </a:rPr>
              <a:t> movies</a:t>
            </a:r>
            <a:endParaRPr lang="da-DK" sz="3200" b="1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			</a:t>
            </a: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select</a:t>
            </a:r>
            <a:r>
              <a:rPr lang="en-US" sz="3200" b="1">
                <a:latin typeface="Consolas" panose="020B0609020204030204" pitchFamily="49" charset="0"/>
              </a:rPr>
              <a:t> </a:t>
            </a: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new</a:t>
            </a:r>
            <a:r>
              <a:rPr lang="en-US" sz="3200" b="1">
                <a:latin typeface="Consolas" panose="020B0609020204030204" pitchFamily="49" charset="0"/>
              </a:rPr>
              <a:t> {m.Title, m.Year};</a:t>
            </a:r>
            <a:endParaRPr lang="da-DK" sz="3200" b="1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552516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var</a:t>
            </a:r>
            <a:r>
              <a:rPr lang="en-US" sz="3200" b="1">
                <a:latin typeface="Consolas" panose="020B0609020204030204" pitchFamily="49" charset="0"/>
              </a:rPr>
              <a:t> query = </a:t>
            </a: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from</a:t>
            </a:r>
            <a:r>
              <a:rPr lang="en-US" sz="3200" b="1">
                <a:latin typeface="Consolas" panose="020B0609020204030204" pitchFamily="49" charset="0"/>
              </a:rPr>
              <a:t> m </a:t>
            </a: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in</a:t>
            </a:r>
            <a:r>
              <a:rPr lang="en-US" sz="3200" b="1">
                <a:latin typeface="Consolas" panose="020B0609020204030204" pitchFamily="49" charset="0"/>
              </a:rPr>
              <a:t> movies</a:t>
            </a:r>
          </a:p>
          <a:p>
            <a:pPr marL="0" indent="0">
              <a:buNone/>
            </a:pPr>
            <a:r>
              <a:rPr lang="en-US" sz="3200" b="1">
                <a:latin typeface="Consolas" panose="020B0609020204030204" pitchFamily="49" charset="0"/>
              </a:rPr>
              <a:t>			</a:t>
            </a: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where</a:t>
            </a:r>
            <a:r>
              <a:rPr lang="en-US" sz="3200" b="1">
                <a:latin typeface="Consolas" panose="020B0609020204030204" pitchFamily="49" charset="0"/>
              </a:rPr>
              <a:t> m.Year &lt; 1996</a:t>
            </a:r>
            <a:endParaRPr lang="da-DK" sz="3200" b="1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3200" b="1">
                <a:latin typeface="Consolas" panose="020B0609020204030204" pitchFamily="49" charset="0"/>
              </a:rPr>
              <a:t>			</a:t>
            </a: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select</a:t>
            </a:r>
            <a:r>
              <a:rPr lang="en-US" sz="3200" b="1">
                <a:latin typeface="Consolas" panose="020B0609020204030204" pitchFamily="49" charset="0"/>
              </a:rPr>
              <a:t> </a:t>
            </a: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new</a:t>
            </a:r>
            <a:r>
              <a:rPr lang="en-US" sz="3200" b="1">
                <a:latin typeface="Consolas" panose="020B0609020204030204" pitchFamily="49" charset="0"/>
              </a:rPr>
              <a:t> {m.Title, m.Year};</a:t>
            </a:r>
            <a:endParaRPr lang="da-DK" sz="3200" b="1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434343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578224" y="672353"/>
            <a:ext cx="5912224" cy="2474539"/>
          </a:xfrm>
        </p:spPr>
        <p:txBody>
          <a:bodyPr/>
          <a:lstStyle/>
          <a:p>
            <a:pPr marL="0" indent="0">
              <a:buNone/>
            </a:pPr>
            <a:r>
              <a:rPr lang="en-US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from</a:t>
            </a:r>
            <a:r>
              <a:rPr lang="en-US" b="1">
                <a:latin typeface="Consolas" panose="020B0609020204030204" pitchFamily="49" charset="0"/>
              </a:rPr>
              <a:t> m </a:t>
            </a:r>
            <a:r>
              <a:rPr lang="en-US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in</a:t>
            </a:r>
            <a:r>
              <a:rPr lang="en-US" b="1">
                <a:latin typeface="Consolas" panose="020B0609020204030204" pitchFamily="49" charset="0"/>
              </a:rPr>
              <a:t> movies</a:t>
            </a:r>
          </a:p>
          <a:p>
            <a:pPr marL="0" indent="0">
              <a:buNone/>
            </a:pPr>
            <a:r>
              <a:rPr lang="en-US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where</a:t>
            </a:r>
            <a:r>
              <a:rPr lang="en-US" b="1">
                <a:latin typeface="Consolas" panose="020B0609020204030204" pitchFamily="49" charset="0"/>
              </a:rPr>
              <a:t> m.Year &lt; 1996</a:t>
            </a:r>
            <a:endParaRPr lang="da-DK" b="1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select</a:t>
            </a:r>
            <a:r>
              <a:rPr lang="en-US" b="1"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new</a:t>
            </a:r>
            <a:r>
              <a:rPr lang="en-US" b="1">
                <a:latin typeface="Consolas" panose="020B0609020204030204" pitchFamily="49" charset="0"/>
              </a:rPr>
              <a:t> {m.Title, m.Year}</a:t>
            </a:r>
            <a:endParaRPr lang="da-DK" b="1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da-DK"/>
          </a:p>
        </p:txBody>
      </p:sp>
      <p:sp>
        <p:nvSpPr>
          <p:cNvPr id="4" name="Pladsholder til indhold 2">
            <a:extLst>
              <a:ext uri="{FF2B5EF4-FFF2-40B4-BE49-F238E27FC236}">
                <a16:creationId xmlns:a16="http://schemas.microsoft.com/office/drawing/2014/main" id="{98018B59-8CE2-4CCB-83B8-2A8BD8A08761}"/>
              </a:ext>
            </a:extLst>
          </p:cNvPr>
          <p:cNvSpPr txBox="1">
            <a:spLocks/>
          </p:cNvSpPr>
          <p:nvPr/>
        </p:nvSpPr>
        <p:spPr>
          <a:xfrm>
            <a:off x="7696201" y="672352"/>
            <a:ext cx="4262717" cy="24745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SELECT </a:t>
            </a:r>
            <a:r>
              <a:rPr lang="en-US" b="1">
                <a:latin typeface="Consolas" panose="020B0609020204030204" pitchFamily="49" charset="0"/>
              </a:rPr>
              <a:t>Title, Year</a:t>
            </a:r>
            <a:endParaRPr lang="da-DK" b="1"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FROM</a:t>
            </a:r>
            <a:r>
              <a:rPr lang="en-US" b="1">
                <a:latin typeface="Consolas" panose="020B0609020204030204" pitchFamily="49" charset="0"/>
              </a:rPr>
              <a:t> Movie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WHERE</a:t>
            </a:r>
            <a:r>
              <a:rPr lang="en-US" b="1">
                <a:latin typeface="Consolas" panose="020B0609020204030204" pitchFamily="49" charset="0"/>
              </a:rPr>
              <a:t> Year &lt; 1996</a:t>
            </a:r>
            <a:endParaRPr lang="da-DK" b="1"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a-DK"/>
          </a:p>
        </p:txBody>
      </p:sp>
      <p:sp>
        <p:nvSpPr>
          <p:cNvPr id="2" name="Tekstfelt 1">
            <a:extLst>
              <a:ext uri="{FF2B5EF4-FFF2-40B4-BE49-F238E27FC236}">
                <a16:creationId xmlns:a16="http://schemas.microsoft.com/office/drawing/2014/main" id="{1EAC469D-8779-4442-9D7D-35AA05042ED3}"/>
              </a:ext>
            </a:extLst>
          </p:cNvPr>
          <p:cNvSpPr txBox="1"/>
          <p:nvPr/>
        </p:nvSpPr>
        <p:spPr>
          <a:xfrm>
            <a:off x="2151530" y="2546726"/>
            <a:ext cx="202331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7200"/>
              <a:t>LINQ</a:t>
            </a: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C5AFEAD6-CBD5-4082-B9D0-50F59089342C}"/>
              </a:ext>
            </a:extLst>
          </p:cNvPr>
          <p:cNvSpPr txBox="1"/>
          <p:nvPr/>
        </p:nvSpPr>
        <p:spPr>
          <a:xfrm>
            <a:off x="8815903" y="2546726"/>
            <a:ext cx="161935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7200"/>
              <a:t>SQL</a:t>
            </a:r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387F1FF8-EFE0-45F0-8275-7B2E2DA24F31}"/>
              </a:ext>
            </a:extLst>
          </p:cNvPr>
          <p:cNvSpPr txBox="1"/>
          <p:nvPr/>
        </p:nvSpPr>
        <p:spPr>
          <a:xfrm>
            <a:off x="6086736" y="2731391"/>
            <a:ext cx="6997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4800"/>
              <a:t>vs</a:t>
            </a:r>
          </a:p>
        </p:txBody>
      </p:sp>
    </p:spTree>
    <p:extLst>
      <p:ext uri="{BB962C8B-B14F-4D97-AF65-F5344CB8AC3E}">
        <p14:creationId xmlns:p14="http://schemas.microsoft.com/office/powerpoint/2010/main" val="32089981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578224" y="672353"/>
            <a:ext cx="5912224" cy="2474539"/>
          </a:xfrm>
        </p:spPr>
        <p:txBody>
          <a:bodyPr/>
          <a:lstStyle/>
          <a:p>
            <a:pPr marL="0" indent="0">
              <a:buNone/>
            </a:pPr>
            <a:r>
              <a:rPr lang="en-US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from</a:t>
            </a:r>
            <a:r>
              <a:rPr lang="en-US" b="1">
                <a:latin typeface="Consolas" panose="020B0609020204030204" pitchFamily="49" charset="0"/>
              </a:rPr>
              <a:t> m </a:t>
            </a:r>
            <a:r>
              <a:rPr lang="en-US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in</a:t>
            </a:r>
            <a:r>
              <a:rPr lang="en-US" b="1"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FF0000"/>
                </a:solidFill>
                <a:latin typeface="Consolas" panose="020B0609020204030204" pitchFamily="49" charset="0"/>
              </a:rPr>
              <a:t>movies</a:t>
            </a:r>
          </a:p>
          <a:p>
            <a:pPr marL="0" indent="0">
              <a:buNone/>
            </a:pPr>
            <a:r>
              <a:rPr lang="en-US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where</a:t>
            </a:r>
            <a:r>
              <a:rPr lang="en-US" b="1">
                <a:latin typeface="Consolas" panose="020B0609020204030204" pitchFamily="49" charset="0"/>
              </a:rPr>
              <a:t> m.Year &lt; 1996</a:t>
            </a:r>
            <a:endParaRPr lang="da-DK" b="1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select</a:t>
            </a:r>
            <a:r>
              <a:rPr lang="en-US" b="1"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new</a:t>
            </a:r>
            <a:r>
              <a:rPr lang="en-US" b="1">
                <a:latin typeface="Consolas" panose="020B0609020204030204" pitchFamily="49" charset="0"/>
              </a:rPr>
              <a:t> {m.Title, m.Year}</a:t>
            </a:r>
            <a:endParaRPr lang="da-DK" b="1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da-DK"/>
          </a:p>
        </p:txBody>
      </p:sp>
      <p:sp>
        <p:nvSpPr>
          <p:cNvPr id="4" name="Pladsholder til indhold 2">
            <a:extLst>
              <a:ext uri="{FF2B5EF4-FFF2-40B4-BE49-F238E27FC236}">
                <a16:creationId xmlns:a16="http://schemas.microsoft.com/office/drawing/2014/main" id="{98018B59-8CE2-4CCB-83B8-2A8BD8A08761}"/>
              </a:ext>
            </a:extLst>
          </p:cNvPr>
          <p:cNvSpPr txBox="1">
            <a:spLocks/>
          </p:cNvSpPr>
          <p:nvPr/>
        </p:nvSpPr>
        <p:spPr>
          <a:xfrm>
            <a:off x="7696201" y="672352"/>
            <a:ext cx="4262717" cy="24745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SELECT </a:t>
            </a:r>
            <a:r>
              <a:rPr lang="en-US" b="1">
                <a:latin typeface="Consolas" panose="020B0609020204030204" pitchFamily="49" charset="0"/>
              </a:rPr>
              <a:t>Title, Year</a:t>
            </a:r>
            <a:endParaRPr lang="da-DK" b="1"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FROM</a:t>
            </a:r>
            <a:r>
              <a:rPr lang="en-US" b="1"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FF0000"/>
                </a:solidFill>
                <a:latin typeface="Consolas" panose="020B0609020204030204" pitchFamily="49" charset="0"/>
              </a:rPr>
              <a:t>Movie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WHERE</a:t>
            </a:r>
            <a:r>
              <a:rPr lang="en-US" b="1">
                <a:latin typeface="Consolas" panose="020B0609020204030204" pitchFamily="49" charset="0"/>
              </a:rPr>
              <a:t> Year &lt; 1996</a:t>
            </a:r>
            <a:endParaRPr lang="da-DK" b="1"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a-DK"/>
          </a:p>
        </p:txBody>
      </p:sp>
      <p:sp>
        <p:nvSpPr>
          <p:cNvPr id="2" name="Tekstfelt 1">
            <a:extLst>
              <a:ext uri="{FF2B5EF4-FFF2-40B4-BE49-F238E27FC236}">
                <a16:creationId xmlns:a16="http://schemas.microsoft.com/office/drawing/2014/main" id="{1EAC469D-8779-4442-9D7D-35AA05042ED3}"/>
              </a:ext>
            </a:extLst>
          </p:cNvPr>
          <p:cNvSpPr txBox="1"/>
          <p:nvPr/>
        </p:nvSpPr>
        <p:spPr>
          <a:xfrm>
            <a:off x="2151530" y="2546726"/>
            <a:ext cx="202331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7200"/>
              <a:t>LINQ</a:t>
            </a: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C5AFEAD6-CBD5-4082-B9D0-50F59089342C}"/>
              </a:ext>
            </a:extLst>
          </p:cNvPr>
          <p:cNvSpPr txBox="1"/>
          <p:nvPr/>
        </p:nvSpPr>
        <p:spPr>
          <a:xfrm>
            <a:off x="8815903" y="2546726"/>
            <a:ext cx="161935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7200"/>
              <a:t>SQL</a:t>
            </a:r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7545E373-377C-4BFD-A556-C756BE45D767}"/>
              </a:ext>
            </a:extLst>
          </p:cNvPr>
          <p:cNvSpPr txBox="1"/>
          <p:nvPr/>
        </p:nvSpPr>
        <p:spPr>
          <a:xfrm>
            <a:off x="2290887" y="4605765"/>
            <a:ext cx="77154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4800" b="1" i="1">
                <a:solidFill>
                  <a:srgbClr val="FF0000"/>
                </a:solidFill>
              </a:rPr>
              <a:t>Where does data come from?</a:t>
            </a: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A2033DFB-9857-4E20-BEEF-93B1A1E1619E}"/>
              </a:ext>
            </a:extLst>
          </p:cNvPr>
          <p:cNvSpPr txBox="1"/>
          <p:nvPr/>
        </p:nvSpPr>
        <p:spPr>
          <a:xfrm>
            <a:off x="6086736" y="2731391"/>
            <a:ext cx="6997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4800"/>
              <a:t>vs</a:t>
            </a:r>
          </a:p>
        </p:txBody>
      </p:sp>
    </p:spTree>
    <p:extLst>
      <p:ext uri="{BB962C8B-B14F-4D97-AF65-F5344CB8AC3E}">
        <p14:creationId xmlns:p14="http://schemas.microsoft.com/office/powerpoint/2010/main" val="13149848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578224" y="672353"/>
            <a:ext cx="5912224" cy="2474539"/>
          </a:xfrm>
        </p:spPr>
        <p:txBody>
          <a:bodyPr/>
          <a:lstStyle/>
          <a:p>
            <a:pPr marL="0" indent="0">
              <a:buNone/>
            </a:pPr>
            <a:r>
              <a:rPr lang="en-US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from</a:t>
            </a:r>
            <a:r>
              <a:rPr lang="en-US" b="1">
                <a:latin typeface="Consolas" panose="020B0609020204030204" pitchFamily="49" charset="0"/>
              </a:rPr>
              <a:t> m </a:t>
            </a:r>
            <a:r>
              <a:rPr lang="en-US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in</a:t>
            </a:r>
            <a:r>
              <a:rPr lang="en-US" b="1">
                <a:latin typeface="Consolas" panose="020B0609020204030204" pitchFamily="49" charset="0"/>
              </a:rPr>
              <a:t> movies</a:t>
            </a:r>
          </a:p>
          <a:p>
            <a:pPr marL="0" indent="0">
              <a:buNone/>
            </a:pPr>
            <a:r>
              <a:rPr lang="en-US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where</a:t>
            </a:r>
            <a:r>
              <a:rPr lang="en-US" b="1">
                <a:latin typeface="Consolas" panose="020B0609020204030204" pitchFamily="49" charset="0"/>
              </a:rPr>
              <a:t> m.Year &lt; 1996</a:t>
            </a:r>
            <a:endParaRPr lang="da-DK" b="1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select</a:t>
            </a:r>
            <a:r>
              <a:rPr lang="en-US" b="1"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FF0000"/>
                </a:solidFill>
                <a:latin typeface="Consolas" panose="020B0609020204030204" pitchFamily="49" charset="0"/>
              </a:rPr>
              <a:t>new {m.Title, m.Year}</a:t>
            </a:r>
            <a:endParaRPr lang="da-DK" b="1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da-DK"/>
          </a:p>
        </p:txBody>
      </p:sp>
      <p:sp>
        <p:nvSpPr>
          <p:cNvPr id="4" name="Pladsholder til indhold 2">
            <a:extLst>
              <a:ext uri="{FF2B5EF4-FFF2-40B4-BE49-F238E27FC236}">
                <a16:creationId xmlns:a16="http://schemas.microsoft.com/office/drawing/2014/main" id="{98018B59-8CE2-4CCB-83B8-2A8BD8A08761}"/>
              </a:ext>
            </a:extLst>
          </p:cNvPr>
          <p:cNvSpPr txBox="1">
            <a:spLocks/>
          </p:cNvSpPr>
          <p:nvPr/>
        </p:nvSpPr>
        <p:spPr>
          <a:xfrm>
            <a:off x="7696201" y="672352"/>
            <a:ext cx="4262717" cy="24745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SELECT </a:t>
            </a:r>
            <a:r>
              <a:rPr lang="en-US" b="1">
                <a:solidFill>
                  <a:srgbClr val="FF0000"/>
                </a:solidFill>
                <a:latin typeface="Consolas" panose="020B0609020204030204" pitchFamily="49" charset="0"/>
              </a:rPr>
              <a:t>Title, Year</a:t>
            </a:r>
            <a:endParaRPr lang="da-DK" b="1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FROM</a:t>
            </a:r>
            <a:r>
              <a:rPr lang="en-US" b="1">
                <a:latin typeface="Consolas" panose="020B0609020204030204" pitchFamily="49" charset="0"/>
              </a:rPr>
              <a:t> Movie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WHERE</a:t>
            </a:r>
            <a:r>
              <a:rPr lang="en-US" b="1">
                <a:latin typeface="Consolas" panose="020B0609020204030204" pitchFamily="49" charset="0"/>
              </a:rPr>
              <a:t> Year &lt; 1996</a:t>
            </a:r>
            <a:endParaRPr lang="da-DK" b="1"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a-DK"/>
          </a:p>
        </p:txBody>
      </p:sp>
      <p:sp>
        <p:nvSpPr>
          <p:cNvPr id="2" name="Tekstfelt 1">
            <a:extLst>
              <a:ext uri="{FF2B5EF4-FFF2-40B4-BE49-F238E27FC236}">
                <a16:creationId xmlns:a16="http://schemas.microsoft.com/office/drawing/2014/main" id="{1EAC469D-8779-4442-9D7D-35AA05042ED3}"/>
              </a:ext>
            </a:extLst>
          </p:cNvPr>
          <p:cNvSpPr txBox="1"/>
          <p:nvPr/>
        </p:nvSpPr>
        <p:spPr>
          <a:xfrm>
            <a:off x="2151530" y="2546726"/>
            <a:ext cx="202331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7200"/>
              <a:t>LINQ</a:t>
            </a: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C5AFEAD6-CBD5-4082-B9D0-50F59089342C}"/>
              </a:ext>
            </a:extLst>
          </p:cNvPr>
          <p:cNvSpPr txBox="1"/>
          <p:nvPr/>
        </p:nvSpPr>
        <p:spPr>
          <a:xfrm>
            <a:off x="8815903" y="2546726"/>
            <a:ext cx="161935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7200"/>
              <a:t>SQL</a:t>
            </a:r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7545E373-377C-4BFD-A556-C756BE45D767}"/>
              </a:ext>
            </a:extLst>
          </p:cNvPr>
          <p:cNvSpPr txBox="1"/>
          <p:nvPr/>
        </p:nvSpPr>
        <p:spPr>
          <a:xfrm>
            <a:off x="2290887" y="4605765"/>
            <a:ext cx="73153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4800" b="1" i="1">
                <a:solidFill>
                  <a:srgbClr val="FF0000"/>
                </a:solidFill>
              </a:rPr>
              <a:t>What do we want to select?</a:t>
            </a: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A2033DFB-9857-4E20-BEEF-93B1A1E1619E}"/>
              </a:ext>
            </a:extLst>
          </p:cNvPr>
          <p:cNvSpPr txBox="1"/>
          <p:nvPr/>
        </p:nvSpPr>
        <p:spPr>
          <a:xfrm>
            <a:off x="6086736" y="2731391"/>
            <a:ext cx="6997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4800"/>
              <a:t>vs</a:t>
            </a:r>
          </a:p>
        </p:txBody>
      </p:sp>
    </p:spTree>
    <p:extLst>
      <p:ext uri="{BB962C8B-B14F-4D97-AF65-F5344CB8AC3E}">
        <p14:creationId xmlns:p14="http://schemas.microsoft.com/office/powerpoint/2010/main" val="21276315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578224" y="672353"/>
            <a:ext cx="5912224" cy="2474539"/>
          </a:xfrm>
        </p:spPr>
        <p:txBody>
          <a:bodyPr/>
          <a:lstStyle/>
          <a:p>
            <a:pPr marL="0" indent="0">
              <a:buNone/>
            </a:pPr>
            <a:r>
              <a:rPr lang="en-US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from</a:t>
            </a:r>
            <a:r>
              <a:rPr lang="en-US" b="1">
                <a:latin typeface="Consolas" panose="020B0609020204030204" pitchFamily="49" charset="0"/>
              </a:rPr>
              <a:t> m </a:t>
            </a:r>
            <a:r>
              <a:rPr lang="en-US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in</a:t>
            </a:r>
            <a:r>
              <a:rPr lang="en-US" b="1">
                <a:latin typeface="Consolas" panose="020B0609020204030204" pitchFamily="49" charset="0"/>
              </a:rPr>
              <a:t> movies</a:t>
            </a:r>
          </a:p>
          <a:p>
            <a:pPr marL="0" indent="0">
              <a:buNone/>
            </a:pPr>
            <a:r>
              <a:rPr lang="en-US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where</a:t>
            </a:r>
            <a:r>
              <a:rPr lang="en-US" b="1"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FF0000"/>
                </a:solidFill>
                <a:latin typeface="Consolas" panose="020B0609020204030204" pitchFamily="49" charset="0"/>
              </a:rPr>
              <a:t>m.Year &lt; 1996</a:t>
            </a:r>
            <a:endParaRPr lang="da-DK" b="1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select</a:t>
            </a:r>
            <a:r>
              <a:rPr lang="en-US" b="1"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new</a:t>
            </a:r>
            <a:r>
              <a:rPr lang="en-US" b="1">
                <a:latin typeface="Consolas" panose="020B0609020204030204" pitchFamily="49" charset="0"/>
              </a:rPr>
              <a:t> {m.Title, m.Year}</a:t>
            </a:r>
            <a:endParaRPr lang="da-DK" b="1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da-DK"/>
          </a:p>
        </p:txBody>
      </p:sp>
      <p:sp>
        <p:nvSpPr>
          <p:cNvPr id="4" name="Pladsholder til indhold 2">
            <a:extLst>
              <a:ext uri="{FF2B5EF4-FFF2-40B4-BE49-F238E27FC236}">
                <a16:creationId xmlns:a16="http://schemas.microsoft.com/office/drawing/2014/main" id="{98018B59-8CE2-4CCB-83B8-2A8BD8A08761}"/>
              </a:ext>
            </a:extLst>
          </p:cNvPr>
          <p:cNvSpPr txBox="1">
            <a:spLocks/>
          </p:cNvSpPr>
          <p:nvPr/>
        </p:nvSpPr>
        <p:spPr>
          <a:xfrm>
            <a:off x="7696201" y="672352"/>
            <a:ext cx="4262717" cy="24745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SELECT </a:t>
            </a:r>
            <a:r>
              <a:rPr lang="en-US" b="1">
                <a:latin typeface="Consolas" panose="020B0609020204030204" pitchFamily="49" charset="0"/>
              </a:rPr>
              <a:t>Title, Year</a:t>
            </a:r>
            <a:endParaRPr lang="da-DK" b="1"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FROM</a:t>
            </a:r>
            <a:r>
              <a:rPr lang="en-US" b="1">
                <a:latin typeface="Consolas" panose="020B0609020204030204" pitchFamily="49" charset="0"/>
              </a:rPr>
              <a:t> Movie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WHERE</a:t>
            </a:r>
            <a:r>
              <a:rPr lang="en-US" b="1"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FF0000"/>
                </a:solidFill>
                <a:latin typeface="Consolas" panose="020B0609020204030204" pitchFamily="49" charset="0"/>
              </a:rPr>
              <a:t>Year &lt; 1996</a:t>
            </a:r>
            <a:endParaRPr lang="da-DK" b="1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a-DK"/>
          </a:p>
        </p:txBody>
      </p:sp>
      <p:sp>
        <p:nvSpPr>
          <p:cNvPr id="2" name="Tekstfelt 1">
            <a:extLst>
              <a:ext uri="{FF2B5EF4-FFF2-40B4-BE49-F238E27FC236}">
                <a16:creationId xmlns:a16="http://schemas.microsoft.com/office/drawing/2014/main" id="{1EAC469D-8779-4442-9D7D-35AA05042ED3}"/>
              </a:ext>
            </a:extLst>
          </p:cNvPr>
          <p:cNvSpPr txBox="1"/>
          <p:nvPr/>
        </p:nvSpPr>
        <p:spPr>
          <a:xfrm>
            <a:off x="2151530" y="2546726"/>
            <a:ext cx="202331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7200"/>
              <a:t>LINQ</a:t>
            </a: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C5AFEAD6-CBD5-4082-B9D0-50F59089342C}"/>
              </a:ext>
            </a:extLst>
          </p:cNvPr>
          <p:cNvSpPr txBox="1"/>
          <p:nvPr/>
        </p:nvSpPr>
        <p:spPr>
          <a:xfrm>
            <a:off x="8815903" y="2546726"/>
            <a:ext cx="161935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7200"/>
              <a:t>SQL</a:t>
            </a:r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7545E373-377C-4BFD-A556-C756BE45D767}"/>
              </a:ext>
            </a:extLst>
          </p:cNvPr>
          <p:cNvSpPr txBox="1"/>
          <p:nvPr/>
        </p:nvSpPr>
        <p:spPr>
          <a:xfrm>
            <a:off x="2290887" y="4605765"/>
            <a:ext cx="868365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4800" b="1" i="1">
                <a:solidFill>
                  <a:srgbClr val="FF0000"/>
                </a:solidFill>
              </a:rPr>
              <a:t>What condition must be fulfilled?</a:t>
            </a: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A2033DFB-9857-4E20-BEEF-93B1A1E1619E}"/>
              </a:ext>
            </a:extLst>
          </p:cNvPr>
          <p:cNvSpPr txBox="1"/>
          <p:nvPr/>
        </p:nvSpPr>
        <p:spPr>
          <a:xfrm>
            <a:off x="6086736" y="2731391"/>
            <a:ext cx="6997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4800"/>
              <a:t>vs</a:t>
            </a:r>
          </a:p>
        </p:txBody>
      </p:sp>
    </p:spTree>
    <p:extLst>
      <p:ext uri="{BB962C8B-B14F-4D97-AF65-F5344CB8AC3E}">
        <p14:creationId xmlns:p14="http://schemas.microsoft.com/office/powerpoint/2010/main" val="20878033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4833351"/>
              </p:ext>
            </p:extLst>
          </p:nvPr>
        </p:nvGraphicFramePr>
        <p:xfrm>
          <a:off x="830178" y="328638"/>
          <a:ext cx="5080334" cy="36651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40167">
                  <a:extLst>
                    <a:ext uri="{9D8B030D-6E8A-4147-A177-3AD203B41FA5}">
                      <a16:colId xmlns:a16="http://schemas.microsoft.com/office/drawing/2014/main" val="47363412"/>
                    </a:ext>
                  </a:extLst>
                </a:gridCol>
                <a:gridCol w="2540167">
                  <a:extLst>
                    <a:ext uri="{9D8B030D-6E8A-4147-A177-3AD203B41FA5}">
                      <a16:colId xmlns:a16="http://schemas.microsoft.com/office/drawing/2014/main" val="3935601631"/>
                    </a:ext>
                  </a:extLst>
                </a:gridCol>
              </a:tblGrid>
              <a:tr h="104717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32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da-DK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32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da-DK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8163691"/>
                  </a:ext>
                </a:extLst>
              </a:tr>
              <a:tr h="8726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Se7en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1995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3597378"/>
                  </a:ext>
                </a:extLst>
              </a:tr>
              <a:tr h="8726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Alien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1979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7639513"/>
                  </a:ext>
                </a:extLst>
              </a:tr>
              <a:tr h="8726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Forrest Gump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1994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531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49778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6427850"/>
              </p:ext>
            </p:extLst>
          </p:nvPr>
        </p:nvGraphicFramePr>
        <p:xfrm>
          <a:off x="830178" y="328638"/>
          <a:ext cx="5080334" cy="36651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40167">
                  <a:extLst>
                    <a:ext uri="{9D8B030D-6E8A-4147-A177-3AD203B41FA5}">
                      <a16:colId xmlns:a16="http://schemas.microsoft.com/office/drawing/2014/main" val="47363412"/>
                    </a:ext>
                  </a:extLst>
                </a:gridCol>
                <a:gridCol w="2540167">
                  <a:extLst>
                    <a:ext uri="{9D8B030D-6E8A-4147-A177-3AD203B41FA5}">
                      <a16:colId xmlns:a16="http://schemas.microsoft.com/office/drawing/2014/main" val="3935601631"/>
                    </a:ext>
                  </a:extLst>
                </a:gridCol>
              </a:tblGrid>
              <a:tr h="104717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32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da-DK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32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da-DK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8163691"/>
                  </a:ext>
                </a:extLst>
              </a:tr>
              <a:tr h="8726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Alien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1979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3597378"/>
                  </a:ext>
                </a:extLst>
              </a:tr>
              <a:tr h="8726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Forrest Gump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1994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7639513"/>
                  </a:ext>
                </a:extLst>
              </a:tr>
              <a:tr h="8726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Se7en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1995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531286"/>
                  </a:ext>
                </a:extLst>
              </a:tr>
            </a:tbl>
          </a:graphicData>
        </a:graphic>
      </p:graphicFrame>
      <p:sp>
        <p:nvSpPr>
          <p:cNvPr id="3" name="Afrundet rektangulær billedforklaring 2"/>
          <p:cNvSpPr/>
          <p:nvPr/>
        </p:nvSpPr>
        <p:spPr>
          <a:xfrm>
            <a:off x="6286500" y="1275347"/>
            <a:ext cx="4301289" cy="1696453"/>
          </a:xfrm>
          <a:prstGeom prst="wedgeRoundRectCallout">
            <a:avLst>
              <a:gd name="adj1" fmla="val -85309"/>
              <a:gd name="adj2" fmla="val 2420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4800"/>
              <a:t>Ordering</a:t>
            </a:r>
          </a:p>
          <a:p>
            <a:pPr algn="ctr"/>
            <a:r>
              <a:rPr lang="da-DK" sz="3600">
                <a:solidFill>
                  <a:srgbClr val="FFFF00"/>
                </a:solidFill>
              </a:rPr>
              <a:t>(by Title)</a:t>
            </a:r>
          </a:p>
        </p:txBody>
      </p:sp>
    </p:spTree>
    <p:extLst>
      <p:ext uri="{BB962C8B-B14F-4D97-AF65-F5344CB8AC3E}">
        <p14:creationId xmlns:p14="http://schemas.microsoft.com/office/powerpoint/2010/main" val="2968474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var</a:t>
            </a:r>
            <a:r>
              <a:rPr lang="en-US" sz="3200" b="1">
                <a:latin typeface="Consolas" panose="020B0609020204030204" pitchFamily="49" charset="0"/>
              </a:rPr>
              <a:t> query = </a:t>
            </a: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from</a:t>
            </a:r>
            <a:r>
              <a:rPr lang="en-US" sz="3200" b="1">
                <a:latin typeface="Consolas" panose="020B0609020204030204" pitchFamily="49" charset="0"/>
              </a:rPr>
              <a:t> m </a:t>
            </a: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in</a:t>
            </a:r>
            <a:r>
              <a:rPr lang="en-US" sz="3200" b="1">
                <a:latin typeface="Consolas" panose="020B0609020204030204" pitchFamily="49" charset="0"/>
              </a:rPr>
              <a:t> movies</a:t>
            </a:r>
          </a:p>
          <a:p>
            <a:pPr marL="0" indent="0">
              <a:buNone/>
            </a:pPr>
            <a:r>
              <a:rPr lang="en-US" sz="3200" b="1">
                <a:latin typeface="Consolas" panose="020B0609020204030204" pitchFamily="49" charset="0"/>
              </a:rPr>
              <a:t>			</a:t>
            </a: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where</a:t>
            </a:r>
            <a:r>
              <a:rPr lang="en-US" sz="3200" b="1">
                <a:latin typeface="Consolas" panose="020B0609020204030204" pitchFamily="49" charset="0"/>
              </a:rPr>
              <a:t> m.Year &lt; 1996</a:t>
            </a:r>
            <a:endParaRPr lang="da-DK" sz="3200" b="1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3200" b="1">
                <a:latin typeface="Consolas" panose="020B0609020204030204" pitchFamily="49" charset="0"/>
              </a:rPr>
              <a:t>			</a:t>
            </a: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select</a:t>
            </a:r>
            <a:r>
              <a:rPr lang="en-US" sz="3200" b="1">
                <a:latin typeface="Consolas" panose="020B0609020204030204" pitchFamily="49" charset="0"/>
              </a:rPr>
              <a:t> </a:t>
            </a: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new</a:t>
            </a:r>
            <a:r>
              <a:rPr lang="en-US" sz="3200" b="1">
                <a:latin typeface="Consolas" panose="020B0609020204030204" pitchFamily="49" charset="0"/>
              </a:rPr>
              <a:t> {m.Title, m.Year};</a:t>
            </a:r>
            <a:endParaRPr lang="da-DK" sz="3200" b="1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38947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var</a:t>
            </a:r>
            <a:r>
              <a:rPr lang="en-US" sz="3200" b="1">
                <a:latin typeface="Consolas" panose="020B0609020204030204" pitchFamily="49" charset="0"/>
              </a:rPr>
              <a:t> query = </a:t>
            </a: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from</a:t>
            </a:r>
            <a:r>
              <a:rPr lang="en-US" sz="3200" b="1">
                <a:latin typeface="Consolas" panose="020B0609020204030204" pitchFamily="49" charset="0"/>
              </a:rPr>
              <a:t> m </a:t>
            </a: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in</a:t>
            </a:r>
            <a:r>
              <a:rPr lang="en-US" sz="3200" b="1">
                <a:latin typeface="Consolas" panose="020B0609020204030204" pitchFamily="49" charset="0"/>
              </a:rPr>
              <a:t> movies</a:t>
            </a:r>
          </a:p>
          <a:p>
            <a:pPr marL="0" indent="0">
              <a:buNone/>
            </a:pPr>
            <a:r>
              <a:rPr lang="en-US" sz="3200" b="1">
                <a:latin typeface="Consolas" panose="020B0609020204030204" pitchFamily="49" charset="0"/>
              </a:rPr>
              <a:t>			</a:t>
            </a: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where</a:t>
            </a:r>
            <a:r>
              <a:rPr lang="en-US" sz="3200" b="1">
                <a:latin typeface="Consolas" panose="020B0609020204030204" pitchFamily="49" charset="0"/>
              </a:rPr>
              <a:t> m.Year &lt; 1996</a:t>
            </a:r>
          </a:p>
          <a:p>
            <a:pPr marL="0" indent="0">
              <a:buNone/>
            </a:pPr>
            <a:r>
              <a:rPr lang="en-US" sz="3200" b="1">
                <a:latin typeface="Consolas" panose="020B0609020204030204" pitchFamily="49" charset="0"/>
              </a:rPr>
              <a:t>			</a:t>
            </a: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orderby</a:t>
            </a:r>
            <a:r>
              <a:rPr lang="en-US" sz="3200" b="1">
                <a:latin typeface="Consolas" panose="020B0609020204030204" pitchFamily="49" charset="0"/>
              </a:rPr>
              <a:t> m.Title</a:t>
            </a:r>
            <a:endParaRPr lang="da-DK" sz="3200" b="1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3200" b="1">
                <a:latin typeface="Consolas" panose="020B0609020204030204" pitchFamily="49" charset="0"/>
              </a:rPr>
              <a:t>			</a:t>
            </a: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select</a:t>
            </a:r>
            <a:r>
              <a:rPr lang="en-US" sz="3200" b="1">
                <a:latin typeface="Consolas" panose="020B0609020204030204" pitchFamily="49" charset="0"/>
              </a:rPr>
              <a:t> </a:t>
            </a: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new</a:t>
            </a:r>
            <a:r>
              <a:rPr lang="en-US" sz="3200" b="1">
                <a:latin typeface="Consolas" panose="020B0609020204030204" pitchFamily="49" charset="0"/>
              </a:rPr>
              <a:t> {m.Title, m.Year};</a:t>
            </a:r>
            <a:endParaRPr lang="da-DK" sz="3200" b="1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520278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var</a:t>
            </a:r>
            <a:r>
              <a:rPr lang="en-US" sz="3200" b="1">
                <a:latin typeface="Consolas" panose="020B0609020204030204" pitchFamily="49" charset="0"/>
              </a:rPr>
              <a:t> query = </a:t>
            </a: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from</a:t>
            </a:r>
            <a:r>
              <a:rPr lang="en-US" sz="3200" b="1">
                <a:latin typeface="Consolas" panose="020B0609020204030204" pitchFamily="49" charset="0"/>
              </a:rPr>
              <a:t> m </a:t>
            </a: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in</a:t>
            </a:r>
            <a:r>
              <a:rPr lang="en-US" sz="3200" b="1">
                <a:latin typeface="Consolas" panose="020B0609020204030204" pitchFamily="49" charset="0"/>
              </a:rPr>
              <a:t> movies</a:t>
            </a:r>
          </a:p>
          <a:p>
            <a:pPr marL="0" indent="0">
              <a:buNone/>
            </a:pPr>
            <a:r>
              <a:rPr lang="en-US" sz="3200" b="1">
                <a:latin typeface="Consolas" panose="020B0609020204030204" pitchFamily="49" charset="0"/>
              </a:rPr>
              <a:t>			</a:t>
            </a: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select</a:t>
            </a:r>
            <a:r>
              <a:rPr lang="en-US" sz="3200" b="1">
                <a:latin typeface="Consolas" panose="020B0609020204030204" pitchFamily="49" charset="0"/>
              </a:rPr>
              <a:t> m.DurationInMins;</a:t>
            </a:r>
          </a:p>
          <a:p>
            <a:pPr marL="0" indent="0">
              <a:buNone/>
            </a:pPr>
            <a:endParaRPr lang="en-US" sz="3200" b="1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int</a:t>
            </a:r>
            <a:r>
              <a:rPr lang="en-US" sz="3200" b="1">
                <a:latin typeface="Consolas" panose="020B0609020204030204" pitchFamily="49" charset="0"/>
              </a:rPr>
              <a:t> averageDuration = query.Average();</a:t>
            </a:r>
            <a:endParaRPr lang="da-DK" sz="3200" b="1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638245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199" y="1825625"/>
            <a:ext cx="11057965" cy="4351338"/>
          </a:xfrm>
        </p:spPr>
        <p:txBody>
          <a:bodyPr/>
          <a:lstStyle/>
          <a:p>
            <a:pPr marL="0" indent="0">
              <a:buNone/>
            </a:pP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int</a:t>
            </a:r>
            <a:r>
              <a:rPr lang="en-US" sz="3200" b="1">
                <a:latin typeface="Consolas" panose="020B0609020204030204" pitchFamily="49" charset="0"/>
              </a:rPr>
              <a:t> averageDuration = </a:t>
            </a:r>
          </a:p>
          <a:p>
            <a:pPr marL="0" indent="0">
              <a:buNone/>
            </a:pPr>
            <a:r>
              <a:rPr lang="en-US" sz="3200" b="1">
                <a:latin typeface="Consolas" panose="020B0609020204030204" pitchFamily="49" charset="0"/>
              </a:rPr>
              <a:t>	(</a:t>
            </a: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from</a:t>
            </a:r>
            <a:r>
              <a:rPr lang="en-US" sz="3200" b="1">
                <a:latin typeface="Consolas" panose="020B0609020204030204" pitchFamily="49" charset="0"/>
              </a:rPr>
              <a:t> m </a:t>
            </a: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in</a:t>
            </a:r>
            <a:r>
              <a:rPr lang="en-US" sz="3200" b="1">
                <a:latin typeface="Consolas" panose="020B0609020204030204" pitchFamily="49" charset="0"/>
              </a:rPr>
              <a:t> movies</a:t>
            </a:r>
          </a:p>
          <a:p>
            <a:pPr marL="0" indent="0">
              <a:buNone/>
            </a:pPr>
            <a:r>
              <a:rPr lang="en-US" sz="3200" b="1">
                <a:latin typeface="Consolas" panose="020B0609020204030204" pitchFamily="49" charset="0"/>
              </a:rPr>
              <a:t>	 </a:t>
            </a: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select</a:t>
            </a:r>
            <a:r>
              <a:rPr lang="en-US" sz="3200" b="1">
                <a:latin typeface="Consolas" panose="020B0609020204030204" pitchFamily="49" charset="0"/>
              </a:rPr>
              <a:t> m.DurationInMins).Average();</a:t>
            </a:r>
          </a:p>
          <a:p>
            <a:pPr marL="0" indent="0">
              <a:buNone/>
            </a:pPr>
            <a:endParaRPr lang="en-US" sz="3200" b="1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446681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var</a:t>
            </a:r>
            <a:r>
              <a:rPr lang="en-US" sz="3200" b="1">
                <a:latin typeface="Consolas" panose="020B0609020204030204" pitchFamily="49" charset="0"/>
              </a:rPr>
              <a:t> query = </a:t>
            </a: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from</a:t>
            </a:r>
            <a:r>
              <a:rPr lang="en-US" sz="3200" b="1">
                <a:latin typeface="Consolas" panose="020B0609020204030204" pitchFamily="49" charset="0"/>
              </a:rPr>
              <a:t> m </a:t>
            </a: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in</a:t>
            </a:r>
            <a:r>
              <a:rPr lang="en-US" sz="3200" b="1">
                <a:latin typeface="Consolas" panose="020B0609020204030204" pitchFamily="49" charset="0"/>
              </a:rPr>
              <a:t> movies</a:t>
            </a:r>
          </a:p>
          <a:p>
            <a:pPr marL="0" indent="0">
              <a:buNone/>
            </a:pPr>
            <a:r>
              <a:rPr lang="en-US" sz="3200" b="1">
                <a:latin typeface="Consolas" panose="020B0609020204030204" pitchFamily="49" charset="0"/>
              </a:rPr>
              <a:t>			</a:t>
            </a: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join</a:t>
            </a:r>
            <a:r>
              <a:rPr lang="en-US" sz="3200" b="1">
                <a:latin typeface="Consolas" panose="020B0609020204030204" pitchFamily="49" charset="0"/>
              </a:rPr>
              <a:t> s </a:t>
            </a: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in</a:t>
            </a:r>
            <a:r>
              <a:rPr lang="en-US" sz="3200" b="1">
                <a:latin typeface="Consolas" panose="020B0609020204030204" pitchFamily="49" charset="0"/>
              </a:rPr>
              <a:t> studios</a:t>
            </a:r>
          </a:p>
        </p:txBody>
      </p:sp>
    </p:spTree>
    <p:extLst>
      <p:ext uri="{BB962C8B-B14F-4D97-AF65-F5344CB8AC3E}">
        <p14:creationId xmlns:p14="http://schemas.microsoft.com/office/powerpoint/2010/main" val="6334861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531341"/>
            <a:ext cx="10515600" cy="5634682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da-DK" b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da-DK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b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da-DK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b="1">
                <a:solidFill>
                  <a:srgbClr val="2B91AF"/>
                </a:solidFill>
                <a:latin typeface="Consolas" panose="020B0609020204030204" pitchFamily="49" charset="0"/>
              </a:rPr>
              <a:t>Studio</a:t>
            </a:r>
            <a:endParaRPr lang="da-DK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da-DK" b="1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	public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Name { 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	public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HQCity { 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	public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NoOfEmployees { 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</a:p>
          <a:p>
            <a:pPr marL="0" indent="0">
              <a:spcBef>
                <a:spcPts val="0"/>
              </a:spcBef>
              <a:buNone/>
            </a:pPr>
            <a:r>
              <a:rPr lang="da-DK" b="1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da-DK" b="1"/>
          </a:p>
        </p:txBody>
      </p:sp>
    </p:spTree>
    <p:extLst>
      <p:ext uri="{BB962C8B-B14F-4D97-AF65-F5344CB8AC3E}">
        <p14:creationId xmlns:p14="http://schemas.microsoft.com/office/powerpoint/2010/main" val="27171918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 3"/>
          <p:cNvGraphicFramePr>
            <a:graphicFrameLocks noGrp="1"/>
          </p:cNvGraphicFramePr>
          <p:nvPr>
            <p:extLst/>
          </p:nvPr>
        </p:nvGraphicFramePr>
        <p:xfrm>
          <a:off x="830178" y="328638"/>
          <a:ext cx="10160668" cy="54104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40167">
                  <a:extLst>
                    <a:ext uri="{9D8B030D-6E8A-4147-A177-3AD203B41FA5}">
                      <a16:colId xmlns:a16="http://schemas.microsoft.com/office/drawing/2014/main" val="47363412"/>
                    </a:ext>
                  </a:extLst>
                </a:gridCol>
                <a:gridCol w="2540167">
                  <a:extLst>
                    <a:ext uri="{9D8B030D-6E8A-4147-A177-3AD203B41FA5}">
                      <a16:colId xmlns:a16="http://schemas.microsoft.com/office/drawing/2014/main" val="3935601631"/>
                    </a:ext>
                  </a:extLst>
                </a:gridCol>
                <a:gridCol w="2540167">
                  <a:extLst>
                    <a:ext uri="{9D8B030D-6E8A-4147-A177-3AD203B41FA5}">
                      <a16:colId xmlns:a16="http://schemas.microsoft.com/office/drawing/2014/main" val="4119078486"/>
                    </a:ext>
                  </a:extLst>
                </a:gridCol>
                <a:gridCol w="2540167">
                  <a:extLst>
                    <a:ext uri="{9D8B030D-6E8A-4147-A177-3AD203B41FA5}">
                      <a16:colId xmlns:a16="http://schemas.microsoft.com/office/drawing/2014/main" val="371862353"/>
                    </a:ext>
                  </a:extLst>
                </a:gridCol>
              </a:tblGrid>
              <a:tr h="104717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32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da-DK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32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da-DK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32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Duration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32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InMins</a:t>
                      </a:r>
                      <a:endParaRPr lang="da-DK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32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StudioName</a:t>
                      </a:r>
                      <a:endParaRPr lang="da-DK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88163691"/>
                  </a:ext>
                </a:extLst>
              </a:tr>
              <a:tr h="8726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Se7en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1995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127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Line Cinema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83597378"/>
                  </a:ext>
                </a:extLst>
              </a:tr>
              <a:tr h="8726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Alien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1979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117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lang="en-US" sz="2800" baseline="30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</a:t>
                      </a: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Century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Fox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97639513"/>
                  </a:ext>
                </a:extLst>
              </a:tr>
              <a:tr h="8726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Forrest Gump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1994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142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Paramount Pictures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80531286"/>
                  </a:ext>
                </a:extLst>
              </a:tr>
              <a:tr h="8726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True Grit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2010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110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Paramount Pictures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59942850"/>
                  </a:ext>
                </a:extLst>
              </a:tr>
              <a:tr h="8726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Dark City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1998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111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Line Cinema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715571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57556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330249"/>
              </p:ext>
            </p:extLst>
          </p:nvPr>
        </p:nvGraphicFramePr>
        <p:xfrm>
          <a:off x="830178" y="328638"/>
          <a:ext cx="10515600" cy="36651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98922">
                  <a:extLst>
                    <a:ext uri="{9D8B030D-6E8A-4147-A177-3AD203B41FA5}">
                      <a16:colId xmlns:a16="http://schemas.microsoft.com/office/drawing/2014/main" val="47363412"/>
                    </a:ext>
                  </a:extLst>
                </a:gridCol>
                <a:gridCol w="3611478">
                  <a:extLst>
                    <a:ext uri="{9D8B030D-6E8A-4147-A177-3AD203B41FA5}">
                      <a16:colId xmlns:a16="http://schemas.microsoft.com/office/drawing/2014/main" val="393560163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19078486"/>
                    </a:ext>
                  </a:extLst>
                </a:gridCol>
              </a:tblGrid>
              <a:tr h="104717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32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da-DK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32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HQCity</a:t>
                      </a:r>
                      <a:endParaRPr lang="da-DK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32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NoOfEmployees</a:t>
                      </a:r>
                      <a:endParaRPr lang="da-DK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88163691"/>
                  </a:ext>
                </a:extLst>
              </a:tr>
              <a:tr h="8726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Line Cinema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Boston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4000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83597378"/>
                  </a:ext>
                </a:extLst>
              </a:tr>
              <a:tr h="8726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lang="en-US" sz="2800" baseline="30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</a:t>
                      </a: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Century Fox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York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2500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97639513"/>
                  </a:ext>
                </a:extLst>
              </a:tr>
              <a:tr h="8726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Paramount Pictures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York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8000</a:t>
                      </a: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80531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675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69824"/>
              </p:ext>
            </p:extLst>
          </p:nvPr>
        </p:nvGraphicFramePr>
        <p:xfrm>
          <a:off x="607594" y="382780"/>
          <a:ext cx="10804222" cy="5469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60359">
                  <a:extLst>
                    <a:ext uri="{9D8B030D-6E8A-4147-A177-3AD203B41FA5}">
                      <a16:colId xmlns:a16="http://schemas.microsoft.com/office/drawing/2014/main" val="47363412"/>
                    </a:ext>
                  </a:extLst>
                </a:gridCol>
                <a:gridCol w="1076826">
                  <a:extLst>
                    <a:ext uri="{9D8B030D-6E8A-4147-A177-3AD203B41FA5}">
                      <a16:colId xmlns:a16="http://schemas.microsoft.com/office/drawing/2014/main" val="3935601631"/>
                    </a:ext>
                  </a:extLst>
                </a:gridCol>
                <a:gridCol w="1287379">
                  <a:extLst>
                    <a:ext uri="{9D8B030D-6E8A-4147-A177-3AD203B41FA5}">
                      <a16:colId xmlns:a16="http://schemas.microsoft.com/office/drawing/2014/main" val="4119078486"/>
                    </a:ext>
                  </a:extLst>
                </a:gridCol>
                <a:gridCol w="2279984">
                  <a:extLst>
                    <a:ext uri="{9D8B030D-6E8A-4147-A177-3AD203B41FA5}">
                      <a16:colId xmlns:a16="http://schemas.microsoft.com/office/drawing/2014/main" val="371862353"/>
                    </a:ext>
                  </a:extLst>
                </a:gridCol>
                <a:gridCol w="1774658">
                  <a:extLst>
                    <a:ext uri="{9D8B030D-6E8A-4147-A177-3AD203B41FA5}">
                      <a16:colId xmlns:a16="http://schemas.microsoft.com/office/drawing/2014/main" val="42694803"/>
                    </a:ext>
                  </a:extLst>
                </a:gridCol>
                <a:gridCol w="1401679">
                  <a:extLst>
                    <a:ext uri="{9D8B030D-6E8A-4147-A177-3AD203B41FA5}">
                      <a16:colId xmlns:a16="http://schemas.microsoft.com/office/drawing/2014/main" val="1375518197"/>
                    </a:ext>
                  </a:extLst>
                </a:gridCol>
                <a:gridCol w="1323337">
                  <a:extLst>
                    <a:ext uri="{9D8B030D-6E8A-4147-A177-3AD203B41FA5}">
                      <a16:colId xmlns:a16="http://schemas.microsoft.com/office/drawing/2014/main" val="1150475207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da-DK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da-DK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Duration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InMins</a:t>
                      </a:r>
                      <a:endParaRPr lang="da-DK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Studio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da-DK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da-DK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HQCity</a:t>
                      </a:r>
                      <a:endParaRPr lang="da-DK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2000" b="1" i="1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NoOf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2000" b="1" i="1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Employees</a:t>
                      </a: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816369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Se7en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1995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127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Line Cinema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Line Cinema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Boston</a:t>
                      </a: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4000</a:t>
                      </a: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359737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Alien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1979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117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lang="en-US" sz="1600" baseline="30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</a:t>
                      </a: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Century Fox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Line Cinema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Boston</a:t>
                      </a: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4000</a:t>
                      </a: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763951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Forrest Gump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1994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142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Paramount Pictures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Line Cinema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Boston</a:t>
                      </a: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4000</a:t>
                      </a: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53128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True Grit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2010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110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Paramount Pictures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Line Cinema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Boston</a:t>
                      </a: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4000</a:t>
                      </a: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994285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Dark City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1998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111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Line Cinema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Line Cinema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Boston</a:t>
                      </a: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4000</a:t>
                      </a: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155711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Se7en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1995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127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Line Cinema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lang="en-US" sz="1600" baseline="30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</a:t>
                      </a: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Century Fox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York</a:t>
                      </a: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2500</a:t>
                      </a: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037717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Alien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1979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117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lang="en-US" sz="1600" baseline="30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</a:t>
                      </a: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Century Fox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lang="en-US" sz="1600" baseline="30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</a:t>
                      </a: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Century Fox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York</a:t>
                      </a: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2500</a:t>
                      </a: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95253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Forrest Gump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1994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142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Paramount Pictures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lang="en-US" sz="1600" baseline="30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</a:t>
                      </a: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Century Fox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York</a:t>
                      </a: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2500</a:t>
                      </a: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23057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True Grit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2010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110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Paramount Pictures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lang="en-US" sz="1600" baseline="30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</a:t>
                      </a: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Century Fox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York</a:t>
                      </a: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2500</a:t>
                      </a: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56983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Dark City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1998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111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Line Cinema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lang="en-US" sz="1600" baseline="30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</a:t>
                      </a: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Century Fox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York</a:t>
                      </a: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2500</a:t>
                      </a: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109376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Se7en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1995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127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Line Cinema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Paramount Pictures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York</a:t>
                      </a: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8000</a:t>
                      </a: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809645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Alien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1979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117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lang="en-US" sz="1600" baseline="30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</a:t>
                      </a: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Century Fox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Paramount Pictures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York</a:t>
                      </a: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8000</a:t>
                      </a: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2956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Forrest Gump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1994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142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Paramount Pictures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Paramount Pictures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York</a:t>
                      </a: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8000</a:t>
                      </a: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611636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True Grit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2010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110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Paramount Pictures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Paramount Pictures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York</a:t>
                      </a: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8000</a:t>
                      </a: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360838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Dark City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1998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111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Line Cinema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Paramount Pictures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York</a:t>
                      </a: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8000</a:t>
                      </a: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6942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55626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199" y="1825625"/>
            <a:ext cx="11021907" cy="4351338"/>
          </a:xfrm>
        </p:spPr>
        <p:txBody>
          <a:bodyPr/>
          <a:lstStyle/>
          <a:p>
            <a:pPr marL="0" indent="0">
              <a:buNone/>
            </a:pP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var</a:t>
            </a:r>
            <a:r>
              <a:rPr lang="en-US" sz="3200" b="1">
                <a:latin typeface="Consolas" panose="020B0609020204030204" pitchFamily="49" charset="0"/>
              </a:rPr>
              <a:t> query = </a:t>
            </a: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from</a:t>
            </a:r>
            <a:r>
              <a:rPr lang="en-US" sz="3200" b="1">
                <a:latin typeface="Consolas" panose="020B0609020204030204" pitchFamily="49" charset="0"/>
              </a:rPr>
              <a:t> m </a:t>
            </a: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in</a:t>
            </a:r>
            <a:r>
              <a:rPr lang="en-US" sz="3200" b="1">
                <a:latin typeface="Consolas" panose="020B0609020204030204" pitchFamily="49" charset="0"/>
              </a:rPr>
              <a:t> movies</a:t>
            </a:r>
          </a:p>
          <a:p>
            <a:pPr marL="0" indent="0">
              <a:buNone/>
            </a:pPr>
            <a:r>
              <a:rPr lang="en-US" sz="3200" b="1">
                <a:latin typeface="Consolas" panose="020B0609020204030204" pitchFamily="49" charset="0"/>
              </a:rPr>
              <a:t>			</a:t>
            </a: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join</a:t>
            </a:r>
            <a:r>
              <a:rPr lang="en-US" sz="3200" b="1">
                <a:latin typeface="Consolas" panose="020B0609020204030204" pitchFamily="49" charset="0"/>
              </a:rPr>
              <a:t> s </a:t>
            </a: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in</a:t>
            </a:r>
            <a:r>
              <a:rPr lang="en-US" sz="3200" b="1">
                <a:latin typeface="Consolas" panose="020B0609020204030204" pitchFamily="49" charset="0"/>
              </a:rPr>
              <a:t> studios</a:t>
            </a:r>
          </a:p>
          <a:p>
            <a:pPr marL="0" indent="0">
              <a:buNone/>
            </a:pPr>
            <a:r>
              <a:rPr lang="en-US" sz="3200" b="1">
                <a:latin typeface="Consolas" panose="020B0609020204030204" pitchFamily="49" charset="0"/>
              </a:rPr>
              <a:t>			</a:t>
            </a: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on</a:t>
            </a:r>
            <a:r>
              <a:rPr lang="en-US" sz="3200" b="1">
                <a:latin typeface="Consolas" panose="020B0609020204030204" pitchFamily="49" charset="0"/>
              </a:rPr>
              <a:t> m.StudioName </a:t>
            </a: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equals</a:t>
            </a:r>
            <a:r>
              <a:rPr lang="en-US" sz="3200" b="1">
                <a:latin typeface="Consolas" panose="020B0609020204030204" pitchFamily="49" charset="0"/>
              </a:rPr>
              <a:t> s.Name</a:t>
            </a:r>
          </a:p>
          <a:p>
            <a:pPr marL="0" indent="0">
              <a:buNone/>
            </a:pPr>
            <a:endParaRPr lang="en-US" sz="3200" b="1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17656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9297953"/>
              </p:ext>
            </p:extLst>
          </p:nvPr>
        </p:nvGraphicFramePr>
        <p:xfrm>
          <a:off x="607594" y="382780"/>
          <a:ext cx="10804222" cy="5469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60359">
                  <a:extLst>
                    <a:ext uri="{9D8B030D-6E8A-4147-A177-3AD203B41FA5}">
                      <a16:colId xmlns:a16="http://schemas.microsoft.com/office/drawing/2014/main" val="47363412"/>
                    </a:ext>
                  </a:extLst>
                </a:gridCol>
                <a:gridCol w="1076826">
                  <a:extLst>
                    <a:ext uri="{9D8B030D-6E8A-4147-A177-3AD203B41FA5}">
                      <a16:colId xmlns:a16="http://schemas.microsoft.com/office/drawing/2014/main" val="3935601631"/>
                    </a:ext>
                  </a:extLst>
                </a:gridCol>
                <a:gridCol w="1287379">
                  <a:extLst>
                    <a:ext uri="{9D8B030D-6E8A-4147-A177-3AD203B41FA5}">
                      <a16:colId xmlns:a16="http://schemas.microsoft.com/office/drawing/2014/main" val="4119078486"/>
                    </a:ext>
                  </a:extLst>
                </a:gridCol>
                <a:gridCol w="2279984">
                  <a:extLst>
                    <a:ext uri="{9D8B030D-6E8A-4147-A177-3AD203B41FA5}">
                      <a16:colId xmlns:a16="http://schemas.microsoft.com/office/drawing/2014/main" val="371862353"/>
                    </a:ext>
                  </a:extLst>
                </a:gridCol>
                <a:gridCol w="1774658">
                  <a:extLst>
                    <a:ext uri="{9D8B030D-6E8A-4147-A177-3AD203B41FA5}">
                      <a16:colId xmlns:a16="http://schemas.microsoft.com/office/drawing/2014/main" val="42694803"/>
                    </a:ext>
                  </a:extLst>
                </a:gridCol>
                <a:gridCol w="1401679">
                  <a:extLst>
                    <a:ext uri="{9D8B030D-6E8A-4147-A177-3AD203B41FA5}">
                      <a16:colId xmlns:a16="http://schemas.microsoft.com/office/drawing/2014/main" val="1375518197"/>
                    </a:ext>
                  </a:extLst>
                </a:gridCol>
                <a:gridCol w="1323337">
                  <a:extLst>
                    <a:ext uri="{9D8B030D-6E8A-4147-A177-3AD203B41FA5}">
                      <a16:colId xmlns:a16="http://schemas.microsoft.com/office/drawing/2014/main" val="1150475207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da-DK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da-DK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Duration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InMins</a:t>
                      </a:r>
                      <a:endParaRPr lang="da-DK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Studio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da-DK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da-DK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HQCity</a:t>
                      </a:r>
                      <a:endParaRPr lang="da-DK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2000" b="1" i="1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NoOf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2000" b="1" i="1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Employees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816369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Se7en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1995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127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Line Cinema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Line Cinema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Boston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4000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359737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Alien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1979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117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lang="en-US" sz="1600" baseline="30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</a:t>
                      </a: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Century Fox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Line Cinema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Boston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4000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63951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Forrest Gump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1994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142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Paramount Pictures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Line Cinema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Boston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4000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53128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True Grit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2010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110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Paramount Pictures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Line Cinema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Boston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4000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994285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Dark City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1998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111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Line Cinema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Line Cinema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Boston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4000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155711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Se7en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1995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127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Line Cinema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lang="en-US" sz="1600" baseline="30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</a:t>
                      </a: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Century Fox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York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2500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037717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Alien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1979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117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lang="en-US" sz="1600" baseline="30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</a:t>
                      </a: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Century Fox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lang="en-US" sz="1600" baseline="30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</a:t>
                      </a: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Century Fox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York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2500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95253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Forrest Gump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1994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142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Paramount Pictures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lang="en-US" sz="1600" baseline="30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</a:t>
                      </a: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Century Fox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York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2500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323057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True Grit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2010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110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Paramount Pictures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lang="en-US" sz="1600" baseline="30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</a:t>
                      </a: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Century Fox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York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2500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556983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Dark City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1998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111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Line Cinema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lang="en-US" sz="1600" baseline="30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</a:t>
                      </a: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Century Fox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York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2500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09376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Se7en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1995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127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Line Cinema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Paramount Pictures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York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8000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809645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Alien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1979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117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lang="en-US" sz="1600" baseline="30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</a:t>
                      </a: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Century Fox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Paramount Pictures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York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8000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82956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Forrest Gump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1994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142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Paramount Pictures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Paramount Pictures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York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8000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611636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True Grit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2010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110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Paramount Pictures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Paramount Pictures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York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8000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360838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Dark City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1998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111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Line Cinema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Paramount Pictures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York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8000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06942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92586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9142954"/>
              </p:ext>
            </p:extLst>
          </p:nvPr>
        </p:nvGraphicFramePr>
        <p:xfrm>
          <a:off x="607594" y="382780"/>
          <a:ext cx="10804222" cy="2229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60359">
                  <a:extLst>
                    <a:ext uri="{9D8B030D-6E8A-4147-A177-3AD203B41FA5}">
                      <a16:colId xmlns:a16="http://schemas.microsoft.com/office/drawing/2014/main" val="47363412"/>
                    </a:ext>
                  </a:extLst>
                </a:gridCol>
                <a:gridCol w="1076826">
                  <a:extLst>
                    <a:ext uri="{9D8B030D-6E8A-4147-A177-3AD203B41FA5}">
                      <a16:colId xmlns:a16="http://schemas.microsoft.com/office/drawing/2014/main" val="3935601631"/>
                    </a:ext>
                  </a:extLst>
                </a:gridCol>
                <a:gridCol w="1287379">
                  <a:extLst>
                    <a:ext uri="{9D8B030D-6E8A-4147-A177-3AD203B41FA5}">
                      <a16:colId xmlns:a16="http://schemas.microsoft.com/office/drawing/2014/main" val="4119078486"/>
                    </a:ext>
                  </a:extLst>
                </a:gridCol>
                <a:gridCol w="2279984">
                  <a:extLst>
                    <a:ext uri="{9D8B030D-6E8A-4147-A177-3AD203B41FA5}">
                      <a16:colId xmlns:a16="http://schemas.microsoft.com/office/drawing/2014/main" val="371862353"/>
                    </a:ext>
                  </a:extLst>
                </a:gridCol>
                <a:gridCol w="1774658">
                  <a:extLst>
                    <a:ext uri="{9D8B030D-6E8A-4147-A177-3AD203B41FA5}">
                      <a16:colId xmlns:a16="http://schemas.microsoft.com/office/drawing/2014/main" val="42694803"/>
                    </a:ext>
                  </a:extLst>
                </a:gridCol>
                <a:gridCol w="1401679">
                  <a:extLst>
                    <a:ext uri="{9D8B030D-6E8A-4147-A177-3AD203B41FA5}">
                      <a16:colId xmlns:a16="http://schemas.microsoft.com/office/drawing/2014/main" val="1375518197"/>
                    </a:ext>
                  </a:extLst>
                </a:gridCol>
                <a:gridCol w="1323337">
                  <a:extLst>
                    <a:ext uri="{9D8B030D-6E8A-4147-A177-3AD203B41FA5}">
                      <a16:colId xmlns:a16="http://schemas.microsoft.com/office/drawing/2014/main" val="1150475207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da-DK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da-DK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Duration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InMins</a:t>
                      </a:r>
                      <a:endParaRPr lang="da-DK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Studio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da-DK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da-DK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HQCity</a:t>
                      </a:r>
                      <a:endParaRPr lang="da-DK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2000" b="1" i="1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NoOf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2000" b="1" i="1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Employees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816369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Se7en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1995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127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Line Cinema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Line Cinema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Boston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4000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359737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Dark City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1998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111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Line Cinema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Line Cinema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Boston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4000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155711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Alien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1979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117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lang="en-US" sz="1600" baseline="30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</a:t>
                      </a: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Century Fox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lang="en-US" sz="1600" baseline="30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</a:t>
                      </a: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Century Fox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York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2500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95253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Forrest Gump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1994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142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Paramount Pictures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Paramount Pictures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York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8000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611636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True Grit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2010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110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Paramount Pictures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Paramount Pictures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York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8000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3608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34479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2980285"/>
              </p:ext>
            </p:extLst>
          </p:nvPr>
        </p:nvGraphicFramePr>
        <p:xfrm>
          <a:off x="607594" y="382780"/>
          <a:ext cx="8524238" cy="2229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60359">
                  <a:extLst>
                    <a:ext uri="{9D8B030D-6E8A-4147-A177-3AD203B41FA5}">
                      <a16:colId xmlns:a16="http://schemas.microsoft.com/office/drawing/2014/main" val="47363412"/>
                    </a:ext>
                  </a:extLst>
                </a:gridCol>
                <a:gridCol w="1076826">
                  <a:extLst>
                    <a:ext uri="{9D8B030D-6E8A-4147-A177-3AD203B41FA5}">
                      <a16:colId xmlns:a16="http://schemas.microsoft.com/office/drawing/2014/main" val="3935601631"/>
                    </a:ext>
                  </a:extLst>
                </a:gridCol>
                <a:gridCol w="1287379">
                  <a:extLst>
                    <a:ext uri="{9D8B030D-6E8A-4147-A177-3AD203B41FA5}">
                      <a16:colId xmlns:a16="http://schemas.microsoft.com/office/drawing/2014/main" val="4119078486"/>
                    </a:ext>
                  </a:extLst>
                </a:gridCol>
                <a:gridCol w="1774658">
                  <a:extLst>
                    <a:ext uri="{9D8B030D-6E8A-4147-A177-3AD203B41FA5}">
                      <a16:colId xmlns:a16="http://schemas.microsoft.com/office/drawing/2014/main" val="42694803"/>
                    </a:ext>
                  </a:extLst>
                </a:gridCol>
                <a:gridCol w="1401679">
                  <a:extLst>
                    <a:ext uri="{9D8B030D-6E8A-4147-A177-3AD203B41FA5}">
                      <a16:colId xmlns:a16="http://schemas.microsoft.com/office/drawing/2014/main" val="1375518197"/>
                    </a:ext>
                  </a:extLst>
                </a:gridCol>
                <a:gridCol w="1323337">
                  <a:extLst>
                    <a:ext uri="{9D8B030D-6E8A-4147-A177-3AD203B41FA5}">
                      <a16:colId xmlns:a16="http://schemas.microsoft.com/office/drawing/2014/main" val="1150475207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da-DK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da-DK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Duration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InMins</a:t>
                      </a:r>
                      <a:endParaRPr lang="da-DK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Studio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da-DK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HQCity</a:t>
                      </a:r>
                      <a:endParaRPr lang="da-DK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2000" b="1" i="1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NoOf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2000" b="1" i="1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Employees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816369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Se7en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1995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127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Line Cinema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Boston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4000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359737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Dark City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1998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111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Line Cinema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Boston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4000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155711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Alien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1979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117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lang="en-US" sz="1600" baseline="30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</a:t>
                      </a: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Century Fox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York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2500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95253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Forrest Gump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1994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142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Paramount Pictures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York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8000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611636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True Grit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2010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110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Paramount Pictures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York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8000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3608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78311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199" y="1825625"/>
            <a:ext cx="11021907" cy="4351338"/>
          </a:xfrm>
        </p:spPr>
        <p:txBody>
          <a:bodyPr/>
          <a:lstStyle/>
          <a:p>
            <a:pPr marL="0" indent="0">
              <a:buNone/>
            </a:pP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var</a:t>
            </a:r>
            <a:r>
              <a:rPr lang="en-US" sz="3200" b="1">
                <a:latin typeface="Consolas" panose="020B0609020204030204" pitchFamily="49" charset="0"/>
              </a:rPr>
              <a:t> query = </a:t>
            </a: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from</a:t>
            </a:r>
            <a:r>
              <a:rPr lang="en-US" sz="3200" b="1">
                <a:latin typeface="Consolas" panose="020B0609020204030204" pitchFamily="49" charset="0"/>
              </a:rPr>
              <a:t> m </a:t>
            </a: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in</a:t>
            </a:r>
            <a:r>
              <a:rPr lang="en-US" sz="3200" b="1">
                <a:latin typeface="Consolas" panose="020B0609020204030204" pitchFamily="49" charset="0"/>
              </a:rPr>
              <a:t> movies</a:t>
            </a:r>
          </a:p>
          <a:p>
            <a:pPr marL="0" indent="0">
              <a:buNone/>
            </a:pPr>
            <a:r>
              <a:rPr lang="en-US" sz="3200" b="1">
                <a:latin typeface="Consolas" panose="020B0609020204030204" pitchFamily="49" charset="0"/>
              </a:rPr>
              <a:t>			</a:t>
            </a: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join</a:t>
            </a:r>
            <a:r>
              <a:rPr lang="en-US" sz="3200" b="1">
                <a:latin typeface="Consolas" panose="020B0609020204030204" pitchFamily="49" charset="0"/>
              </a:rPr>
              <a:t> s </a:t>
            </a: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in</a:t>
            </a:r>
            <a:r>
              <a:rPr lang="en-US" sz="3200" b="1">
                <a:latin typeface="Consolas" panose="020B0609020204030204" pitchFamily="49" charset="0"/>
              </a:rPr>
              <a:t> studios</a:t>
            </a:r>
          </a:p>
          <a:p>
            <a:pPr marL="0" indent="0">
              <a:buNone/>
            </a:pPr>
            <a:r>
              <a:rPr lang="en-US" sz="3200" b="1">
                <a:latin typeface="Consolas" panose="020B0609020204030204" pitchFamily="49" charset="0"/>
              </a:rPr>
              <a:t>			</a:t>
            </a: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on</a:t>
            </a:r>
            <a:r>
              <a:rPr lang="en-US" sz="3200" b="1">
                <a:latin typeface="Consolas" panose="020B0609020204030204" pitchFamily="49" charset="0"/>
              </a:rPr>
              <a:t> m.StudioName </a:t>
            </a: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equals</a:t>
            </a:r>
            <a:r>
              <a:rPr lang="en-US" sz="3200" b="1">
                <a:latin typeface="Consolas" panose="020B0609020204030204" pitchFamily="49" charset="0"/>
              </a:rPr>
              <a:t> s.Name</a:t>
            </a:r>
          </a:p>
          <a:p>
            <a:pPr marL="0" indent="0">
              <a:buNone/>
            </a:pPr>
            <a:r>
              <a:rPr lang="en-US" sz="3200" b="1">
                <a:latin typeface="Consolas" panose="020B0609020204030204" pitchFamily="49" charset="0"/>
              </a:rPr>
              <a:t>			</a:t>
            </a: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where</a:t>
            </a:r>
            <a:r>
              <a:rPr lang="en-US" sz="3200" b="1">
                <a:latin typeface="Consolas" panose="020B0609020204030204" pitchFamily="49" charset="0"/>
              </a:rPr>
              <a:t> s.HQCity == </a:t>
            </a:r>
            <a:r>
              <a:rPr lang="en-US" sz="3200" b="1">
                <a:solidFill>
                  <a:srgbClr val="FF0000"/>
                </a:solidFill>
                <a:latin typeface="Consolas" panose="020B0609020204030204" pitchFamily="49" charset="0"/>
              </a:rPr>
              <a:t>"New York"</a:t>
            </a:r>
            <a:endParaRPr lang="da-DK" sz="3200" b="1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3200" b="1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41352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199" y="1825625"/>
            <a:ext cx="11021907" cy="4351338"/>
          </a:xfrm>
        </p:spPr>
        <p:txBody>
          <a:bodyPr/>
          <a:lstStyle/>
          <a:p>
            <a:pPr marL="0" indent="0">
              <a:buNone/>
            </a:pP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var</a:t>
            </a:r>
            <a:r>
              <a:rPr lang="en-US" sz="3200" b="1">
                <a:latin typeface="Consolas" panose="020B0609020204030204" pitchFamily="49" charset="0"/>
              </a:rPr>
              <a:t> query = </a:t>
            </a: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from</a:t>
            </a:r>
            <a:r>
              <a:rPr lang="en-US" sz="3200" b="1">
                <a:latin typeface="Consolas" panose="020B0609020204030204" pitchFamily="49" charset="0"/>
              </a:rPr>
              <a:t> m </a:t>
            </a: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in</a:t>
            </a:r>
            <a:r>
              <a:rPr lang="en-US" sz="3200" b="1">
                <a:latin typeface="Consolas" panose="020B0609020204030204" pitchFamily="49" charset="0"/>
              </a:rPr>
              <a:t> movies</a:t>
            </a:r>
          </a:p>
          <a:p>
            <a:pPr marL="0" indent="0">
              <a:buNone/>
            </a:pPr>
            <a:r>
              <a:rPr lang="en-US" sz="3200" b="1">
                <a:latin typeface="Consolas" panose="020B0609020204030204" pitchFamily="49" charset="0"/>
              </a:rPr>
              <a:t>			</a:t>
            </a: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join</a:t>
            </a:r>
            <a:r>
              <a:rPr lang="en-US" sz="3200" b="1">
                <a:latin typeface="Consolas" panose="020B0609020204030204" pitchFamily="49" charset="0"/>
              </a:rPr>
              <a:t> s </a:t>
            </a: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in</a:t>
            </a:r>
            <a:r>
              <a:rPr lang="en-US" sz="3200" b="1">
                <a:latin typeface="Consolas" panose="020B0609020204030204" pitchFamily="49" charset="0"/>
              </a:rPr>
              <a:t> studios</a:t>
            </a:r>
          </a:p>
          <a:p>
            <a:pPr marL="0" indent="0">
              <a:buNone/>
            </a:pPr>
            <a:r>
              <a:rPr lang="en-US" sz="3200" b="1">
                <a:latin typeface="Consolas" panose="020B0609020204030204" pitchFamily="49" charset="0"/>
              </a:rPr>
              <a:t>			</a:t>
            </a: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on</a:t>
            </a:r>
            <a:r>
              <a:rPr lang="en-US" sz="3200" b="1">
                <a:latin typeface="Consolas" panose="020B0609020204030204" pitchFamily="49" charset="0"/>
              </a:rPr>
              <a:t> m.StudioName </a:t>
            </a: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equals</a:t>
            </a:r>
            <a:r>
              <a:rPr lang="en-US" sz="3200" b="1">
                <a:latin typeface="Consolas" panose="020B0609020204030204" pitchFamily="49" charset="0"/>
              </a:rPr>
              <a:t> s.Name</a:t>
            </a:r>
          </a:p>
          <a:p>
            <a:pPr marL="0" indent="0">
              <a:buNone/>
            </a:pPr>
            <a:r>
              <a:rPr lang="en-US" sz="3200" b="1">
                <a:latin typeface="Consolas" panose="020B0609020204030204" pitchFamily="49" charset="0"/>
              </a:rPr>
              <a:t>			</a:t>
            </a: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where</a:t>
            </a:r>
            <a:r>
              <a:rPr lang="en-US" sz="3200" b="1">
                <a:latin typeface="Consolas" panose="020B0609020204030204" pitchFamily="49" charset="0"/>
              </a:rPr>
              <a:t> s.HQCity == </a:t>
            </a:r>
            <a:r>
              <a:rPr lang="en-US" sz="3200" b="1">
                <a:solidFill>
                  <a:srgbClr val="FF0000"/>
                </a:solidFill>
                <a:latin typeface="Consolas" panose="020B0609020204030204" pitchFamily="49" charset="0"/>
              </a:rPr>
              <a:t>"New York“</a:t>
            </a:r>
          </a:p>
          <a:p>
            <a:pPr marL="0" indent="0">
              <a:buNone/>
            </a:pPr>
            <a:r>
              <a:rPr lang="en-US" sz="3200" b="1">
                <a:solidFill>
                  <a:srgbClr val="FF0000"/>
                </a:solidFill>
                <a:latin typeface="Consolas" panose="020B0609020204030204" pitchFamily="49" charset="0"/>
              </a:rPr>
              <a:t>			</a:t>
            </a:r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select</a:t>
            </a:r>
            <a:r>
              <a:rPr lang="en-US" sz="3200" b="1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3200" b="1">
                <a:latin typeface="Consolas" panose="020B0609020204030204" pitchFamily="49" charset="0"/>
              </a:rPr>
              <a:t>…</a:t>
            </a:r>
            <a:endParaRPr lang="da-DK" sz="3200" b="1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3200" b="1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29246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6963508"/>
              </p:ext>
            </p:extLst>
          </p:nvPr>
        </p:nvGraphicFramePr>
        <p:xfrm>
          <a:off x="607594" y="382780"/>
          <a:ext cx="8524238" cy="158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60359">
                  <a:extLst>
                    <a:ext uri="{9D8B030D-6E8A-4147-A177-3AD203B41FA5}">
                      <a16:colId xmlns:a16="http://schemas.microsoft.com/office/drawing/2014/main" val="47363412"/>
                    </a:ext>
                  </a:extLst>
                </a:gridCol>
                <a:gridCol w="1076826">
                  <a:extLst>
                    <a:ext uri="{9D8B030D-6E8A-4147-A177-3AD203B41FA5}">
                      <a16:colId xmlns:a16="http://schemas.microsoft.com/office/drawing/2014/main" val="3935601631"/>
                    </a:ext>
                  </a:extLst>
                </a:gridCol>
                <a:gridCol w="1287379">
                  <a:extLst>
                    <a:ext uri="{9D8B030D-6E8A-4147-A177-3AD203B41FA5}">
                      <a16:colId xmlns:a16="http://schemas.microsoft.com/office/drawing/2014/main" val="4119078486"/>
                    </a:ext>
                  </a:extLst>
                </a:gridCol>
                <a:gridCol w="1774658">
                  <a:extLst>
                    <a:ext uri="{9D8B030D-6E8A-4147-A177-3AD203B41FA5}">
                      <a16:colId xmlns:a16="http://schemas.microsoft.com/office/drawing/2014/main" val="42694803"/>
                    </a:ext>
                  </a:extLst>
                </a:gridCol>
                <a:gridCol w="1401679">
                  <a:extLst>
                    <a:ext uri="{9D8B030D-6E8A-4147-A177-3AD203B41FA5}">
                      <a16:colId xmlns:a16="http://schemas.microsoft.com/office/drawing/2014/main" val="1375518197"/>
                    </a:ext>
                  </a:extLst>
                </a:gridCol>
                <a:gridCol w="1323337">
                  <a:extLst>
                    <a:ext uri="{9D8B030D-6E8A-4147-A177-3AD203B41FA5}">
                      <a16:colId xmlns:a16="http://schemas.microsoft.com/office/drawing/2014/main" val="1150475207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da-DK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da-DK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Duration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InMins</a:t>
                      </a:r>
                      <a:endParaRPr lang="da-DK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Studio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da-DK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HQCity</a:t>
                      </a:r>
                      <a:endParaRPr lang="da-DK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2000" b="1" i="1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NoOf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2000" b="1" i="1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Employees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816369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Alien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1979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117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lang="en-US" sz="1600" baseline="30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</a:t>
                      </a: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Century Fox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York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2500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95253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Forrest Gump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1994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142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Paramount Pictures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York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8000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611636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True Grit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2010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110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Paramount Pictures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York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8000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3608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27558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2325620"/>
              </p:ext>
            </p:extLst>
          </p:nvPr>
        </p:nvGraphicFramePr>
        <p:xfrm>
          <a:off x="1259840" y="599616"/>
          <a:ext cx="10146453" cy="261794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4465">
                  <a:extLst>
                    <a:ext uri="{9D8B030D-6E8A-4147-A177-3AD203B41FA5}">
                      <a16:colId xmlns:a16="http://schemas.microsoft.com/office/drawing/2014/main" val="47363412"/>
                    </a:ext>
                  </a:extLst>
                </a:gridCol>
                <a:gridCol w="8241988">
                  <a:extLst>
                    <a:ext uri="{9D8B030D-6E8A-4147-A177-3AD203B41FA5}">
                      <a16:colId xmlns:a16="http://schemas.microsoft.com/office/drawing/2014/main" val="3935601631"/>
                    </a:ext>
                  </a:extLst>
                </a:gridCol>
              </a:tblGrid>
              <a:tr h="8726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Identification</a:t>
                      </a:r>
                      <a:endParaRPr lang="da-DK" sz="2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</a:rPr>
                        <a:t>from</a:t>
                      </a:r>
                      <a:r>
                        <a:rPr lang="en-US" sz="1600" b="1"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en-US" sz="1600" b="1" i="1">
                          <a:latin typeface="Consolas" panose="020B0609020204030204" pitchFamily="49" charset="0"/>
                        </a:rPr>
                        <a:t>variableName</a:t>
                      </a:r>
                      <a:r>
                        <a:rPr lang="en-US" sz="1600" b="1">
                          <a:latin typeface="Consolas" panose="020B0609020204030204" pitchFamily="49" charset="0"/>
                        </a:rPr>
                        <a:t>) </a:t>
                      </a:r>
                      <a:r>
                        <a:rPr lang="en-US" sz="1600" b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</a:rPr>
                        <a:t>in</a:t>
                      </a:r>
                      <a:r>
                        <a:rPr lang="en-US" sz="1600" b="1"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en-US" sz="1600" b="1" i="1">
                          <a:latin typeface="Consolas" panose="020B0609020204030204" pitchFamily="49" charset="0"/>
                        </a:rPr>
                        <a:t>collectionName</a:t>
                      </a:r>
                      <a:r>
                        <a:rPr lang="en-US" sz="1600" b="1">
                          <a:latin typeface="Consolas" panose="020B0609020204030204" pitchFamily="49" charset="0"/>
                        </a:rPr>
                        <a:t>)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83597378"/>
                  </a:ext>
                </a:extLst>
              </a:tr>
              <a:tr h="8726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Selection</a:t>
                      </a:r>
                      <a:endParaRPr lang="da-DK" sz="2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</a:rPr>
                        <a:t>select</a:t>
                      </a:r>
                      <a:r>
                        <a:rPr lang="en-US" sz="1600" b="1"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en-US" sz="1600" b="1" i="1">
                          <a:latin typeface="Consolas" panose="020B0609020204030204" pitchFamily="49" charset="0"/>
                        </a:rPr>
                        <a:t>variableName</a:t>
                      </a:r>
                      <a:r>
                        <a:rPr lang="en-US" sz="1600" b="1">
                          <a:latin typeface="Consolas" panose="020B0609020204030204" pitchFamily="49" charset="0"/>
                        </a:rPr>
                        <a:t>).(</a:t>
                      </a:r>
                      <a:r>
                        <a:rPr lang="en-US" sz="1600" b="1" i="1">
                          <a:latin typeface="Consolas" panose="020B0609020204030204" pitchFamily="49" charset="0"/>
                        </a:rPr>
                        <a:t>propertyName</a:t>
                      </a:r>
                      <a:r>
                        <a:rPr lang="en-US" sz="1600" b="1">
                          <a:latin typeface="Consolas" panose="020B0609020204030204" pitchFamily="49" charset="0"/>
                        </a:rPr>
                        <a:t>)</a:t>
                      </a:r>
                      <a:endParaRPr lang="en-US" sz="1600" b="1">
                        <a:solidFill>
                          <a:schemeClr val="accent1">
                            <a:lumMod val="75000"/>
                          </a:schemeClr>
                        </a:solidFill>
                        <a:latin typeface="Consolas" panose="020B0609020204030204" pitchFamily="49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</a:rPr>
                        <a:t>select</a:t>
                      </a:r>
                      <a:r>
                        <a:rPr lang="en-US" sz="1600" b="1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</a:rPr>
                        <a:t>new</a:t>
                      </a:r>
                      <a:r>
                        <a:rPr lang="en-US" sz="1600" b="1">
                          <a:latin typeface="Consolas" panose="020B0609020204030204" pitchFamily="49" charset="0"/>
                        </a:rPr>
                        <a:t> {(</a:t>
                      </a:r>
                      <a:r>
                        <a:rPr lang="en-US" sz="1600" b="1" i="1">
                          <a:latin typeface="Consolas" panose="020B0609020204030204" pitchFamily="49" charset="0"/>
                        </a:rPr>
                        <a:t>variableName</a:t>
                      </a:r>
                      <a:r>
                        <a:rPr lang="en-US" sz="1600" b="1">
                          <a:latin typeface="Consolas" panose="020B0609020204030204" pitchFamily="49" charset="0"/>
                        </a:rPr>
                        <a:t>).(</a:t>
                      </a:r>
                      <a:r>
                        <a:rPr lang="en-US" sz="1600" b="1" i="1">
                          <a:latin typeface="Consolas" panose="020B0609020204030204" pitchFamily="49" charset="0"/>
                        </a:rPr>
                        <a:t>propertyName</a:t>
                      </a:r>
                      <a:r>
                        <a:rPr lang="en-US" sz="1600" b="1">
                          <a:latin typeface="Consolas" panose="020B0609020204030204" pitchFamily="49" charset="0"/>
                        </a:rPr>
                        <a:t>),…}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97639513"/>
                  </a:ext>
                </a:extLst>
              </a:tr>
              <a:tr h="8726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Filtering</a:t>
                      </a:r>
                      <a:endParaRPr lang="da-DK" sz="2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</a:rPr>
                        <a:t>where </a:t>
                      </a:r>
                      <a:r>
                        <a:rPr lang="en-US" sz="1600" b="1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600" b="1" i="1">
                          <a:latin typeface="Consolas" panose="020B0609020204030204" pitchFamily="49" charset="0"/>
                        </a:rPr>
                        <a:t>logical condition</a:t>
                      </a:r>
                      <a:r>
                        <a:rPr lang="en-US" sz="1600" b="1">
                          <a:latin typeface="Consolas" panose="020B0609020204030204" pitchFamily="49" charset="0"/>
                        </a:rPr>
                        <a:t>)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80531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93361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8783053"/>
              </p:ext>
            </p:extLst>
          </p:nvPr>
        </p:nvGraphicFramePr>
        <p:xfrm>
          <a:off x="1259840" y="599616"/>
          <a:ext cx="10146453" cy="52358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4465">
                  <a:extLst>
                    <a:ext uri="{9D8B030D-6E8A-4147-A177-3AD203B41FA5}">
                      <a16:colId xmlns:a16="http://schemas.microsoft.com/office/drawing/2014/main" val="47363412"/>
                    </a:ext>
                  </a:extLst>
                </a:gridCol>
                <a:gridCol w="8241988">
                  <a:extLst>
                    <a:ext uri="{9D8B030D-6E8A-4147-A177-3AD203B41FA5}">
                      <a16:colId xmlns:a16="http://schemas.microsoft.com/office/drawing/2014/main" val="3935601631"/>
                    </a:ext>
                  </a:extLst>
                </a:gridCol>
              </a:tblGrid>
              <a:tr h="8726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Identification</a:t>
                      </a:r>
                      <a:endParaRPr lang="da-DK" sz="2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</a:rPr>
                        <a:t>from</a:t>
                      </a:r>
                      <a:r>
                        <a:rPr lang="en-US" sz="1600" b="1"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en-US" sz="1600" b="1" i="1">
                          <a:latin typeface="Consolas" panose="020B0609020204030204" pitchFamily="49" charset="0"/>
                        </a:rPr>
                        <a:t>variableName</a:t>
                      </a:r>
                      <a:r>
                        <a:rPr lang="en-US" sz="1600" b="1">
                          <a:latin typeface="Consolas" panose="020B0609020204030204" pitchFamily="49" charset="0"/>
                        </a:rPr>
                        <a:t>) </a:t>
                      </a:r>
                      <a:r>
                        <a:rPr lang="en-US" sz="1600" b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</a:rPr>
                        <a:t>in</a:t>
                      </a:r>
                      <a:r>
                        <a:rPr lang="en-US" sz="1600" b="1"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en-US" sz="1600" b="1" i="1">
                          <a:latin typeface="Consolas" panose="020B0609020204030204" pitchFamily="49" charset="0"/>
                        </a:rPr>
                        <a:t>collectionName</a:t>
                      </a:r>
                      <a:r>
                        <a:rPr lang="en-US" sz="1600" b="1">
                          <a:latin typeface="Consolas" panose="020B0609020204030204" pitchFamily="49" charset="0"/>
                        </a:rPr>
                        <a:t>)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83597378"/>
                  </a:ext>
                </a:extLst>
              </a:tr>
              <a:tr h="8726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Selection</a:t>
                      </a:r>
                      <a:endParaRPr lang="da-DK" sz="2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</a:rPr>
                        <a:t>select</a:t>
                      </a:r>
                      <a:r>
                        <a:rPr lang="en-US" sz="1600" b="1"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en-US" sz="1600" b="1" i="1">
                          <a:latin typeface="Consolas" panose="020B0609020204030204" pitchFamily="49" charset="0"/>
                        </a:rPr>
                        <a:t>variableName</a:t>
                      </a:r>
                      <a:r>
                        <a:rPr lang="en-US" sz="1600" b="1">
                          <a:latin typeface="Consolas" panose="020B0609020204030204" pitchFamily="49" charset="0"/>
                        </a:rPr>
                        <a:t>).(</a:t>
                      </a:r>
                      <a:r>
                        <a:rPr lang="en-US" sz="1600" b="1" i="1">
                          <a:latin typeface="Consolas" panose="020B0609020204030204" pitchFamily="49" charset="0"/>
                        </a:rPr>
                        <a:t>propertyName</a:t>
                      </a:r>
                      <a:r>
                        <a:rPr lang="en-US" sz="1600" b="1">
                          <a:latin typeface="Consolas" panose="020B0609020204030204" pitchFamily="49" charset="0"/>
                        </a:rPr>
                        <a:t>)</a:t>
                      </a:r>
                      <a:endParaRPr lang="en-US" sz="1600" b="1">
                        <a:solidFill>
                          <a:schemeClr val="accent1">
                            <a:lumMod val="75000"/>
                          </a:schemeClr>
                        </a:solidFill>
                        <a:latin typeface="Consolas" panose="020B0609020204030204" pitchFamily="49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</a:rPr>
                        <a:t>select</a:t>
                      </a:r>
                      <a:r>
                        <a:rPr lang="en-US" sz="1600" b="1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</a:rPr>
                        <a:t>new</a:t>
                      </a:r>
                      <a:r>
                        <a:rPr lang="en-US" sz="1600" b="1">
                          <a:latin typeface="Consolas" panose="020B0609020204030204" pitchFamily="49" charset="0"/>
                        </a:rPr>
                        <a:t> {(</a:t>
                      </a:r>
                      <a:r>
                        <a:rPr lang="en-US" sz="1600" b="1" i="1">
                          <a:latin typeface="Consolas" panose="020B0609020204030204" pitchFamily="49" charset="0"/>
                        </a:rPr>
                        <a:t>variableName</a:t>
                      </a:r>
                      <a:r>
                        <a:rPr lang="en-US" sz="1600" b="1">
                          <a:latin typeface="Consolas" panose="020B0609020204030204" pitchFamily="49" charset="0"/>
                        </a:rPr>
                        <a:t>).(</a:t>
                      </a:r>
                      <a:r>
                        <a:rPr lang="en-US" sz="1600" b="1" i="1">
                          <a:latin typeface="Consolas" panose="020B0609020204030204" pitchFamily="49" charset="0"/>
                        </a:rPr>
                        <a:t>propertyName</a:t>
                      </a:r>
                      <a:r>
                        <a:rPr lang="en-US" sz="1600" b="1">
                          <a:latin typeface="Consolas" panose="020B0609020204030204" pitchFamily="49" charset="0"/>
                        </a:rPr>
                        <a:t>),…}</a:t>
                      </a:r>
                      <a:endParaRPr lang="da-DK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97639513"/>
                  </a:ext>
                </a:extLst>
              </a:tr>
              <a:tr h="8726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Filtering</a:t>
                      </a:r>
                      <a:endParaRPr lang="da-DK" sz="2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</a:rPr>
                        <a:t>where </a:t>
                      </a:r>
                      <a:r>
                        <a:rPr lang="en-US" sz="1600" b="1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600" b="1" i="1">
                          <a:latin typeface="Consolas" panose="020B0609020204030204" pitchFamily="49" charset="0"/>
                        </a:rPr>
                        <a:t>logical condition</a:t>
                      </a:r>
                      <a:r>
                        <a:rPr lang="en-US" sz="1600" b="1">
                          <a:latin typeface="Consolas" panose="020B0609020204030204" pitchFamily="49" charset="0"/>
                        </a:rPr>
                        <a:t>)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80531286"/>
                  </a:ext>
                </a:extLst>
              </a:tr>
              <a:tr h="8726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Ordering</a:t>
                      </a:r>
                      <a:endParaRPr lang="da-DK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</a:rPr>
                        <a:t>orderby </a:t>
                      </a:r>
                      <a:r>
                        <a:rPr lang="en-US" sz="1400" b="1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400" b="1" i="1">
                          <a:latin typeface="Consolas" panose="020B0609020204030204" pitchFamily="49" charset="0"/>
                        </a:rPr>
                        <a:t>variableName</a:t>
                      </a:r>
                      <a:r>
                        <a:rPr lang="en-US" sz="1400" b="1">
                          <a:latin typeface="Consolas" panose="020B0609020204030204" pitchFamily="49" charset="0"/>
                        </a:rPr>
                        <a:t>).(</a:t>
                      </a:r>
                      <a:r>
                        <a:rPr lang="en-US" sz="1400" b="1" i="1">
                          <a:latin typeface="Consolas" panose="020B0609020204030204" pitchFamily="49" charset="0"/>
                        </a:rPr>
                        <a:t>propertyName</a:t>
                      </a:r>
                      <a:r>
                        <a:rPr lang="en-US" sz="1400" b="1">
                          <a:latin typeface="Consolas" panose="020B0609020204030204" pitchFamily="49" charset="0"/>
                        </a:rPr>
                        <a:t>)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59942850"/>
                  </a:ext>
                </a:extLst>
              </a:tr>
              <a:tr h="8726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Aggregation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400" b="1" i="1">
                          <a:latin typeface="Consolas" panose="020B0609020204030204" pitchFamily="49" charset="0"/>
                        </a:rPr>
                        <a:t>queryResult</a:t>
                      </a:r>
                      <a:r>
                        <a:rPr lang="en-US" sz="1400" b="1">
                          <a:latin typeface="Consolas" panose="020B0609020204030204" pitchFamily="49" charset="0"/>
                        </a:rPr>
                        <a:t>).</a:t>
                      </a:r>
                      <a:r>
                        <a:rPr lang="en-US" sz="1400" b="1" i="1">
                          <a:latin typeface="Consolas" panose="020B0609020204030204" pitchFamily="49" charset="0"/>
                        </a:rPr>
                        <a:t>Function</a:t>
                      </a:r>
                      <a:r>
                        <a:rPr lang="en-US" sz="1400" b="1">
                          <a:latin typeface="Consolas" panose="020B0609020204030204" pitchFamily="49" charset="0"/>
                        </a:rPr>
                        <a:t>()</a:t>
                      </a:r>
                      <a:endParaRPr lang="da-DK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71557111"/>
                  </a:ext>
                </a:extLst>
              </a:tr>
              <a:tr h="8726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Joining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</a:rPr>
                        <a:t>join</a:t>
                      </a:r>
                      <a:r>
                        <a:rPr lang="en-US" sz="1400" b="1"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en-US" sz="1400" b="1" i="1">
                          <a:latin typeface="Consolas" panose="020B0609020204030204" pitchFamily="49" charset="0"/>
                        </a:rPr>
                        <a:t>variableName</a:t>
                      </a:r>
                      <a:r>
                        <a:rPr lang="en-US" sz="1400" b="1">
                          <a:latin typeface="Consolas" panose="020B0609020204030204" pitchFamily="49" charset="0"/>
                        </a:rPr>
                        <a:t>) </a:t>
                      </a:r>
                      <a:r>
                        <a:rPr lang="en-US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</a:rPr>
                        <a:t>in</a:t>
                      </a:r>
                      <a:r>
                        <a:rPr lang="en-US" sz="1400" b="1"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en-US" sz="1400" b="1" i="1">
                          <a:latin typeface="Consolas" panose="020B0609020204030204" pitchFamily="49" charset="0"/>
                        </a:rPr>
                        <a:t>collectionName</a:t>
                      </a:r>
                      <a:r>
                        <a:rPr lang="en-US" sz="1400" b="1">
                          <a:latin typeface="Consolas" panose="020B0609020204030204" pitchFamily="49" charset="0"/>
                        </a:rPr>
                        <a:t>)</a:t>
                      </a:r>
                      <a:r>
                        <a:rPr lang="en-US" sz="1400" b="1" baseline="0">
                          <a:latin typeface="Consolas" panose="020B0609020204030204" pitchFamily="49" charset="0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</a:rPr>
                        <a:t>on</a:t>
                      </a:r>
                      <a:r>
                        <a:rPr lang="en-US" sz="1400" b="1"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en-US" sz="1400" b="1" i="1">
                          <a:latin typeface="Consolas" panose="020B0609020204030204" pitchFamily="49" charset="0"/>
                        </a:rPr>
                        <a:t>variableName</a:t>
                      </a:r>
                      <a:r>
                        <a:rPr lang="en-US" sz="1400" b="1">
                          <a:latin typeface="Consolas" panose="020B0609020204030204" pitchFamily="49" charset="0"/>
                        </a:rPr>
                        <a:t>).(</a:t>
                      </a:r>
                      <a:r>
                        <a:rPr lang="en-US" sz="1400" b="1" i="1">
                          <a:latin typeface="Consolas" panose="020B0609020204030204" pitchFamily="49" charset="0"/>
                        </a:rPr>
                        <a:t>propertyName</a:t>
                      </a:r>
                      <a:r>
                        <a:rPr lang="en-US" sz="1400" b="1">
                          <a:latin typeface="Consolas" panose="020B0609020204030204" pitchFamily="49" charset="0"/>
                        </a:rPr>
                        <a:t>) </a:t>
                      </a:r>
                      <a:r>
                        <a:rPr lang="en-US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</a:rPr>
                        <a:t>equals</a:t>
                      </a:r>
                      <a:r>
                        <a:rPr lang="en-US" sz="1400" b="1"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en-US" sz="1400" b="1" i="1">
                          <a:latin typeface="Consolas" panose="020B0609020204030204" pitchFamily="49" charset="0"/>
                        </a:rPr>
                        <a:t>variableName</a:t>
                      </a:r>
                      <a:r>
                        <a:rPr lang="en-US" sz="1400" b="1">
                          <a:latin typeface="Consolas" panose="020B0609020204030204" pitchFamily="49" charset="0"/>
                        </a:rPr>
                        <a:t>).(</a:t>
                      </a:r>
                      <a:r>
                        <a:rPr lang="en-US" sz="1400" b="1" i="1">
                          <a:latin typeface="Consolas" panose="020B0609020204030204" pitchFamily="49" charset="0"/>
                        </a:rPr>
                        <a:t>propertyName</a:t>
                      </a:r>
                      <a:r>
                        <a:rPr lang="en-US" sz="1400" b="1">
                          <a:latin typeface="Consolas" panose="020B0609020204030204" pitchFamily="49" charset="0"/>
                        </a:rPr>
                        <a:t>)</a:t>
                      </a:r>
                      <a:endParaRPr lang="en-US" sz="1400" b="1">
                        <a:solidFill>
                          <a:schemeClr val="accent1">
                            <a:lumMod val="75000"/>
                          </a:schemeClr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08184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74594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LINQ – Fluent syntax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1825625"/>
            <a:ext cx="9726827" cy="4351338"/>
          </a:xfrm>
        </p:spPr>
        <p:txBody>
          <a:bodyPr/>
          <a:lstStyle/>
          <a:p>
            <a:pPr lvl="0"/>
            <a:r>
              <a:rPr lang="da-DK"/>
              <a:t>Also possible to write LINQ queries using traditional, Object-Oriented method calls.</a:t>
            </a:r>
          </a:p>
          <a:p>
            <a:pPr lvl="0"/>
            <a:r>
              <a:rPr lang="da-DK"/>
              <a:t>.NET class library </a:t>
            </a:r>
            <a:r>
              <a:rPr lang="da-DK" b="1"/>
              <a:t>System.Linq</a:t>
            </a:r>
            <a:r>
              <a:rPr lang="da-DK"/>
              <a:t> contains methods corresponding to LINQ keywords (</a:t>
            </a:r>
            <a:r>
              <a:rPr lang="da-DK" b="1"/>
              <a:t>select</a:t>
            </a:r>
            <a:r>
              <a:rPr lang="da-DK"/>
              <a:t>, </a:t>
            </a:r>
            <a:r>
              <a:rPr lang="da-DK" b="1"/>
              <a:t>where</a:t>
            </a:r>
            <a:r>
              <a:rPr lang="da-DK"/>
              <a:t>, etc.)</a:t>
            </a:r>
          </a:p>
          <a:p>
            <a:pPr lvl="0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404250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LINQ – Fluent syntax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1825625"/>
            <a:ext cx="9726827" cy="4351338"/>
          </a:xfrm>
        </p:spPr>
        <p:txBody>
          <a:bodyPr/>
          <a:lstStyle/>
          <a:p>
            <a:pPr lvl="0"/>
            <a:r>
              <a:rPr lang="da-DK"/>
              <a:t>Also possible to write LINQ queries using traditional, Object-Oriented method calls.</a:t>
            </a:r>
          </a:p>
          <a:p>
            <a:pPr lvl="0"/>
            <a:r>
              <a:rPr lang="da-DK"/>
              <a:t>.NET class library </a:t>
            </a:r>
            <a:r>
              <a:rPr lang="da-DK" b="1"/>
              <a:t>System.Linq</a:t>
            </a:r>
            <a:r>
              <a:rPr lang="da-DK"/>
              <a:t> contains methods corresponding to LINQ keywords (</a:t>
            </a:r>
            <a:r>
              <a:rPr lang="da-DK" b="1"/>
              <a:t>select</a:t>
            </a:r>
            <a:r>
              <a:rPr lang="da-DK"/>
              <a:t>, </a:t>
            </a:r>
            <a:r>
              <a:rPr lang="da-DK" b="1"/>
              <a:t>where</a:t>
            </a:r>
            <a:r>
              <a:rPr lang="da-DK"/>
              <a:t>, etc.)</a:t>
            </a:r>
          </a:p>
          <a:p>
            <a:pPr lvl="0"/>
            <a:r>
              <a:rPr lang="da-DK"/>
              <a:t>Interesting questions:</a:t>
            </a:r>
          </a:p>
          <a:p>
            <a:pPr lvl="1"/>
            <a:r>
              <a:rPr lang="da-DK"/>
              <a:t>What </a:t>
            </a:r>
            <a:r>
              <a:rPr lang="da-DK" b="1"/>
              <a:t>class/interface</a:t>
            </a:r>
            <a:r>
              <a:rPr lang="da-DK"/>
              <a:t> contains the LINQ methods…?</a:t>
            </a:r>
          </a:p>
          <a:p>
            <a:pPr lvl="1"/>
            <a:r>
              <a:rPr lang="da-DK"/>
              <a:t>What are the </a:t>
            </a:r>
            <a:r>
              <a:rPr lang="da-DK" b="1"/>
              <a:t>parameters</a:t>
            </a:r>
            <a:r>
              <a:rPr lang="da-DK"/>
              <a:t> to these methods…?</a:t>
            </a:r>
          </a:p>
          <a:p>
            <a:pPr lvl="1"/>
            <a:r>
              <a:rPr lang="da-DK"/>
              <a:t>What is the </a:t>
            </a:r>
            <a:r>
              <a:rPr lang="da-DK" b="1"/>
              <a:t>return type </a:t>
            </a:r>
            <a:r>
              <a:rPr lang="da-DK"/>
              <a:t>of these methods?</a:t>
            </a:r>
          </a:p>
          <a:p>
            <a:pPr marL="0" lvl="0" indent="0">
              <a:buNone/>
            </a:pPr>
            <a:endParaRPr lang="da-DK"/>
          </a:p>
          <a:p>
            <a:pPr lvl="0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170237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543697" y="864973"/>
            <a:ext cx="11121081" cy="5311990"/>
          </a:xfrm>
        </p:spPr>
        <p:txBody>
          <a:bodyPr/>
          <a:lstStyle/>
          <a:p>
            <a:pPr indent="0">
              <a:spcBef>
                <a:spcPts val="0"/>
              </a:spcBef>
              <a:buNone/>
            </a:pPr>
            <a:r>
              <a:rPr lang="en-US" b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List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 numbers = 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b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List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&gt;{12, 37, 8, 17};</a:t>
            </a:r>
            <a:endParaRPr lang="da-DK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spcBef>
                <a:spcPts val="0"/>
              </a:spcBef>
              <a:spcAft>
                <a:spcPts val="0"/>
              </a:spcAft>
              <a:buNone/>
            </a:pPr>
            <a:endParaRPr lang="en-US" b="1">
              <a:solidFill>
                <a:srgbClr val="008000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indent="0">
              <a:spcBef>
                <a:spcPts val="0"/>
              </a:spcBef>
              <a:spcAft>
                <a:spcPts val="0"/>
              </a:spcAft>
              <a:buNone/>
            </a:pPr>
            <a:endParaRPr lang="en-US" b="1">
              <a:solidFill>
                <a:srgbClr val="008000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This we know…</a:t>
            </a:r>
            <a:endParaRPr lang="da-DK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IEnumerable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 qr1 = 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from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i 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numbers</a:t>
            </a:r>
            <a:endParaRPr lang="da-DK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   	 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where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i &lt; 15</a:t>
            </a:r>
            <a:endParaRPr lang="da-DK" b="1">
              <a:solidFill>
                <a:srgbClr val="000000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marL="228600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   	 select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i;</a:t>
            </a:r>
            <a:endParaRPr lang="da-DK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da-DK" sz="2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548942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543697" y="864973"/>
            <a:ext cx="11121081" cy="5311990"/>
          </a:xfrm>
        </p:spPr>
        <p:txBody>
          <a:bodyPr/>
          <a:lstStyle/>
          <a:p>
            <a:pPr indent="0">
              <a:spcBef>
                <a:spcPts val="0"/>
              </a:spcBef>
              <a:buNone/>
            </a:pPr>
            <a:r>
              <a:rPr lang="en-US" b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List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 numbers = 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b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List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&gt;{12, 37, 8, 17};</a:t>
            </a:r>
            <a:endParaRPr lang="da-DK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spcBef>
                <a:spcPts val="0"/>
              </a:spcBef>
              <a:spcAft>
                <a:spcPts val="0"/>
              </a:spcAft>
              <a:buNone/>
            </a:pPr>
            <a:endParaRPr lang="en-US" b="1">
              <a:solidFill>
                <a:srgbClr val="008000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indent="0">
              <a:spcBef>
                <a:spcPts val="0"/>
              </a:spcBef>
              <a:spcAft>
                <a:spcPts val="0"/>
              </a:spcAft>
              <a:buNone/>
            </a:pPr>
            <a:endParaRPr lang="en-US" b="1">
              <a:solidFill>
                <a:srgbClr val="008000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This we know…</a:t>
            </a:r>
            <a:endParaRPr lang="da-DK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IEnumerable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 qr1 = 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from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i 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numbers</a:t>
            </a:r>
            <a:endParaRPr lang="da-DK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   	 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where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i &lt; 15</a:t>
            </a:r>
            <a:endParaRPr lang="da-DK" b="1">
              <a:solidFill>
                <a:srgbClr val="000000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marL="228600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   	 select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i;</a:t>
            </a:r>
            <a:endParaRPr lang="da-DK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spcBef>
                <a:spcPts val="0"/>
              </a:spcBef>
              <a:spcAft>
                <a:spcPts val="0"/>
              </a:spcAft>
              <a:buNone/>
            </a:pPr>
            <a:endParaRPr lang="en-US" b="1">
              <a:solidFill>
                <a:srgbClr val="2B91AF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indent="0">
              <a:spcBef>
                <a:spcPts val="0"/>
              </a:spcBef>
              <a:buNone/>
            </a:pP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Also valid</a:t>
            </a:r>
            <a:endParaRPr lang="en-US" b="1">
              <a:solidFill>
                <a:srgbClr val="2B91AF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IEnumerable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 resultA = numbers.Where(i =&gt; i &lt; 15);</a:t>
            </a:r>
            <a:endParaRPr lang="da-DK" b="1">
              <a:solidFill>
                <a:srgbClr val="000000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da-DK" sz="2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921551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LINQ – Fluent syntax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1" y="1825625"/>
            <a:ext cx="8577648" cy="4351338"/>
          </a:xfrm>
        </p:spPr>
        <p:txBody>
          <a:bodyPr/>
          <a:lstStyle/>
          <a:p>
            <a:pPr lvl="0"/>
            <a:r>
              <a:rPr lang="da-DK"/>
              <a:t>We just called the method </a:t>
            </a:r>
            <a:r>
              <a:rPr lang="da-DK" b="1"/>
              <a:t>Where</a:t>
            </a:r>
            <a:r>
              <a:rPr lang="da-DK"/>
              <a:t> on a </a:t>
            </a:r>
            <a:r>
              <a:rPr lang="da-DK" b="1"/>
              <a:t>List&lt;int&gt;</a:t>
            </a:r>
            <a:r>
              <a:rPr lang="da-DK"/>
              <a:t>…but the </a:t>
            </a:r>
            <a:r>
              <a:rPr lang="da-DK" b="1"/>
              <a:t>List</a:t>
            </a:r>
            <a:r>
              <a:rPr lang="da-DK"/>
              <a:t> class does not contain a </a:t>
            </a:r>
            <a:r>
              <a:rPr lang="da-DK" b="1"/>
              <a:t>Where</a:t>
            </a:r>
            <a:r>
              <a:rPr lang="da-DK"/>
              <a:t> method!</a:t>
            </a:r>
          </a:p>
          <a:p>
            <a:pPr lvl="0"/>
            <a:r>
              <a:rPr lang="da-DK"/>
              <a:t>We can actually call LINQ methods on variables of type </a:t>
            </a:r>
            <a:r>
              <a:rPr lang="da-DK" b="1"/>
              <a:t>IEnumerable&lt;T&gt;</a:t>
            </a:r>
            <a:r>
              <a:rPr lang="da-DK"/>
              <a:t>… but that interface only contains a single method!?</a:t>
            </a:r>
          </a:p>
          <a:p>
            <a:pPr lvl="0"/>
            <a:r>
              <a:rPr lang="da-DK"/>
              <a:t>LINQ methods are implemented as so-called </a:t>
            </a:r>
            <a:r>
              <a:rPr lang="da-DK" b="1"/>
              <a:t>extension methods</a:t>
            </a:r>
            <a:r>
              <a:rPr lang="da-DK"/>
              <a:t>.</a:t>
            </a:r>
          </a:p>
          <a:p>
            <a:pPr marL="0" lvl="0" indent="0">
              <a:buNone/>
            </a:pPr>
            <a:endParaRPr lang="da-DK"/>
          </a:p>
          <a:p>
            <a:pPr lvl="0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979429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Extension methods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1" y="1825625"/>
            <a:ext cx="8182231" cy="4351338"/>
          </a:xfrm>
        </p:spPr>
        <p:txBody>
          <a:bodyPr/>
          <a:lstStyle/>
          <a:p>
            <a:pPr lvl="0"/>
            <a:r>
              <a:rPr lang="da-DK"/>
              <a:t>Makes it possible to dynamically add methods to an existing class/interface.</a:t>
            </a:r>
          </a:p>
          <a:p>
            <a:pPr lvl="0"/>
            <a:r>
              <a:rPr lang="da-DK" dirty="0"/>
              <a:t>Extension </a:t>
            </a:r>
            <a:r>
              <a:rPr lang="da-DK" dirty="0" err="1"/>
              <a:t>methods</a:t>
            </a:r>
            <a:r>
              <a:rPr lang="da-DK" dirty="0"/>
              <a:t> have </a:t>
            </a:r>
            <a:r>
              <a:rPr lang="da-DK" dirty="0" err="1"/>
              <a:t>certain</a:t>
            </a:r>
            <a:r>
              <a:rPr lang="da-DK" dirty="0"/>
              <a:t> </a:t>
            </a:r>
            <a:r>
              <a:rPr lang="da-DK" dirty="0" err="1"/>
              <a:t>characteristics</a:t>
            </a:r>
            <a:r>
              <a:rPr lang="da-DK"/>
              <a:t>:</a:t>
            </a:r>
          </a:p>
          <a:p>
            <a:pPr lvl="1"/>
            <a:r>
              <a:rPr lang="da-DK"/>
              <a:t>They are </a:t>
            </a:r>
            <a:r>
              <a:rPr lang="da-DK" b="1"/>
              <a:t>static</a:t>
            </a:r>
            <a:r>
              <a:rPr lang="da-DK"/>
              <a:t>, and can be defined in any class you like.</a:t>
            </a:r>
          </a:p>
          <a:p>
            <a:pPr lvl="1"/>
            <a:r>
              <a:rPr lang="en-US"/>
              <a:t>The </a:t>
            </a:r>
            <a:r>
              <a:rPr lang="en-US" u="sng"/>
              <a:t>first</a:t>
            </a:r>
            <a:r>
              <a:rPr lang="en-US"/>
              <a:t> parameter to the method has the type of the class/interface the method should be used on.</a:t>
            </a:r>
            <a:endParaRPr lang="da-DK"/>
          </a:p>
          <a:p>
            <a:pPr lvl="1"/>
            <a:r>
              <a:rPr lang="en-US"/>
              <a:t>This first parameter is preceeded by the keyword </a:t>
            </a:r>
            <a:r>
              <a:rPr lang="en-US" b="1"/>
              <a:t>this</a:t>
            </a:r>
            <a:r>
              <a:rPr lang="en-US"/>
              <a:t>.</a:t>
            </a:r>
            <a:endParaRPr lang="da-DK"/>
          </a:p>
          <a:p>
            <a:pPr marL="0" lvl="0" indent="0">
              <a:buNone/>
            </a:pPr>
            <a:endParaRPr lang="da-DK"/>
          </a:p>
          <a:p>
            <a:pPr lvl="0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823015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543697" y="864973"/>
            <a:ext cx="11121081" cy="5311990"/>
          </a:xfr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4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4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400" b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MovieExtensions</a:t>
            </a:r>
            <a:endParaRPr lang="da-DK" sz="2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da-DK" sz="2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2400" b="1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24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4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4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DurationInHours(</a:t>
            </a:r>
            <a:r>
              <a:rPr lang="en-US" sz="24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this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400" b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Movie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aMovie)</a:t>
            </a:r>
            <a:endParaRPr lang="da-DK" sz="2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{</a:t>
            </a:r>
            <a:endParaRPr lang="da-DK" sz="2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return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aMovie.DurationInMins / 60.0;</a:t>
            </a:r>
            <a:endParaRPr lang="da-DK" sz="2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}</a:t>
            </a:r>
            <a:endParaRPr lang="da-DK" sz="2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2400" b="1">
              <a:solidFill>
                <a:srgbClr val="000000"/>
              </a:solidFill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da-DK" sz="2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388387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543697" y="864973"/>
            <a:ext cx="11121081" cy="5311990"/>
          </a:xfr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4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4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400" b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MovieExtensions</a:t>
            </a:r>
            <a:endParaRPr lang="da-DK" sz="2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da-DK" sz="2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2400" b="1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24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4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4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DurationInHours(</a:t>
            </a:r>
            <a:r>
              <a:rPr lang="en-US" sz="24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this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400" b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Movie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aMovie)</a:t>
            </a:r>
            <a:endParaRPr lang="da-DK" sz="2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{</a:t>
            </a:r>
            <a:endParaRPr lang="da-DK" sz="2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return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aMovie.DurationInMins / 60.0;</a:t>
            </a:r>
            <a:endParaRPr lang="da-DK" sz="2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}</a:t>
            </a:r>
            <a:endParaRPr lang="da-DK" sz="2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2400" b="1">
              <a:solidFill>
                <a:srgbClr val="000000"/>
              </a:solidFill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b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This is now valid</a:t>
            </a:r>
            <a:endParaRPr lang="da-DK" sz="2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Movie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m = </a:t>
            </a:r>
            <a:r>
              <a:rPr lang="en-US" sz="24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Movie 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(…);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hours = m.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DurationInHours();</a:t>
            </a:r>
            <a:endParaRPr lang="da-DK" sz="2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da-DK" sz="2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837061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LINQ – Fluent syntax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599" cy="4351338"/>
          </a:xfrm>
        </p:spPr>
        <p:txBody>
          <a:bodyPr/>
          <a:lstStyle/>
          <a:p>
            <a:r>
              <a:rPr lang="da-DK"/>
              <a:t>This is a valid LINQ query: </a:t>
            </a:r>
            <a:r>
              <a:rPr lang="en-US" b="1"/>
              <a:t>numbers.Where(i =&gt; i &lt; 15);</a:t>
            </a:r>
            <a:endParaRPr lang="da-DK" b="1"/>
          </a:p>
          <a:p>
            <a:pPr lvl="0"/>
            <a:r>
              <a:rPr lang="da-DK"/>
              <a:t>What is the parameter to </a:t>
            </a:r>
            <a:r>
              <a:rPr lang="da-DK" b="1"/>
              <a:t>Where</a:t>
            </a:r>
            <a:r>
              <a:rPr lang="da-DK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2137067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LINQ – Fluent syntax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599" cy="4351338"/>
          </a:xfrm>
        </p:spPr>
        <p:txBody>
          <a:bodyPr/>
          <a:lstStyle/>
          <a:p>
            <a:r>
              <a:rPr lang="da-DK"/>
              <a:t>This is a valid LINQ query: </a:t>
            </a:r>
            <a:r>
              <a:rPr lang="en-US" b="1"/>
              <a:t>numbers.Where(i =&gt; i &lt; 15);</a:t>
            </a:r>
            <a:endParaRPr lang="da-DK" b="1"/>
          </a:p>
          <a:p>
            <a:pPr lvl="0"/>
            <a:r>
              <a:rPr lang="da-DK"/>
              <a:t>What is the parameter to </a:t>
            </a:r>
            <a:r>
              <a:rPr lang="da-DK" b="1"/>
              <a:t>Where</a:t>
            </a:r>
            <a:r>
              <a:rPr lang="da-DK"/>
              <a:t>?</a:t>
            </a:r>
          </a:p>
          <a:p>
            <a:pPr lvl="0"/>
            <a:r>
              <a:rPr lang="da-DK"/>
              <a:t>The purpose of the </a:t>
            </a:r>
            <a:r>
              <a:rPr lang="da-DK" b="1"/>
              <a:t>Where</a:t>
            </a:r>
            <a:r>
              <a:rPr lang="da-DK"/>
              <a:t> method is to filter out those items in the list which meet a specific condition (here: must be smaller than 15)</a:t>
            </a:r>
          </a:p>
          <a:p>
            <a:pPr lvl="0"/>
            <a:r>
              <a:rPr lang="da-DK"/>
              <a:t>The </a:t>
            </a:r>
            <a:r>
              <a:rPr lang="da-DK" b="1"/>
              <a:t>Where</a:t>
            </a:r>
            <a:r>
              <a:rPr lang="da-DK"/>
              <a:t> method applies the condition to each item in the list</a:t>
            </a:r>
          </a:p>
          <a:p>
            <a:pPr lvl="1"/>
            <a:r>
              <a:rPr lang="da-DK"/>
              <a:t>Input to condition evaluation: an </a:t>
            </a:r>
            <a:r>
              <a:rPr lang="da-DK" b="1"/>
              <a:t>int</a:t>
            </a:r>
            <a:r>
              <a:rPr lang="da-DK"/>
              <a:t> (in this example)</a:t>
            </a:r>
          </a:p>
          <a:p>
            <a:pPr lvl="1"/>
            <a:r>
              <a:rPr lang="da-DK"/>
              <a:t>Output from condition evaluation: a </a:t>
            </a:r>
            <a:r>
              <a:rPr lang="da-DK" b="1"/>
              <a:t>bool</a:t>
            </a:r>
          </a:p>
          <a:p>
            <a:pPr lvl="1"/>
            <a:r>
              <a:rPr lang="da-DK"/>
              <a:t>Who supplies the condition? The </a:t>
            </a:r>
            <a:r>
              <a:rPr lang="da-DK" u="sng"/>
              <a:t>caller</a:t>
            </a:r>
            <a:r>
              <a:rPr lang="da-DK"/>
              <a:t> of </a:t>
            </a:r>
            <a:r>
              <a:rPr lang="da-DK" b="1"/>
              <a:t>Where</a:t>
            </a:r>
            <a:r>
              <a:rPr lang="da-DK"/>
              <a:t>!</a:t>
            </a:r>
          </a:p>
          <a:p>
            <a:pPr lvl="0"/>
            <a:r>
              <a:rPr lang="da-DK"/>
              <a:t>Parameter to </a:t>
            </a:r>
            <a:r>
              <a:rPr lang="da-DK" b="1"/>
              <a:t>Where</a:t>
            </a:r>
            <a:r>
              <a:rPr lang="da-DK"/>
              <a:t> is a </a:t>
            </a:r>
            <a:r>
              <a:rPr lang="da-DK" u="sng"/>
              <a:t>function</a:t>
            </a:r>
            <a:r>
              <a:rPr lang="da-DK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691346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LINQ – Fluent syntax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599" cy="4351338"/>
          </a:xfrm>
        </p:spPr>
        <p:txBody>
          <a:bodyPr/>
          <a:lstStyle/>
          <a:p>
            <a:r>
              <a:rPr lang="da-DK"/>
              <a:t>In general: if </a:t>
            </a:r>
            <a:r>
              <a:rPr lang="da-DK" b="1"/>
              <a:t>Where</a:t>
            </a:r>
            <a:r>
              <a:rPr lang="da-DK"/>
              <a:t> is called on a variable of type </a:t>
            </a:r>
            <a:r>
              <a:rPr lang="da-DK" b="1"/>
              <a:t>IEnumerable&lt;T&gt;</a:t>
            </a:r>
            <a:r>
              <a:rPr lang="da-DK"/>
              <a:t>, the parameter must be of type </a:t>
            </a:r>
            <a:r>
              <a:rPr lang="da-DK" b="1"/>
              <a:t>Func&lt;T, bool&gt;</a:t>
            </a:r>
          </a:p>
          <a:p>
            <a:r>
              <a:rPr lang="da-DK"/>
              <a:t>In the example, a function of type </a:t>
            </a:r>
            <a:r>
              <a:rPr lang="da-DK" b="1"/>
              <a:t>Func&lt;int, bool&gt;</a:t>
            </a:r>
          </a:p>
          <a:p>
            <a:r>
              <a:rPr lang="da-DK"/>
              <a:t>This can be a named function, but also an anonymous function:</a:t>
            </a:r>
          </a:p>
          <a:p>
            <a:r>
              <a:rPr lang="en-US" b="1"/>
              <a:t>numbers.Where(</a:t>
            </a:r>
            <a:r>
              <a:rPr lang="en-US" b="1">
                <a:solidFill>
                  <a:srgbClr val="FF0000"/>
                </a:solidFill>
              </a:rPr>
              <a:t>i =&gt; i &lt; 15</a:t>
            </a:r>
            <a:r>
              <a:rPr lang="en-US" b="1"/>
              <a:t>);</a:t>
            </a:r>
            <a:endParaRPr lang="da-DK"/>
          </a:p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257614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LINQ – Fluent syntax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1825625"/>
            <a:ext cx="9800967" cy="4351338"/>
          </a:xfrm>
        </p:spPr>
        <p:txBody>
          <a:bodyPr/>
          <a:lstStyle/>
          <a:p>
            <a:r>
              <a:rPr lang="da-DK"/>
              <a:t>Calling </a:t>
            </a:r>
            <a:r>
              <a:rPr lang="da-DK" b="1"/>
              <a:t>Where</a:t>
            </a:r>
            <a:r>
              <a:rPr lang="da-DK"/>
              <a:t> on a variable of type </a:t>
            </a:r>
            <a:r>
              <a:rPr lang="da-DK" b="1"/>
              <a:t>IEnumerable&lt;T&gt;</a:t>
            </a:r>
            <a:r>
              <a:rPr lang="da-DK"/>
              <a:t> returns a reference of type </a:t>
            </a:r>
            <a:r>
              <a:rPr lang="da-DK" b="1"/>
              <a:t>IEnumerable&lt;T&gt;</a:t>
            </a:r>
            <a:r>
              <a:rPr lang="da-DK"/>
              <a:t>, i.e. of the same type!</a:t>
            </a:r>
          </a:p>
          <a:p>
            <a:r>
              <a:rPr lang="da-DK"/>
              <a:t>On this reference, we can (again) call LINQ methods!</a:t>
            </a:r>
          </a:p>
          <a:p>
            <a:r>
              <a:rPr lang="da-DK"/>
              <a:t>This enables ”chaining” of method calls, which is exactly what characterises the Fluent syntax.</a:t>
            </a:r>
          </a:p>
        </p:txBody>
      </p:sp>
    </p:spTree>
    <p:extLst>
      <p:ext uri="{BB962C8B-B14F-4D97-AF65-F5344CB8AC3E}">
        <p14:creationId xmlns:p14="http://schemas.microsoft.com/office/powerpoint/2010/main" val="8894829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543697" y="864973"/>
            <a:ext cx="11121081" cy="5311990"/>
          </a:xfrm>
        </p:spPr>
        <p:txBody>
          <a:bodyPr/>
          <a:lstStyle/>
          <a:p>
            <a:pPr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var</a:t>
            </a:r>
            <a:r>
              <a:rPr lang="en-US" sz="32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qr1 = movies</a:t>
            </a:r>
          </a:p>
          <a:p>
            <a:pPr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   .Select(m =&gt; </a:t>
            </a:r>
            <a:r>
              <a:rPr lang="en-US" sz="32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32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{m.Title, m.Year})</a:t>
            </a:r>
            <a:endParaRPr lang="da-DK" sz="32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   .Where(m =&gt; m.Year &gt; 1978);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da-DK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da-DK" sz="2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648805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 3"/>
          <p:cNvGraphicFramePr>
            <a:graphicFrameLocks noGrp="1"/>
          </p:cNvGraphicFramePr>
          <p:nvPr>
            <p:extLst/>
          </p:nvPr>
        </p:nvGraphicFramePr>
        <p:xfrm>
          <a:off x="890336" y="2725403"/>
          <a:ext cx="10160670" cy="20995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134">
                  <a:extLst>
                    <a:ext uri="{9D8B030D-6E8A-4147-A177-3AD203B41FA5}">
                      <a16:colId xmlns:a16="http://schemas.microsoft.com/office/drawing/2014/main" val="47363412"/>
                    </a:ext>
                  </a:extLst>
                </a:gridCol>
                <a:gridCol w="2032134">
                  <a:extLst>
                    <a:ext uri="{9D8B030D-6E8A-4147-A177-3AD203B41FA5}">
                      <a16:colId xmlns:a16="http://schemas.microsoft.com/office/drawing/2014/main" val="1977153358"/>
                    </a:ext>
                  </a:extLst>
                </a:gridCol>
                <a:gridCol w="2032134">
                  <a:extLst>
                    <a:ext uri="{9D8B030D-6E8A-4147-A177-3AD203B41FA5}">
                      <a16:colId xmlns:a16="http://schemas.microsoft.com/office/drawing/2014/main" val="3935601631"/>
                    </a:ext>
                  </a:extLst>
                </a:gridCol>
                <a:gridCol w="2032134">
                  <a:extLst>
                    <a:ext uri="{9D8B030D-6E8A-4147-A177-3AD203B41FA5}">
                      <a16:colId xmlns:a16="http://schemas.microsoft.com/office/drawing/2014/main" val="4119078486"/>
                    </a:ext>
                  </a:extLst>
                </a:gridCol>
                <a:gridCol w="2032134">
                  <a:extLst>
                    <a:ext uri="{9D8B030D-6E8A-4147-A177-3AD203B41FA5}">
                      <a16:colId xmlns:a16="http://schemas.microsoft.com/office/drawing/2014/main" val="371862353"/>
                    </a:ext>
                  </a:extLst>
                </a:gridCol>
              </a:tblGrid>
              <a:tr h="209951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71557111"/>
                  </a:ext>
                </a:extLst>
              </a:tr>
            </a:tbl>
          </a:graphicData>
        </a:graphic>
      </p:graphicFrame>
      <p:sp>
        <p:nvSpPr>
          <p:cNvPr id="5" name="Pladsholder til indhold 2"/>
          <p:cNvSpPr>
            <a:spLocks noGrp="1"/>
          </p:cNvSpPr>
          <p:nvPr>
            <p:ph idx="1"/>
          </p:nvPr>
        </p:nvSpPr>
        <p:spPr>
          <a:xfrm>
            <a:off x="890336" y="676609"/>
            <a:ext cx="10515600" cy="11762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b="1">
                <a:latin typeface="Consolas" panose="020B0609020204030204" pitchFamily="49" charset="0"/>
              </a:rPr>
              <a:t>movies</a:t>
            </a:r>
            <a:endParaRPr lang="da-DK" sz="4800" b="1">
              <a:latin typeface="Consolas" panose="020B0609020204030204" pitchFamily="49" charset="0"/>
            </a:endParaRPr>
          </a:p>
        </p:txBody>
      </p:sp>
      <p:sp>
        <p:nvSpPr>
          <p:cNvPr id="2" name="Sky 1"/>
          <p:cNvSpPr/>
          <p:nvPr/>
        </p:nvSpPr>
        <p:spPr>
          <a:xfrm>
            <a:off x="962525" y="3044239"/>
            <a:ext cx="1882942" cy="1648327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200"/>
              <a:t>Movie</a:t>
            </a:r>
          </a:p>
        </p:txBody>
      </p:sp>
      <p:sp>
        <p:nvSpPr>
          <p:cNvPr id="6" name="Sky 5"/>
          <p:cNvSpPr/>
          <p:nvPr/>
        </p:nvSpPr>
        <p:spPr>
          <a:xfrm>
            <a:off x="2979820" y="2950994"/>
            <a:ext cx="1882942" cy="1648327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200"/>
              <a:t>Movie</a:t>
            </a:r>
          </a:p>
        </p:txBody>
      </p:sp>
      <p:sp>
        <p:nvSpPr>
          <p:cNvPr id="7" name="Sky 6"/>
          <p:cNvSpPr/>
          <p:nvPr/>
        </p:nvSpPr>
        <p:spPr>
          <a:xfrm>
            <a:off x="5029200" y="2960017"/>
            <a:ext cx="1882942" cy="1648327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200"/>
              <a:t>Movie</a:t>
            </a:r>
          </a:p>
        </p:txBody>
      </p:sp>
      <p:sp>
        <p:nvSpPr>
          <p:cNvPr id="8" name="Sky 7"/>
          <p:cNvSpPr/>
          <p:nvPr/>
        </p:nvSpPr>
        <p:spPr>
          <a:xfrm>
            <a:off x="7078580" y="2960016"/>
            <a:ext cx="1882942" cy="1648327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200"/>
              <a:t>Movie</a:t>
            </a:r>
          </a:p>
        </p:txBody>
      </p:sp>
      <p:sp>
        <p:nvSpPr>
          <p:cNvPr id="9" name="Sky 8"/>
          <p:cNvSpPr/>
          <p:nvPr/>
        </p:nvSpPr>
        <p:spPr>
          <a:xfrm>
            <a:off x="9095875" y="2954000"/>
            <a:ext cx="1882942" cy="1648327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200"/>
              <a:t>Movie</a:t>
            </a:r>
          </a:p>
        </p:txBody>
      </p:sp>
    </p:spTree>
    <p:extLst>
      <p:ext uri="{BB962C8B-B14F-4D97-AF65-F5344CB8AC3E}">
        <p14:creationId xmlns:p14="http://schemas.microsoft.com/office/powerpoint/2010/main" val="9496189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 3"/>
          <p:cNvGraphicFramePr>
            <a:graphicFrameLocks noGrp="1"/>
          </p:cNvGraphicFramePr>
          <p:nvPr>
            <p:extLst/>
          </p:nvPr>
        </p:nvGraphicFramePr>
        <p:xfrm>
          <a:off x="890336" y="2725403"/>
          <a:ext cx="10160670" cy="20995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134">
                  <a:extLst>
                    <a:ext uri="{9D8B030D-6E8A-4147-A177-3AD203B41FA5}">
                      <a16:colId xmlns:a16="http://schemas.microsoft.com/office/drawing/2014/main" val="47363412"/>
                    </a:ext>
                  </a:extLst>
                </a:gridCol>
                <a:gridCol w="2032134">
                  <a:extLst>
                    <a:ext uri="{9D8B030D-6E8A-4147-A177-3AD203B41FA5}">
                      <a16:colId xmlns:a16="http://schemas.microsoft.com/office/drawing/2014/main" val="1977153358"/>
                    </a:ext>
                  </a:extLst>
                </a:gridCol>
                <a:gridCol w="2032134">
                  <a:extLst>
                    <a:ext uri="{9D8B030D-6E8A-4147-A177-3AD203B41FA5}">
                      <a16:colId xmlns:a16="http://schemas.microsoft.com/office/drawing/2014/main" val="3935601631"/>
                    </a:ext>
                  </a:extLst>
                </a:gridCol>
                <a:gridCol w="2032134">
                  <a:extLst>
                    <a:ext uri="{9D8B030D-6E8A-4147-A177-3AD203B41FA5}">
                      <a16:colId xmlns:a16="http://schemas.microsoft.com/office/drawing/2014/main" val="4119078486"/>
                    </a:ext>
                  </a:extLst>
                </a:gridCol>
                <a:gridCol w="2032134">
                  <a:extLst>
                    <a:ext uri="{9D8B030D-6E8A-4147-A177-3AD203B41FA5}">
                      <a16:colId xmlns:a16="http://schemas.microsoft.com/office/drawing/2014/main" val="371862353"/>
                    </a:ext>
                  </a:extLst>
                </a:gridCol>
              </a:tblGrid>
              <a:tr h="209951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71557111"/>
                  </a:ext>
                </a:extLst>
              </a:tr>
            </a:tbl>
          </a:graphicData>
        </a:graphic>
      </p:graphicFrame>
      <p:sp>
        <p:nvSpPr>
          <p:cNvPr id="5" name="Pladsholder til indhold 2"/>
          <p:cNvSpPr>
            <a:spLocks noGrp="1"/>
          </p:cNvSpPr>
          <p:nvPr>
            <p:ph idx="1"/>
          </p:nvPr>
        </p:nvSpPr>
        <p:spPr>
          <a:xfrm>
            <a:off x="890336" y="676608"/>
            <a:ext cx="10515600" cy="1916447"/>
          </a:xfrm>
        </p:spPr>
        <p:txBody>
          <a:bodyPr>
            <a:normAutofit/>
          </a:bodyPr>
          <a:lstStyle/>
          <a:p>
            <a:pPr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movies</a:t>
            </a:r>
          </a:p>
          <a:p>
            <a:pPr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.Select(m =&gt; </a:t>
            </a:r>
            <a:r>
              <a:rPr lang="en-US" sz="36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36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{m.Title, m.Year})</a:t>
            </a:r>
            <a:endParaRPr lang="da-DK" sz="36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Sky 1"/>
          <p:cNvSpPr/>
          <p:nvPr/>
        </p:nvSpPr>
        <p:spPr>
          <a:xfrm>
            <a:off x="962525" y="3044239"/>
            <a:ext cx="1882942" cy="1648327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>
                <a:solidFill>
                  <a:srgbClr val="C00000"/>
                </a:solidFill>
              </a:rPr>
              <a:t>”Se7en”</a:t>
            </a:r>
          </a:p>
          <a:p>
            <a:pPr algn="ctr"/>
            <a:r>
              <a:rPr lang="da-DK" sz="2400">
                <a:solidFill>
                  <a:srgbClr val="FFFF00"/>
                </a:solidFill>
              </a:rPr>
              <a:t>1995</a:t>
            </a:r>
          </a:p>
        </p:txBody>
      </p:sp>
      <p:sp>
        <p:nvSpPr>
          <p:cNvPr id="7" name="Sky 6"/>
          <p:cNvSpPr/>
          <p:nvPr/>
        </p:nvSpPr>
        <p:spPr>
          <a:xfrm>
            <a:off x="5029200" y="2960017"/>
            <a:ext cx="1882942" cy="1648327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/>
              <a:t>…</a:t>
            </a:r>
          </a:p>
        </p:txBody>
      </p:sp>
      <p:sp>
        <p:nvSpPr>
          <p:cNvPr id="8" name="Sky 7"/>
          <p:cNvSpPr/>
          <p:nvPr/>
        </p:nvSpPr>
        <p:spPr>
          <a:xfrm>
            <a:off x="7078580" y="2960016"/>
            <a:ext cx="1882942" cy="1648327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/>
              <a:t>…</a:t>
            </a:r>
          </a:p>
        </p:txBody>
      </p:sp>
      <p:sp>
        <p:nvSpPr>
          <p:cNvPr id="9" name="Sky 8"/>
          <p:cNvSpPr/>
          <p:nvPr/>
        </p:nvSpPr>
        <p:spPr>
          <a:xfrm>
            <a:off x="9095875" y="2954000"/>
            <a:ext cx="1882942" cy="1648327"/>
          </a:xfrm>
          <a:prstGeom prst="cloud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/>
              <a:t>…</a:t>
            </a:r>
          </a:p>
        </p:txBody>
      </p:sp>
      <p:sp>
        <p:nvSpPr>
          <p:cNvPr id="10" name="Sky 9">
            <a:extLst>
              <a:ext uri="{FF2B5EF4-FFF2-40B4-BE49-F238E27FC236}">
                <a16:creationId xmlns:a16="http://schemas.microsoft.com/office/drawing/2014/main" id="{65B304F6-44EB-4C48-8446-2CE952082A4D}"/>
              </a:ext>
            </a:extLst>
          </p:cNvPr>
          <p:cNvSpPr/>
          <p:nvPr/>
        </p:nvSpPr>
        <p:spPr>
          <a:xfrm>
            <a:off x="2995862" y="3044239"/>
            <a:ext cx="1882942" cy="1648327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>
                <a:solidFill>
                  <a:srgbClr val="C00000"/>
                </a:solidFill>
              </a:rPr>
              <a:t>”Alien”</a:t>
            </a:r>
          </a:p>
          <a:p>
            <a:pPr algn="ctr"/>
            <a:r>
              <a:rPr lang="da-DK" sz="2400">
                <a:solidFill>
                  <a:srgbClr val="FFFF00"/>
                </a:solidFill>
              </a:rPr>
              <a:t>1979</a:t>
            </a:r>
          </a:p>
        </p:txBody>
      </p:sp>
    </p:spTree>
    <p:extLst>
      <p:ext uri="{BB962C8B-B14F-4D97-AF65-F5344CB8AC3E}">
        <p14:creationId xmlns:p14="http://schemas.microsoft.com/office/powerpoint/2010/main" val="34731538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2267823"/>
              </p:ext>
            </p:extLst>
          </p:nvPr>
        </p:nvGraphicFramePr>
        <p:xfrm>
          <a:off x="890336" y="2725403"/>
          <a:ext cx="4064268" cy="20995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134">
                  <a:extLst>
                    <a:ext uri="{9D8B030D-6E8A-4147-A177-3AD203B41FA5}">
                      <a16:colId xmlns:a16="http://schemas.microsoft.com/office/drawing/2014/main" val="47363412"/>
                    </a:ext>
                  </a:extLst>
                </a:gridCol>
                <a:gridCol w="2032134">
                  <a:extLst>
                    <a:ext uri="{9D8B030D-6E8A-4147-A177-3AD203B41FA5}">
                      <a16:colId xmlns:a16="http://schemas.microsoft.com/office/drawing/2014/main" val="1977153358"/>
                    </a:ext>
                  </a:extLst>
                </a:gridCol>
              </a:tblGrid>
              <a:tr h="209951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da-DK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71557111"/>
                  </a:ext>
                </a:extLst>
              </a:tr>
            </a:tbl>
          </a:graphicData>
        </a:graphic>
      </p:graphicFrame>
      <p:sp>
        <p:nvSpPr>
          <p:cNvPr id="5" name="Pladsholder til indhold 2"/>
          <p:cNvSpPr>
            <a:spLocks noGrp="1"/>
          </p:cNvSpPr>
          <p:nvPr>
            <p:ph idx="1"/>
          </p:nvPr>
        </p:nvSpPr>
        <p:spPr>
          <a:xfrm>
            <a:off x="890336" y="676608"/>
            <a:ext cx="10515600" cy="1916447"/>
          </a:xfrm>
        </p:spPr>
        <p:txBody>
          <a:bodyPr>
            <a:normAutofit/>
          </a:bodyPr>
          <a:lstStyle/>
          <a:p>
            <a:pPr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movies</a:t>
            </a:r>
          </a:p>
          <a:p>
            <a:pPr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.Select(m =&gt; </a:t>
            </a:r>
            <a:r>
              <a:rPr lang="en-US" sz="36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36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{m.Title, m.Year})</a:t>
            </a:r>
            <a:endParaRPr lang="da-DK" sz="36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.Where(m =&gt; m.Year &gt; 1978);</a:t>
            </a:r>
          </a:p>
        </p:txBody>
      </p:sp>
      <p:sp>
        <p:nvSpPr>
          <p:cNvPr id="2" name="Sky 1"/>
          <p:cNvSpPr/>
          <p:nvPr/>
        </p:nvSpPr>
        <p:spPr>
          <a:xfrm>
            <a:off x="962525" y="3044239"/>
            <a:ext cx="1882942" cy="1648327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>
                <a:solidFill>
                  <a:srgbClr val="C00000"/>
                </a:solidFill>
              </a:rPr>
              <a:t>”Se7en”</a:t>
            </a:r>
          </a:p>
          <a:p>
            <a:pPr algn="ctr"/>
            <a:r>
              <a:rPr lang="da-DK" sz="2400">
                <a:solidFill>
                  <a:srgbClr val="FFFF00"/>
                </a:solidFill>
              </a:rPr>
              <a:t>1995</a:t>
            </a:r>
          </a:p>
        </p:txBody>
      </p:sp>
      <p:sp>
        <p:nvSpPr>
          <p:cNvPr id="10" name="Sky 9">
            <a:extLst>
              <a:ext uri="{FF2B5EF4-FFF2-40B4-BE49-F238E27FC236}">
                <a16:creationId xmlns:a16="http://schemas.microsoft.com/office/drawing/2014/main" id="{65B304F6-44EB-4C48-8446-2CE952082A4D}"/>
              </a:ext>
            </a:extLst>
          </p:cNvPr>
          <p:cNvSpPr/>
          <p:nvPr/>
        </p:nvSpPr>
        <p:spPr>
          <a:xfrm>
            <a:off x="2995862" y="3044239"/>
            <a:ext cx="1882942" cy="1648327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>
                <a:solidFill>
                  <a:srgbClr val="C00000"/>
                </a:solidFill>
              </a:rPr>
              <a:t>”Alien”</a:t>
            </a:r>
          </a:p>
          <a:p>
            <a:pPr algn="ctr"/>
            <a:r>
              <a:rPr lang="da-DK" sz="2400">
                <a:solidFill>
                  <a:srgbClr val="FFFF00"/>
                </a:solidFill>
              </a:rPr>
              <a:t>1979</a:t>
            </a:r>
          </a:p>
        </p:txBody>
      </p:sp>
    </p:spTree>
    <p:extLst>
      <p:ext uri="{BB962C8B-B14F-4D97-AF65-F5344CB8AC3E}">
        <p14:creationId xmlns:p14="http://schemas.microsoft.com/office/powerpoint/2010/main" val="12516885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LINQ – Fluent syntax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599" cy="4351338"/>
          </a:xfrm>
        </p:spPr>
        <p:txBody>
          <a:bodyPr/>
          <a:lstStyle/>
          <a:p>
            <a:r>
              <a:rPr lang="da-DK"/>
              <a:t>Also note the parameter to the </a:t>
            </a:r>
            <a:r>
              <a:rPr lang="da-DK" b="1"/>
              <a:t>Select</a:t>
            </a:r>
            <a:r>
              <a:rPr lang="da-DK"/>
              <a:t> method:</a:t>
            </a:r>
          </a:p>
          <a:p>
            <a:r>
              <a:rPr lang="en-US" b="1"/>
              <a:t>Select(</a:t>
            </a:r>
            <a:r>
              <a:rPr lang="en-US" b="1">
                <a:solidFill>
                  <a:srgbClr val="FF0000"/>
                </a:solidFill>
              </a:rPr>
              <a:t>m =&gt; new {m.Title, m.Year}</a:t>
            </a:r>
            <a:r>
              <a:rPr lang="en-US" b="1"/>
              <a:t>), or</a:t>
            </a:r>
          </a:p>
          <a:p>
            <a:r>
              <a:rPr lang="en-US" b="1"/>
              <a:t>Select(</a:t>
            </a:r>
            <a:r>
              <a:rPr lang="en-US" b="1">
                <a:solidFill>
                  <a:srgbClr val="FF0000"/>
                </a:solidFill>
              </a:rPr>
              <a:t>m =&gt; m.Title</a:t>
            </a:r>
            <a:r>
              <a:rPr lang="en-US" b="1"/>
              <a:t>), or</a:t>
            </a:r>
          </a:p>
          <a:p>
            <a:r>
              <a:rPr lang="da-DK"/>
              <a:t>I.e. a method of type </a:t>
            </a:r>
            <a:r>
              <a:rPr lang="da-DK" b="1"/>
              <a:t>Func&lt;T, V&gt;</a:t>
            </a:r>
            <a:r>
              <a:rPr lang="da-DK"/>
              <a:t>, where</a:t>
            </a:r>
          </a:p>
          <a:p>
            <a:pPr lvl="1"/>
            <a:r>
              <a:rPr lang="da-DK" b="1"/>
              <a:t>T</a:t>
            </a:r>
            <a:r>
              <a:rPr lang="da-DK"/>
              <a:t> is the type of the item in the collection (here </a:t>
            </a:r>
            <a:r>
              <a:rPr lang="da-DK" b="1"/>
              <a:t>Movie</a:t>
            </a:r>
            <a:r>
              <a:rPr lang="da-DK"/>
              <a:t>)</a:t>
            </a:r>
          </a:p>
          <a:p>
            <a:pPr lvl="1"/>
            <a:r>
              <a:rPr lang="da-DK" b="1"/>
              <a:t>V</a:t>
            </a:r>
            <a:r>
              <a:rPr lang="da-DK"/>
              <a:t> is the type of the selected/transformed data (here an anonymous type in the first cse, and just </a:t>
            </a:r>
            <a:r>
              <a:rPr lang="da-DK" b="1"/>
              <a:t>string</a:t>
            </a:r>
            <a:r>
              <a:rPr lang="da-DK"/>
              <a:t> in the second case)</a:t>
            </a:r>
          </a:p>
        </p:txBody>
      </p:sp>
    </p:spTree>
    <p:extLst>
      <p:ext uri="{BB962C8B-B14F-4D97-AF65-F5344CB8AC3E}">
        <p14:creationId xmlns:p14="http://schemas.microsoft.com/office/powerpoint/2010/main" val="16596200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543697" y="864973"/>
            <a:ext cx="11121081" cy="5311990"/>
          </a:xfrm>
        </p:spPr>
        <p:txBody>
          <a:bodyPr>
            <a:normAutofit/>
          </a:bodyPr>
          <a:lstStyle/>
          <a:p>
            <a:pPr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6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var</a:t>
            </a:r>
            <a:r>
              <a:rPr lang="en-US" sz="36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qrA = </a:t>
            </a:r>
            <a:r>
              <a:rPr lang="en-US" sz="36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from</a:t>
            </a:r>
            <a:r>
              <a:rPr lang="en-US" sz="36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 </a:t>
            </a:r>
            <a:r>
              <a:rPr lang="en-US" sz="36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</a:t>
            </a:r>
            <a:r>
              <a:rPr lang="en-US" sz="36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movies</a:t>
            </a:r>
          </a:p>
          <a:p>
            <a:pPr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6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	    </a:t>
            </a:r>
            <a:r>
              <a:rPr lang="en-US" sz="36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where</a:t>
            </a:r>
            <a:r>
              <a:rPr lang="en-US" sz="36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m.Year &gt; 1995</a:t>
            </a:r>
            <a:endParaRPr lang="da-DK" sz="36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7160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6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    select new </a:t>
            </a:r>
            <a:r>
              <a:rPr lang="en-US" sz="36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{m.Title, m.Year};</a:t>
            </a:r>
            <a:endParaRPr lang="en-US" sz="3600" b="1">
              <a:solidFill>
                <a:srgbClr val="0000FF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3600" b="1">
              <a:solidFill>
                <a:srgbClr val="0000FF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6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var</a:t>
            </a:r>
            <a:r>
              <a:rPr lang="en-US" sz="36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qrB = movies</a:t>
            </a:r>
          </a:p>
          <a:p>
            <a:pPr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6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 .Select(m =&gt; </a:t>
            </a:r>
            <a:r>
              <a:rPr lang="en-US" sz="36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36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{m.Title, m.Year})</a:t>
            </a:r>
            <a:endParaRPr lang="da-DK" sz="36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6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 .Where(m =&gt; m.Year &gt; 1995);</a:t>
            </a:r>
          </a:p>
        </p:txBody>
      </p:sp>
      <p:sp>
        <p:nvSpPr>
          <p:cNvPr id="2" name="Afrundet rektangel 1"/>
          <p:cNvSpPr/>
          <p:nvPr/>
        </p:nvSpPr>
        <p:spPr>
          <a:xfrm>
            <a:off x="3303374" y="864973"/>
            <a:ext cx="1178980" cy="542486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" name="Afrundet rektangel 3"/>
          <p:cNvSpPr/>
          <p:nvPr/>
        </p:nvSpPr>
        <p:spPr>
          <a:xfrm>
            <a:off x="3303373" y="3514649"/>
            <a:ext cx="1791729" cy="444835"/>
          </a:xfrm>
          <a:prstGeom prst="roundRect">
            <a:avLst/>
          </a:prstGeom>
          <a:noFill/>
          <a:ln w="127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Afrundet rektangel 4"/>
          <p:cNvSpPr/>
          <p:nvPr/>
        </p:nvSpPr>
        <p:spPr>
          <a:xfrm>
            <a:off x="3220874" y="1544755"/>
            <a:ext cx="1584208" cy="542486"/>
          </a:xfrm>
          <a:prstGeom prst="roundRect">
            <a:avLst/>
          </a:prstGeom>
          <a:noFill/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Afrundet rektangel 5"/>
          <p:cNvSpPr/>
          <p:nvPr/>
        </p:nvSpPr>
        <p:spPr>
          <a:xfrm>
            <a:off x="2875006" y="4792300"/>
            <a:ext cx="1383229" cy="520945"/>
          </a:xfrm>
          <a:prstGeom prst="roundRect">
            <a:avLst/>
          </a:prstGeom>
          <a:noFill/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Afrundet rektangel 6"/>
          <p:cNvSpPr/>
          <p:nvPr/>
        </p:nvSpPr>
        <p:spPr>
          <a:xfrm>
            <a:off x="3220874" y="2206808"/>
            <a:ext cx="1791729" cy="542486"/>
          </a:xfrm>
          <a:prstGeom prst="round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8" name="Afrundet rektangel 7"/>
          <p:cNvSpPr/>
          <p:nvPr/>
        </p:nvSpPr>
        <p:spPr>
          <a:xfrm>
            <a:off x="2875006" y="4078782"/>
            <a:ext cx="1607348" cy="594220"/>
          </a:xfrm>
          <a:prstGeom prst="round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272003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543697" y="864973"/>
            <a:ext cx="11121081" cy="5311990"/>
          </a:xfrm>
        </p:spPr>
        <p:txBody>
          <a:bodyPr>
            <a:normAutofit/>
          </a:bodyPr>
          <a:lstStyle/>
          <a:p>
            <a:pPr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6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var</a:t>
            </a:r>
            <a:r>
              <a:rPr lang="en-US" sz="36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qrA = </a:t>
            </a:r>
            <a:r>
              <a:rPr lang="en-US" sz="36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from</a:t>
            </a:r>
            <a:r>
              <a:rPr lang="en-US" sz="36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 </a:t>
            </a:r>
            <a:r>
              <a:rPr lang="en-US" sz="36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</a:t>
            </a:r>
            <a:r>
              <a:rPr lang="en-US" sz="36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movies</a:t>
            </a:r>
          </a:p>
          <a:p>
            <a:pPr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6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	    </a:t>
            </a:r>
            <a:r>
              <a:rPr lang="en-US" sz="36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where</a:t>
            </a:r>
            <a:r>
              <a:rPr lang="en-US" sz="36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m.Year &gt; 1995</a:t>
            </a:r>
            <a:endParaRPr lang="da-DK" sz="36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7160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6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    select new </a:t>
            </a:r>
            <a:r>
              <a:rPr lang="en-US" sz="36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{m.Title, m.Year};</a:t>
            </a:r>
            <a:endParaRPr lang="en-US" sz="3600" b="1">
              <a:solidFill>
                <a:srgbClr val="0000FF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3600" b="1">
              <a:solidFill>
                <a:srgbClr val="0000FF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6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var</a:t>
            </a:r>
            <a:r>
              <a:rPr lang="en-US" sz="36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qrB = movies</a:t>
            </a:r>
          </a:p>
          <a:p>
            <a:pPr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6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 .Select(m =&gt; </a:t>
            </a:r>
            <a:r>
              <a:rPr lang="en-US" sz="3600" b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36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{m.Title, m.Year})</a:t>
            </a:r>
            <a:endParaRPr lang="da-DK" sz="36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600" b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 .Where(m =&gt; m.Year &gt; 1995);</a:t>
            </a:r>
          </a:p>
        </p:txBody>
      </p:sp>
      <p:sp>
        <p:nvSpPr>
          <p:cNvPr id="2" name="Afrundet rektangel 1"/>
          <p:cNvSpPr/>
          <p:nvPr/>
        </p:nvSpPr>
        <p:spPr>
          <a:xfrm>
            <a:off x="5770606" y="729050"/>
            <a:ext cx="1791729" cy="691978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" name="Afrundet rektangel 3"/>
          <p:cNvSpPr/>
          <p:nvPr/>
        </p:nvSpPr>
        <p:spPr>
          <a:xfrm>
            <a:off x="3303373" y="3365159"/>
            <a:ext cx="1791729" cy="691978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Afrundet rektangel 4"/>
          <p:cNvSpPr/>
          <p:nvPr/>
        </p:nvSpPr>
        <p:spPr>
          <a:xfrm>
            <a:off x="4924168" y="1466980"/>
            <a:ext cx="3466070" cy="691978"/>
          </a:xfrm>
          <a:prstGeom prst="roundRect">
            <a:avLst/>
          </a:prstGeom>
          <a:noFill/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Afrundet rektangel 5"/>
          <p:cNvSpPr/>
          <p:nvPr/>
        </p:nvSpPr>
        <p:spPr>
          <a:xfrm>
            <a:off x="5595552" y="4745639"/>
            <a:ext cx="3466070" cy="691978"/>
          </a:xfrm>
          <a:prstGeom prst="roundRect">
            <a:avLst/>
          </a:prstGeom>
          <a:noFill/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Afrundet rektangel 6"/>
          <p:cNvSpPr/>
          <p:nvPr/>
        </p:nvSpPr>
        <p:spPr>
          <a:xfrm>
            <a:off x="5156886" y="2204910"/>
            <a:ext cx="5655276" cy="691978"/>
          </a:xfrm>
          <a:prstGeom prst="round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8" name="Afrundet rektangel 7"/>
          <p:cNvSpPr/>
          <p:nvPr/>
        </p:nvSpPr>
        <p:spPr>
          <a:xfrm>
            <a:off x="5770606" y="3985700"/>
            <a:ext cx="5655276" cy="691978"/>
          </a:xfrm>
          <a:prstGeom prst="round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534420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theme/theme1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674</TotalTime>
  <Words>2657</Words>
  <Application>Microsoft Office PowerPoint</Application>
  <PresentationFormat>Widescreen</PresentationFormat>
  <Paragraphs>811</Paragraphs>
  <Slides>65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5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65</vt:i4>
      </vt:variant>
    </vt:vector>
  </HeadingPairs>
  <TitlesOfParts>
    <vt:vector size="71" baseType="lpstr">
      <vt:lpstr>Arial</vt:lpstr>
      <vt:lpstr>Calibri</vt:lpstr>
      <vt:lpstr>Calibri Light</vt:lpstr>
      <vt:lpstr>Consolas</vt:lpstr>
      <vt:lpstr>Times New Roman</vt:lpstr>
      <vt:lpstr>Office-tema</vt:lpstr>
      <vt:lpstr>LINQ  Language INtegrated Query</vt:lpstr>
      <vt:lpstr>LINQ – Main features</vt:lpstr>
      <vt:lpstr>LINQ – IEnumerable/IEnumerator</vt:lpstr>
      <vt:lpstr>LINQ – IEnumerable/IEnumerator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LINQ – Fluent syntax</vt:lpstr>
      <vt:lpstr>LINQ – Fluent syntax</vt:lpstr>
      <vt:lpstr>PowerPoint-præsentation</vt:lpstr>
      <vt:lpstr>PowerPoint-præsentation</vt:lpstr>
      <vt:lpstr>LINQ – Fluent syntax</vt:lpstr>
      <vt:lpstr>Extension methods</vt:lpstr>
      <vt:lpstr>PowerPoint-præsentation</vt:lpstr>
      <vt:lpstr>PowerPoint-præsentation</vt:lpstr>
      <vt:lpstr>LINQ – Fluent syntax</vt:lpstr>
      <vt:lpstr>LINQ – Fluent syntax</vt:lpstr>
      <vt:lpstr>LINQ – Fluent syntax</vt:lpstr>
      <vt:lpstr>LINQ – Fluent syntax</vt:lpstr>
      <vt:lpstr>PowerPoint-præsentation</vt:lpstr>
      <vt:lpstr>PowerPoint-præsentation</vt:lpstr>
      <vt:lpstr>PowerPoint-præsentation</vt:lpstr>
      <vt:lpstr>PowerPoint-præsentation</vt:lpstr>
      <vt:lpstr>LINQ – Fluent syntax</vt:lpstr>
      <vt:lpstr>PowerPoint-præsentation</vt:lpstr>
      <vt:lpstr>PowerPoint-præsentation</vt:lpstr>
    </vt:vector>
  </TitlesOfParts>
  <Company>Køge Handelsskole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Per Laursen</dc:creator>
  <cp:lastModifiedBy>Per Storgård Laursen</cp:lastModifiedBy>
  <cp:revision>64</cp:revision>
  <dcterms:created xsi:type="dcterms:W3CDTF">2017-09-05T14:00:27Z</dcterms:created>
  <dcterms:modified xsi:type="dcterms:W3CDTF">2025-03-10T11:13:13Z</dcterms:modified>
</cp:coreProperties>
</file>